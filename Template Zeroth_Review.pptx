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69" r:id="rId5"/>
    <p:sldId id="270" r:id="rId6"/>
    <p:sldId id="271" r:id="rId7"/>
    <p:sldId id="272" r:id="rId8"/>
    <p:sldId id="267" r:id="rId9"/>
    <p:sldId id="259" r:id="rId10"/>
    <p:sldId id="260" r:id="rId11"/>
    <p:sldId id="261" r:id="rId12"/>
    <p:sldId id="262" r:id="rId13"/>
    <p:sldId id="263" r:id="rId14"/>
    <p:sldId id="264" r:id="rId15"/>
    <p:sldId id="268" r:id="rId16"/>
    <p:sldId id="265" r:id="rId17"/>
    <p:sldId id="266" r:id="rId18"/>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880"/>
        <p:guide pos="2160"/>
      </p:guideLst>
    </p:cSldViewPr>
  </p:slide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EAF0FFCA-BEDB-4627-B1A6-41EF61868328}" type="datetimeFigureOut">
              <a:rPr lang="en-US" smtClean="0"/>
              <a:t>12/28/2025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ADA0ED8-320A-4D00-8738-D72CD043F535}" type="slidenum">
              <a:rPr lang="en-US" smtClean="0"/>
              <a:t>‹#›</a:t>
            </a:fld>
            <a:endParaRPr lang="en-US"/>
          </a:p>
        </p:txBody>
      </p:sp>
    </p:spTree>
    <p:extLst>
      <p:ext uri="{BB962C8B-B14F-4D97-AF65-F5344CB8AC3E}">
        <p14:creationId xmlns:p14="http://schemas.microsoft.com/office/powerpoint/2010/main" val="297263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5267325"/>
            <a:ext cx="9143999" cy="1590675"/>
          </a:xfrm>
          <a:prstGeom prst="rect">
            <a:avLst/>
          </a:prstGeom>
        </p:spPr>
      </p:pic>
      <p:pic>
        <p:nvPicPr>
          <p:cNvPr id="17" name="bg object 17"/>
          <p:cNvPicPr/>
          <p:nvPr/>
        </p:nvPicPr>
        <p:blipFill>
          <a:blip r:embed="rId3" cstate="print"/>
          <a:stretch>
            <a:fillRect/>
          </a:stretch>
        </p:blipFill>
        <p:spPr>
          <a:xfrm>
            <a:off x="3284115" y="4237148"/>
            <a:ext cx="2430809" cy="262383"/>
          </a:xfrm>
          <a:prstGeom prst="rect">
            <a:avLst/>
          </a:prstGeom>
        </p:spPr>
      </p:pic>
      <p:pic>
        <p:nvPicPr>
          <p:cNvPr id="18" name="bg object 18"/>
          <p:cNvPicPr/>
          <p:nvPr/>
        </p:nvPicPr>
        <p:blipFill>
          <a:blip r:embed="rId4" cstate="print"/>
          <a:stretch>
            <a:fillRect/>
          </a:stretch>
        </p:blipFill>
        <p:spPr>
          <a:xfrm>
            <a:off x="2772147" y="4676489"/>
            <a:ext cx="3435846" cy="261491"/>
          </a:xfrm>
          <a:prstGeom prst="rect">
            <a:avLst/>
          </a:prstGeom>
        </p:spPr>
      </p:pic>
      <p:pic>
        <p:nvPicPr>
          <p:cNvPr id="19" name="bg object 19"/>
          <p:cNvPicPr/>
          <p:nvPr/>
        </p:nvPicPr>
        <p:blipFill>
          <a:blip r:embed="rId5" cstate="print"/>
          <a:stretch>
            <a:fillRect/>
          </a:stretch>
        </p:blipFill>
        <p:spPr>
          <a:xfrm>
            <a:off x="3991297" y="5114639"/>
            <a:ext cx="1006510" cy="210591"/>
          </a:xfrm>
          <a:prstGeom prst="rect">
            <a:avLst/>
          </a:prstGeom>
        </p:spPr>
      </p:pic>
      <p:sp>
        <p:nvSpPr>
          <p:cNvPr id="21" name="bg object 21"/>
          <p:cNvSpPr/>
          <p:nvPr/>
        </p:nvSpPr>
        <p:spPr>
          <a:xfrm>
            <a:off x="8536830" y="6497692"/>
            <a:ext cx="56515" cy="97155"/>
          </a:xfrm>
          <a:custGeom>
            <a:avLst/>
            <a:gdLst/>
            <a:ahLst/>
            <a:cxnLst/>
            <a:rect l="l" t="t" r="r" b="b"/>
            <a:pathLst>
              <a:path w="56515" h="97154">
                <a:moveTo>
                  <a:pt x="53677" y="97035"/>
                </a:moveTo>
                <a:lnTo>
                  <a:pt x="2678" y="97035"/>
                </a:lnTo>
                <a:lnTo>
                  <a:pt x="1438" y="96242"/>
                </a:lnTo>
                <a:lnTo>
                  <a:pt x="545" y="94357"/>
                </a:lnTo>
                <a:lnTo>
                  <a:pt x="446" y="90338"/>
                </a:lnTo>
                <a:lnTo>
                  <a:pt x="1339" y="87610"/>
                </a:lnTo>
                <a:lnTo>
                  <a:pt x="2282" y="86866"/>
                </a:lnTo>
                <a:lnTo>
                  <a:pt x="3075" y="86766"/>
                </a:lnTo>
                <a:lnTo>
                  <a:pt x="23167" y="86766"/>
                </a:lnTo>
                <a:lnTo>
                  <a:pt x="23167" y="13543"/>
                </a:lnTo>
                <a:lnTo>
                  <a:pt x="0" y="19198"/>
                </a:lnTo>
                <a:lnTo>
                  <a:pt x="397" y="17115"/>
                </a:lnTo>
                <a:lnTo>
                  <a:pt x="1289" y="15775"/>
                </a:lnTo>
                <a:lnTo>
                  <a:pt x="25400" y="496"/>
                </a:lnTo>
                <a:lnTo>
                  <a:pt x="29120" y="0"/>
                </a:lnTo>
                <a:lnTo>
                  <a:pt x="33784" y="248"/>
                </a:lnTo>
                <a:lnTo>
                  <a:pt x="35272" y="793"/>
                </a:lnTo>
                <a:lnTo>
                  <a:pt x="35966" y="1785"/>
                </a:lnTo>
                <a:lnTo>
                  <a:pt x="35966" y="86766"/>
                </a:lnTo>
                <a:lnTo>
                  <a:pt x="53776" y="86766"/>
                </a:lnTo>
                <a:lnTo>
                  <a:pt x="54818" y="87262"/>
                </a:lnTo>
                <a:lnTo>
                  <a:pt x="55512" y="88503"/>
                </a:lnTo>
                <a:lnTo>
                  <a:pt x="56058" y="91082"/>
                </a:lnTo>
                <a:lnTo>
                  <a:pt x="56058" y="91975"/>
                </a:lnTo>
                <a:lnTo>
                  <a:pt x="55959" y="93662"/>
                </a:lnTo>
                <a:lnTo>
                  <a:pt x="55463" y="95448"/>
                </a:lnTo>
                <a:lnTo>
                  <a:pt x="54669" y="96539"/>
                </a:lnTo>
                <a:lnTo>
                  <a:pt x="53677" y="97035"/>
                </a:lnTo>
                <a:close/>
              </a:path>
            </a:pathLst>
          </a:custGeom>
          <a:solidFill>
            <a:srgbClr val="888888"/>
          </a:solidFill>
        </p:spPr>
        <p:txBody>
          <a:bodyPr wrap="square" lIns="0" tIns="0" rIns="0" bIns="0" rtlCol="0"/>
          <a:lstStyle/>
          <a:p>
            <a:endParaRPr/>
          </a:p>
        </p:txBody>
      </p:sp>
      <p:sp>
        <p:nvSpPr>
          <p:cNvPr id="2" name="Holder 2"/>
          <p:cNvSpPr>
            <a:spLocks noGrp="1"/>
          </p:cNvSpPr>
          <p:nvPr>
            <p:ph type="ctrTitle" hasCustomPrompt="1"/>
          </p:nvPr>
        </p:nvSpPr>
        <p:spPr>
          <a:xfrm>
            <a:off x="2913643" y="2187448"/>
            <a:ext cx="3316713" cy="677108"/>
          </a:xfrm>
          <a:prstGeom prst="rect">
            <a:avLst/>
          </a:prstGeom>
        </p:spPr>
        <p:txBody>
          <a:bodyPr wrap="square" lIns="0" tIns="0" rIns="0" bIns="0">
            <a:spAutoFit/>
          </a:bodyPr>
          <a:lstStyle>
            <a:lvl1pPr>
              <a:defRPr sz="4400" b="1" i="0">
                <a:solidFill>
                  <a:srgbClr val="C00000"/>
                </a:solidFill>
                <a:latin typeface="Times New Roman"/>
                <a:cs typeface="Times New Roman"/>
              </a:defRPr>
            </a:lvl1pPr>
          </a:lstStyle>
          <a:p>
            <a:r>
              <a:rPr lang="en-US"/>
              <a:t>Project Title: </a:t>
            </a:r>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tx1"/>
                </a:solidFill>
                <a:latin typeface="Times New Roman"/>
                <a:cs typeface="Times New Roman"/>
              </a:defRPr>
            </a:lvl1pPr>
          </a:lstStyle>
          <a:p>
            <a:pPr marL="12700">
              <a:lnSpc>
                <a:spcPts val="1845"/>
              </a:lnSpc>
            </a:pPr>
            <a:r>
              <a:t>CSE</a:t>
            </a:r>
            <a:r>
              <a:rPr spc="-50"/>
              <a:t> </a:t>
            </a:r>
            <a:r>
              <a:t>Department,</a:t>
            </a:r>
            <a:r>
              <a:rPr spc="-45"/>
              <a:t> </a:t>
            </a:r>
            <a:r>
              <a:rPr spc="-20"/>
              <a:t>JECC</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8" name="TextBox 7">
            <a:extLst>
              <a:ext uri="{FF2B5EF4-FFF2-40B4-BE49-F238E27FC236}">
                <a16:creationId xmlns:a16="http://schemas.microsoft.com/office/drawing/2014/main" id="{8E6EDA1C-1256-EFFE-43AA-06580E2AE17D}"/>
              </a:ext>
            </a:extLst>
          </p:cNvPr>
          <p:cNvSpPr txBox="1"/>
          <p:nvPr userDrawn="1"/>
        </p:nvSpPr>
        <p:spPr>
          <a:xfrm>
            <a:off x="3356519" y="5856278"/>
            <a:ext cx="2286000" cy="367432"/>
          </a:xfrm>
          <a:prstGeom prst="rect">
            <a:avLst/>
          </a:prstGeom>
          <a:noFill/>
        </p:spPr>
        <p:txBody>
          <a:bodyPr wrap="square" rtlCol="0">
            <a:spAutoFit/>
          </a:bodyPr>
          <a:lstStyle/>
          <a:p>
            <a:pPr algn="ctr"/>
            <a:r>
              <a:rPr lang="en-US" b="1"/>
              <a:t>December 30 2025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5267325"/>
            <a:ext cx="9143999" cy="1590675"/>
          </a:xfrm>
          <a:prstGeom prst="rect">
            <a:avLst/>
          </a:prstGeom>
        </p:spPr>
      </p:pic>
      <p:pic>
        <p:nvPicPr>
          <p:cNvPr id="17" name="bg object 17"/>
          <p:cNvPicPr/>
          <p:nvPr/>
        </p:nvPicPr>
        <p:blipFill>
          <a:blip r:embed="rId3" cstate="print"/>
          <a:stretch>
            <a:fillRect/>
          </a:stretch>
        </p:blipFill>
        <p:spPr>
          <a:xfrm>
            <a:off x="548405" y="6485426"/>
            <a:ext cx="567928" cy="130026"/>
          </a:xfrm>
          <a:prstGeom prst="rect">
            <a:avLst/>
          </a:prstGeom>
        </p:spPr>
      </p:pic>
      <p:sp>
        <p:nvSpPr>
          <p:cNvPr id="2" name="Holder 2"/>
          <p:cNvSpPr>
            <a:spLocks noGrp="1"/>
          </p:cNvSpPr>
          <p:nvPr>
            <p:ph type="title"/>
          </p:nvPr>
        </p:nvSpPr>
        <p:spPr/>
        <p:txBody>
          <a:bodyPr lIns="0" tIns="0" rIns="0" bIns="0"/>
          <a:lstStyle>
            <a:lvl1pPr>
              <a:defRPr sz="44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tx1"/>
                </a:solidFill>
                <a:latin typeface="Times New Roman"/>
                <a:cs typeface="Times New Roman"/>
              </a:defRPr>
            </a:lvl1pPr>
          </a:lstStyle>
          <a:p>
            <a:pPr marL="12700">
              <a:lnSpc>
                <a:spcPts val="1845"/>
              </a:lnSpc>
            </a:pPr>
            <a:r>
              <a:t>CSE</a:t>
            </a:r>
            <a:r>
              <a:rPr spc="-50"/>
              <a:t> </a:t>
            </a:r>
            <a:r>
              <a:t>Department,</a:t>
            </a:r>
            <a:r>
              <a:rPr spc="-45"/>
              <a:t> </a:t>
            </a:r>
            <a:r>
              <a:rPr spc="-20"/>
              <a:t>JECC</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tx1"/>
                </a:solidFill>
                <a:latin typeface="Times New Roman"/>
                <a:cs typeface="Times New Roman"/>
              </a:defRPr>
            </a:lvl1pPr>
          </a:lstStyle>
          <a:p>
            <a:pPr marL="12700">
              <a:lnSpc>
                <a:spcPts val="1845"/>
              </a:lnSpc>
            </a:pPr>
            <a:r>
              <a:t>CSE</a:t>
            </a:r>
            <a:r>
              <a:rPr spc="-50"/>
              <a:t> </a:t>
            </a:r>
            <a:r>
              <a:t>Department,</a:t>
            </a:r>
            <a:r>
              <a:rPr spc="-45"/>
              <a:t> </a:t>
            </a:r>
            <a:r>
              <a:rPr spc="-20"/>
              <a:t>JECC</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5267325"/>
            <a:ext cx="9143999" cy="1590675"/>
          </a:xfrm>
          <a:prstGeom prst="rect">
            <a:avLst/>
          </a:prstGeom>
        </p:spPr>
      </p:pic>
      <p:pic>
        <p:nvPicPr>
          <p:cNvPr id="17" name="bg object 17"/>
          <p:cNvPicPr/>
          <p:nvPr/>
        </p:nvPicPr>
        <p:blipFill>
          <a:blip r:embed="rId3" cstate="print"/>
          <a:stretch>
            <a:fillRect/>
          </a:stretch>
        </p:blipFill>
        <p:spPr>
          <a:xfrm>
            <a:off x="548405" y="6485439"/>
            <a:ext cx="567928" cy="130026"/>
          </a:xfrm>
          <a:prstGeom prst="rect">
            <a:avLst/>
          </a:prstGeom>
        </p:spPr>
      </p:pic>
      <p:pic>
        <p:nvPicPr>
          <p:cNvPr id="18" name="bg object 18"/>
          <p:cNvPicPr/>
          <p:nvPr/>
        </p:nvPicPr>
        <p:blipFill>
          <a:blip r:embed="rId4" cstate="print"/>
          <a:stretch>
            <a:fillRect/>
          </a:stretch>
        </p:blipFill>
        <p:spPr>
          <a:xfrm>
            <a:off x="8459985" y="6497941"/>
            <a:ext cx="132804" cy="96688"/>
          </a:xfrm>
          <a:prstGeom prst="rect">
            <a:avLst/>
          </a:prstGeom>
        </p:spPr>
      </p:pic>
      <p:sp>
        <p:nvSpPr>
          <p:cNvPr id="2" name="Holder 2"/>
          <p:cNvSpPr>
            <a:spLocks noGrp="1"/>
          </p:cNvSpPr>
          <p:nvPr>
            <p:ph type="title"/>
          </p:nvPr>
        </p:nvSpPr>
        <p:spPr/>
        <p:txBody>
          <a:bodyPr lIns="0" tIns="0" rIns="0" bIns="0"/>
          <a:lstStyle>
            <a:lvl1pPr>
              <a:defRPr sz="44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tx1"/>
                </a:solidFill>
                <a:latin typeface="Times New Roman"/>
                <a:cs typeface="Times New Roman"/>
              </a:defRPr>
            </a:lvl1pPr>
          </a:lstStyle>
          <a:p>
            <a:pPr marL="12700">
              <a:lnSpc>
                <a:spcPts val="1845"/>
              </a:lnSpc>
            </a:pPr>
            <a:r>
              <a:t>CSE</a:t>
            </a:r>
            <a:r>
              <a:rPr spc="-50"/>
              <a:t> </a:t>
            </a:r>
            <a:r>
              <a:t>Department,</a:t>
            </a:r>
            <a:r>
              <a:rPr spc="-45"/>
              <a:t> </a:t>
            </a:r>
            <a:r>
              <a:rPr spc="-20"/>
              <a:t>JECC</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tx1"/>
                </a:solidFill>
                <a:latin typeface="Times New Roman"/>
                <a:cs typeface="Times New Roman"/>
              </a:defRPr>
            </a:lvl1pPr>
          </a:lstStyle>
          <a:p>
            <a:pPr marL="12700">
              <a:lnSpc>
                <a:spcPts val="1845"/>
              </a:lnSpc>
            </a:pPr>
            <a:r>
              <a:t>CSE</a:t>
            </a:r>
            <a:r>
              <a:rPr spc="-50"/>
              <a:t> </a:t>
            </a:r>
            <a:r>
              <a:t>Department,</a:t>
            </a:r>
            <a:r>
              <a:rPr spc="-45"/>
              <a:t> </a:t>
            </a:r>
            <a:r>
              <a:rPr spc="-20"/>
              <a:t>JECC</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12/28/2025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5267325"/>
            <a:ext cx="9143999" cy="1590675"/>
          </a:xfrm>
          <a:prstGeom prst="rect">
            <a:avLst/>
          </a:prstGeom>
        </p:spPr>
      </p:pic>
      <p:sp>
        <p:nvSpPr>
          <p:cNvPr id="2" name="Holder 2"/>
          <p:cNvSpPr>
            <a:spLocks noGrp="1"/>
          </p:cNvSpPr>
          <p:nvPr>
            <p:ph type="title"/>
          </p:nvPr>
        </p:nvSpPr>
        <p:spPr>
          <a:xfrm>
            <a:off x="1072743" y="1727073"/>
            <a:ext cx="6994525" cy="695960"/>
          </a:xfrm>
          <a:prstGeom prst="rect">
            <a:avLst/>
          </a:prstGeom>
        </p:spPr>
        <p:txBody>
          <a:bodyPr wrap="square" lIns="0" tIns="0" rIns="0" bIns="0">
            <a:spAutoFit/>
          </a:bodyPr>
          <a:lstStyle>
            <a:lvl1pPr>
              <a:defRPr sz="44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535428" y="2746576"/>
            <a:ext cx="8073142" cy="302387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731480" y="6388382"/>
            <a:ext cx="1983104" cy="250825"/>
          </a:xfrm>
          <a:prstGeom prst="rect">
            <a:avLst/>
          </a:prstGeom>
        </p:spPr>
        <p:txBody>
          <a:bodyPr wrap="square" lIns="0" tIns="0" rIns="0" bIns="0">
            <a:spAutoFit/>
          </a:bodyPr>
          <a:lstStyle>
            <a:lvl1pPr>
              <a:defRPr sz="1600" b="0" i="0">
                <a:solidFill>
                  <a:schemeClr val="tx1"/>
                </a:solidFill>
                <a:latin typeface="Times New Roman"/>
                <a:cs typeface="Times New Roman"/>
              </a:defRPr>
            </a:lvl1pPr>
          </a:lstStyle>
          <a:p>
            <a:pPr marL="12700">
              <a:lnSpc>
                <a:spcPts val="1845"/>
              </a:lnSpc>
            </a:pPr>
            <a:r>
              <a:t>CSE</a:t>
            </a:r>
            <a:r>
              <a:rPr spc="-50"/>
              <a:t> </a:t>
            </a:r>
            <a:r>
              <a:t>Department,</a:t>
            </a:r>
            <a:r>
              <a:rPr spc="-45"/>
              <a:t> </a:t>
            </a:r>
            <a:r>
              <a:rPr spc="-20"/>
              <a:t>JECC</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0600" y="1981200"/>
            <a:ext cx="7924800" cy="1367041"/>
          </a:xfrm>
          <a:prstGeom prst="rect">
            <a:avLst/>
          </a:prstGeom>
        </p:spPr>
        <p:txBody>
          <a:bodyPr vert="horz" wrap="square" lIns="0" tIns="12700" rIns="0" bIns="0" rtlCol="0">
            <a:spAutoFit/>
          </a:bodyPr>
          <a:lstStyle/>
          <a:p>
            <a:pPr marL="12700">
              <a:lnSpc>
                <a:spcPct val="100000"/>
              </a:lnSpc>
              <a:spcBef>
                <a:spcPts val="100"/>
              </a:spcBef>
            </a:pPr>
            <a:r>
              <a:rPr lang="en-US"/>
              <a:t>Donate Hub: A Centralized Community Donation Platform</a:t>
            </a:r>
            <a:endParaRPr spc="-10">
              <a:solidFill>
                <a:srgbClr val="C0504D"/>
              </a:solidFill>
            </a:endParaRPr>
          </a:p>
        </p:txBody>
      </p:sp>
      <p:sp>
        <p:nvSpPr>
          <p:cNvPr id="3" name="object 3"/>
          <p:cNvSpPr txBox="1"/>
          <p:nvPr/>
        </p:nvSpPr>
        <p:spPr>
          <a:xfrm>
            <a:off x="3856463" y="3662160"/>
            <a:ext cx="1499870" cy="314960"/>
          </a:xfrm>
          <a:prstGeom prst="rect">
            <a:avLst/>
          </a:prstGeom>
        </p:spPr>
        <p:txBody>
          <a:bodyPr vert="horz" wrap="square" lIns="0" tIns="12700" rIns="0" bIns="0" rtlCol="0">
            <a:spAutoFit/>
          </a:bodyPr>
          <a:lstStyle/>
          <a:p>
            <a:pPr marL="12700">
              <a:lnSpc>
                <a:spcPct val="100000"/>
              </a:lnSpc>
              <a:spcBef>
                <a:spcPts val="100"/>
              </a:spcBef>
            </a:pPr>
            <a:r>
              <a:rPr sz="1900">
                <a:latin typeface="Arial MT"/>
                <a:cs typeface="Arial MT"/>
              </a:rPr>
              <a:t>Group</a:t>
            </a:r>
            <a:r>
              <a:rPr sz="1900" spc="-40">
                <a:latin typeface="Arial MT"/>
                <a:cs typeface="Arial MT"/>
              </a:rPr>
              <a:t> </a:t>
            </a:r>
            <a:r>
              <a:rPr sz="1900">
                <a:latin typeface="Arial MT"/>
                <a:cs typeface="Arial MT"/>
              </a:rPr>
              <a:t>no</a:t>
            </a:r>
            <a:r>
              <a:rPr sz="1900" spc="-40">
                <a:latin typeface="Arial MT"/>
                <a:cs typeface="Arial MT"/>
              </a:rPr>
              <a:t> </a:t>
            </a:r>
            <a:r>
              <a:rPr sz="1900">
                <a:latin typeface="Arial MT"/>
                <a:cs typeface="Arial MT"/>
              </a:rPr>
              <a:t>:</a:t>
            </a:r>
            <a:r>
              <a:rPr lang="en-IN" sz="1900">
                <a:latin typeface="Arial MT"/>
                <a:cs typeface="Arial MT"/>
              </a:rPr>
              <a:t>3</a:t>
            </a:r>
            <a:r>
              <a:rPr sz="1900" spc="-35">
                <a:latin typeface="Arial MT"/>
                <a:cs typeface="Arial MT"/>
              </a:rPr>
              <a:t> </a:t>
            </a:r>
            <a:endParaRPr sz="1900">
              <a:latin typeface="Arial MT"/>
              <a:cs typeface="Arial MT"/>
            </a:endParaRPr>
          </a:p>
        </p:txBody>
      </p:sp>
      <p:pic>
        <p:nvPicPr>
          <p:cNvPr id="4" name="object 4"/>
          <p:cNvPicPr/>
          <p:nvPr/>
        </p:nvPicPr>
        <p:blipFill>
          <a:blip r:embed="rId2" cstate="print"/>
          <a:stretch>
            <a:fillRect/>
          </a:stretch>
        </p:blipFill>
        <p:spPr>
          <a:xfrm>
            <a:off x="154360" y="11112"/>
            <a:ext cx="8904077" cy="15817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4358" y="1890714"/>
            <a:ext cx="2200600" cy="261193"/>
          </a:xfrm>
          <a:prstGeom prst="rect">
            <a:avLst/>
          </a:prstGeom>
        </p:spPr>
      </p:pic>
      <p:pic>
        <p:nvPicPr>
          <p:cNvPr id="3" name="object 3"/>
          <p:cNvPicPr/>
          <p:nvPr/>
        </p:nvPicPr>
        <p:blipFill>
          <a:blip r:embed="rId3" cstate="print"/>
          <a:stretch>
            <a:fillRect/>
          </a:stretch>
        </p:blipFill>
        <p:spPr>
          <a:xfrm>
            <a:off x="498568" y="2623952"/>
            <a:ext cx="175281" cy="186977"/>
          </a:xfrm>
          <a:prstGeom prst="rect">
            <a:avLst/>
          </a:prstGeom>
        </p:spPr>
      </p:pic>
      <p:pic>
        <p:nvPicPr>
          <p:cNvPr id="6" name="object 6"/>
          <p:cNvPicPr/>
          <p:nvPr/>
        </p:nvPicPr>
        <p:blipFill>
          <a:blip r:embed="rId4" cstate="print"/>
          <a:stretch>
            <a:fillRect/>
          </a:stretch>
        </p:blipFill>
        <p:spPr>
          <a:xfrm>
            <a:off x="490251" y="3327215"/>
            <a:ext cx="183598" cy="188565"/>
          </a:xfrm>
          <a:prstGeom prst="rect">
            <a:avLst/>
          </a:prstGeom>
        </p:spPr>
      </p:pic>
      <p:pic>
        <p:nvPicPr>
          <p:cNvPr id="9" name="object 9"/>
          <p:cNvPicPr/>
          <p:nvPr/>
        </p:nvPicPr>
        <p:blipFill>
          <a:blip r:embed="rId5" cstate="print"/>
          <a:stretch>
            <a:fillRect/>
          </a:stretch>
        </p:blipFill>
        <p:spPr>
          <a:xfrm>
            <a:off x="488417" y="4032065"/>
            <a:ext cx="185432" cy="189904"/>
          </a:xfrm>
          <a:prstGeom prst="rect">
            <a:avLst/>
          </a:prstGeom>
        </p:spPr>
      </p:pic>
      <p:pic>
        <p:nvPicPr>
          <p:cNvPr id="12" name="object 12"/>
          <p:cNvPicPr/>
          <p:nvPr/>
        </p:nvPicPr>
        <p:blipFill>
          <a:blip r:embed="rId6" cstate="print"/>
          <a:stretch>
            <a:fillRect/>
          </a:stretch>
        </p:blipFill>
        <p:spPr>
          <a:xfrm>
            <a:off x="480560" y="4738949"/>
            <a:ext cx="193289" cy="186531"/>
          </a:xfrm>
          <a:prstGeom prst="rect">
            <a:avLst/>
          </a:prstGeom>
        </p:spPr>
      </p:pic>
      <p:pic>
        <p:nvPicPr>
          <p:cNvPr id="15" name="object 15"/>
          <p:cNvPicPr/>
          <p:nvPr/>
        </p:nvPicPr>
        <p:blipFill>
          <a:blip r:embed="rId7" cstate="print"/>
          <a:stretch>
            <a:fillRect/>
          </a:stretch>
        </p:blipFill>
        <p:spPr>
          <a:xfrm>
            <a:off x="478008" y="5443985"/>
            <a:ext cx="873053" cy="210145"/>
          </a:xfrm>
          <a:prstGeom prst="rect">
            <a:avLst/>
          </a:prstGeom>
        </p:spPr>
      </p:pic>
      <p:sp>
        <p:nvSpPr>
          <p:cNvPr id="18" name="object 18"/>
          <p:cNvSpPr/>
          <p:nvPr/>
        </p:nvSpPr>
        <p:spPr>
          <a:xfrm>
            <a:off x="8532415" y="6496948"/>
            <a:ext cx="60325" cy="97790"/>
          </a:xfrm>
          <a:custGeom>
            <a:avLst/>
            <a:gdLst/>
            <a:ahLst/>
            <a:cxnLst/>
            <a:rect l="l" t="t" r="r" b="b"/>
            <a:pathLst>
              <a:path w="60325" h="97790">
                <a:moveTo>
                  <a:pt x="57348" y="97780"/>
                </a:moveTo>
                <a:lnTo>
                  <a:pt x="3522" y="97780"/>
                </a:lnTo>
                <a:lnTo>
                  <a:pt x="1785" y="97283"/>
                </a:lnTo>
                <a:lnTo>
                  <a:pt x="644" y="96192"/>
                </a:lnTo>
                <a:lnTo>
                  <a:pt x="0" y="94158"/>
                </a:lnTo>
                <a:lnTo>
                  <a:pt x="148" y="88800"/>
                </a:lnTo>
                <a:lnTo>
                  <a:pt x="1389" y="85873"/>
                </a:lnTo>
                <a:lnTo>
                  <a:pt x="2877" y="84087"/>
                </a:lnTo>
                <a:lnTo>
                  <a:pt x="25896" y="59729"/>
                </a:lnTo>
                <a:lnTo>
                  <a:pt x="29319" y="55661"/>
                </a:lnTo>
                <a:lnTo>
                  <a:pt x="41423" y="29269"/>
                </a:lnTo>
                <a:lnTo>
                  <a:pt x="41423" y="25003"/>
                </a:lnTo>
                <a:lnTo>
                  <a:pt x="28227" y="11310"/>
                </a:lnTo>
                <a:lnTo>
                  <a:pt x="22572" y="11310"/>
                </a:lnTo>
                <a:lnTo>
                  <a:pt x="19843" y="11757"/>
                </a:lnTo>
                <a:lnTo>
                  <a:pt x="12948" y="14337"/>
                </a:lnTo>
                <a:lnTo>
                  <a:pt x="7788" y="17264"/>
                </a:lnTo>
                <a:lnTo>
                  <a:pt x="5407" y="18950"/>
                </a:lnTo>
                <a:lnTo>
                  <a:pt x="4514" y="19347"/>
                </a:lnTo>
                <a:lnTo>
                  <a:pt x="3174" y="19248"/>
                </a:lnTo>
                <a:lnTo>
                  <a:pt x="2480" y="18553"/>
                </a:lnTo>
                <a:lnTo>
                  <a:pt x="1934" y="17065"/>
                </a:lnTo>
                <a:lnTo>
                  <a:pt x="1686" y="11757"/>
                </a:lnTo>
                <a:lnTo>
                  <a:pt x="2778" y="8830"/>
                </a:lnTo>
                <a:lnTo>
                  <a:pt x="25052" y="0"/>
                </a:lnTo>
                <a:lnTo>
                  <a:pt x="32692" y="0"/>
                </a:lnTo>
                <a:lnTo>
                  <a:pt x="55860" y="21629"/>
                </a:lnTo>
                <a:lnTo>
                  <a:pt x="55860" y="28078"/>
                </a:lnTo>
                <a:lnTo>
                  <a:pt x="36165" y="65335"/>
                </a:lnTo>
                <a:lnTo>
                  <a:pt x="15378" y="86915"/>
                </a:lnTo>
                <a:lnTo>
                  <a:pt x="57745" y="86915"/>
                </a:lnTo>
                <a:lnTo>
                  <a:pt x="58787" y="87411"/>
                </a:lnTo>
                <a:lnTo>
                  <a:pt x="59729" y="88651"/>
                </a:lnTo>
                <a:lnTo>
                  <a:pt x="60176" y="91380"/>
                </a:lnTo>
                <a:lnTo>
                  <a:pt x="60176" y="92273"/>
                </a:lnTo>
                <a:lnTo>
                  <a:pt x="59928" y="95349"/>
                </a:lnTo>
                <a:lnTo>
                  <a:pt x="59233" y="96837"/>
                </a:lnTo>
                <a:lnTo>
                  <a:pt x="58241" y="97680"/>
                </a:lnTo>
                <a:lnTo>
                  <a:pt x="57348" y="97780"/>
                </a:lnTo>
                <a:close/>
              </a:path>
            </a:pathLst>
          </a:custGeom>
          <a:solidFill>
            <a:srgbClr val="888888"/>
          </a:solidFill>
        </p:spPr>
        <p:txBody>
          <a:bodyPr wrap="square" lIns="0" tIns="0" rIns="0" bIns="0" rtlCol="0"/>
          <a:lstStyle/>
          <a:p>
            <a:endParaRPr/>
          </a:p>
        </p:txBody>
      </p:sp>
      <p:pic>
        <p:nvPicPr>
          <p:cNvPr id="19" name="object 19"/>
          <p:cNvPicPr/>
          <p:nvPr/>
        </p:nvPicPr>
        <p:blipFill>
          <a:blip r:embed="rId8" cstate="print"/>
          <a:stretch>
            <a:fillRect/>
          </a:stretch>
        </p:blipFill>
        <p:spPr>
          <a:xfrm>
            <a:off x="154360" y="11112"/>
            <a:ext cx="8904077" cy="1581764"/>
          </a:xfrm>
          <a:prstGeom prst="rect">
            <a:avLst/>
          </a:prstGeom>
        </p:spPr>
      </p:pic>
      <p:sp>
        <p:nvSpPr>
          <p:cNvPr id="5" name="TextBox 4">
            <a:extLst>
              <a:ext uri="{FF2B5EF4-FFF2-40B4-BE49-F238E27FC236}">
                <a16:creationId xmlns:a16="http://schemas.microsoft.com/office/drawing/2014/main" id="{91476CDE-B66C-135D-0ED6-821457240A24}"/>
              </a:ext>
            </a:extLst>
          </p:cNvPr>
          <p:cNvSpPr txBox="1"/>
          <p:nvPr/>
        </p:nvSpPr>
        <p:spPr>
          <a:xfrm>
            <a:off x="724418" y="2550039"/>
            <a:ext cx="1813317" cy="369332"/>
          </a:xfrm>
          <a:prstGeom prst="rect">
            <a:avLst/>
          </a:prstGeom>
          <a:noFill/>
        </p:spPr>
        <p:txBody>
          <a:bodyPr wrap="none" rtlCol="0">
            <a:spAutoFit/>
          </a:bodyPr>
          <a:lstStyle/>
          <a:p>
            <a:r>
              <a:rPr lang="en-IN"/>
              <a:t>Rapheal John T</a:t>
            </a:r>
          </a:p>
        </p:txBody>
      </p:sp>
      <p:sp>
        <p:nvSpPr>
          <p:cNvPr id="8" name="TextBox 7">
            <a:extLst>
              <a:ext uri="{FF2B5EF4-FFF2-40B4-BE49-F238E27FC236}">
                <a16:creationId xmlns:a16="http://schemas.microsoft.com/office/drawing/2014/main" id="{D7C50D50-C168-0AC2-C01E-825AA4145623}"/>
              </a:ext>
            </a:extLst>
          </p:cNvPr>
          <p:cNvSpPr txBox="1"/>
          <p:nvPr/>
        </p:nvSpPr>
        <p:spPr>
          <a:xfrm>
            <a:off x="724418" y="3253209"/>
            <a:ext cx="1409182" cy="369333"/>
          </a:xfrm>
          <a:prstGeom prst="rect">
            <a:avLst/>
          </a:prstGeom>
          <a:noFill/>
        </p:spPr>
        <p:txBody>
          <a:bodyPr wrap="square" rtlCol="0">
            <a:spAutoFit/>
          </a:bodyPr>
          <a:lstStyle/>
          <a:p>
            <a:r>
              <a:rPr lang="en-IN"/>
              <a:t>Sachin P K  </a:t>
            </a:r>
          </a:p>
        </p:txBody>
      </p:sp>
      <p:sp>
        <p:nvSpPr>
          <p:cNvPr id="13" name="TextBox 12">
            <a:extLst>
              <a:ext uri="{FF2B5EF4-FFF2-40B4-BE49-F238E27FC236}">
                <a16:creationId xmlns:a16="http://schemas.microsoft.com/office/drawing/2014/main" id="{04C90860-26C9-247A-2B81-9001AAF320E5}"/>
              </a:ext>
            </a:extLst>
          </p:cNvPr>
          <p:cNvSpPr txBox="1"/>
          <p:nvPr/>
        </p:nvSpPr>
        <p:spPr>
          <a:xfrm>
            <a:off x="743093" y="3932824"/>
            <a:ext cx="1454244" cy="369332"/>
          </a:xfrm>
          <a:prstGeom prst="rect">
            <a:avLst/>
          </a:prstGeom>
          <a:noFill/>
        </p:spPr>
        <p:txBody>
          <a:bodyPr wrap="none" rtlCol="0">
            <a:spAutoFit/>
          </a:bodyPr>
          <a:lstStyle/>
          <a:p>
            <a:r>
              <a:rPr lang="en-IN" err="1"/>
              <a:t>Susruthan</a:t>
            </a:r>
            <a:r>
              <a:rPr lang="en-IN"/>
              <a:t> V</a:t>
            </a:r>
          </a:p>
        </p:txBody>
      </p:sp>
      <p:sp>
        <p:nvSpPr>
          <p:cNvPr id="14" name="TextBox 13">
            <a:extLst>
              <a:ext uri="{FF2B5EF4-FFF2-40B4-BE49-F238E27FC236}">
                <a16:creationId xmlns:a16="http://schemas.microsoft.com/office/drawing/2014/main" id="{C9C2D58D-67F5-6510-76A1-CE9DCEA47F85}"/>
              </a:ext>
            </a:extLst>
          </p:cNvPr>
          <p:cNvSpPr txBox="1"/>
          <p:nvPr/>
        </p:nvSpPr>
        <p:spPr>
          <a:xfrm>
            <a:off x="743093" y="4676521"/>
            <a:ext cx="1287532" cy="369332"/>
          </a:xfrm>
          <a:prstGeom prst="rect">
            <a:avLst/>
          </a:prstGeom>
          <a:noFill/>
        </p:spPr>
        <p:txBody>
          <a:bodyPr wrap="none" rtlCol="0">
            <a:spAutoFit/>
          </a:bodyPr>
          <a:lstStyle/>
          <a:p>
            <a:r>
              <a:rPr lang="en-IN"/>
              <a:t>Rohith P 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575" y="1551940"/>
            <a:ext cx="8076565" cy="4334520"/>
          </a:xfrm>
          <a:prstGeom prst="rect">
            <a:avLst/>
          </a:prstGeom>
        </p:spPr>
        <p:txBody>
          <a:bodyPr vert="horz" wrap="square" lIns="0" tIns="76200" rIns="0" bIns="0" rtlCol="0">
            <a:spAutoFit/>
          </a:bodyPr>
          <a:lstStyle/>
          <a:p>
            <a:pPr marL="12700" algn="just">
              <a:lnSpc>
                <a:spcPct val="100000"/>
              </a:lnSpc>
              <a:spcBef>
                <a:spcPts val="600"/>
              </a:spcBef>
            </a:pPr>
            <a:r>
              <a:rPr sz="2000" b="1" u="heavy" spc="-10">
                <a:uFill>
                  <a:solidFill>
                    <a:srgbClr val="000000"/>
                  </a:solidFill>
                </a:uFill>
                <a:latin typeface="Times New Roman"/>
                <a:cs typeface="Times New Roman"/>
              </a:rPr>
              <a:t>Vision</a:t>
            </a:r>
            <a:r>
              <a:rPr sz="2000" b="1" u="heavy" spc="-30">
                <a:uFill>
                  <a:solidFill>
                    <a:srgbClr val="000000"/>
                  </a:solidFill>
                </a:uFill>
                <a:latin typeface="Times New Roman"/>
                <a:cs typeface="Times New Roman"/>
              </a:rPr>
              <a:t> </a:t>
            </a:r>
            <a:r>
              <a:rPr sz="2000" b="1" u="heavy">
                <a:uFill>
                  <a:solidFill>
                    <a:srgbClr val="000000"/>
                  </a:solidFill>
                </a:uFill>
                <a:latin typeface="Times New Roman"/>
                <a:cs typeface="Times New Roman"/>
              </a:rPr>
              <a:t>of</a:t>
            </a:r>
            <a:r>
              <a:rPr sz="2000" b="1" u="heavy" spc="-25">
                <a:uFill>
                  <a:solidFill>
                    <a:srgbClr val="000000"/>
                  </a:solidFill>
                </a:uFill>
                <a:latin typeface="Times New Roman"/>
                <a:cs typeface="Times New Roman"/>
              </a:rPr>
              <a:t> </a:t>
            </a:r>
            <a:r>
              <a:rPr sz="2000" b="1" u="heavy">
                <a:uFill>
                  <a:solidFill>
                    <a:srgbClr val="000000"/>
                  </a:solidFill>
                </a:uFill>
                <a:latin typeface="Times New Roman"/>
                <a:cs typeface="Times New Roman"/>
              </a:rPr>
              <a:t>the</a:t>
            </a:r>
            <a:r>
              <a:rPr sz="2000" b="1" u="heavy" spc="-30">
                <a:uFill>
                  <a:solidFill>
                    <a:srgbClr val="000000"/>
                  </a:solidFill>
                </a:uFill>
                <a:latin typeface="Times New Roman"/>
                <a:cs typeface="Times New Roman"/>
              </a:rPr>
              <a:t> </a:t>
            </a:r>
            <a:r>
              <a:rPr sz="2000" b="1" u="heavy" spc="-10">
                <a:uFill>
                  <a:solidFill>
                    <a:srgbClr val="000000"/>
                  </a:solidFill>
                </a:uFill>
                <a:latin typeface="Times New Roman"/>
                <a:cs typeface="Times New Roman"/>
              </a:rPr>
              <a:t>Department</a:t>
            </a:r>
            <a:endParaRPr sz="2000">
              <a:latin typeface="Times New Roman"/>
              <a:cs typeface="Times New Roman"/>
            </a:endParaRPr>
          </a:p>
          <a:p>
            <a:pPr marL="346710" marR="6985" indent="-295910" algn="just">
              <a:lnSpc>
                <a:spcPct val="100499"/>
              </a:lnSpc>
              <a:spcBef>
                <a:spcPts val="484"/>
              </a:spcBef>
              <a:buFont typeface="Arial MT"/>
              <a:buChar char="•"/>
              <a:tabLst>
                <a:tab pos="349250" algn="l"/>
              </a:tabLst>
            </a:pPr>
            <a:r>
              <a:rPr lang="en-US" sz="2000">
                <a:latin typeface="Times New Roman"/>
                <a:cs typeface="Times New Roman"/>
              </a:rPr>
              <a:t>Creating</a:t>
            </a:r>
            <a:r>
              <a:rPr lang="en-US" sz="2000" spc="-50">
                <a:latin typeface="Times New Roman"/>
                <a:cs typeface="Times New Roman"/>
              </a:rPr>
              <a:t> </a:t>
            </a:r>
            <a:r>
              <a:rPr lang="en-US" sz="2000">
                <a:latin typeface="Times New Roman"/>
                <a:cs typeface="Times New Roman"/>
              </a:rPr>
              <a:t>eminent</a:t>
            </a:r>
            <a:r>
              <a:rPr lang="en-US" sz="2000" spc="-30">
                <a:latin typeface="Times New Roman"/>
                <a:cs typeface="Times New Roman"/>
              </a:rPr>
              <a:t> </a:t>
            </a:r>
            <a:r>
              <a:rPr lang="en-US" sz="2000">
                <a:latin typeface="Times New Roman"/>
                <a:cs typeface="Times New Roman"/>
              </a:rPr>
              <a:t>and</a:t>
            </a:r>
            <a:r>
              <a:rPr lang="en-US" sz="2000" spc="-30">
                <a:latin typeface="Times New Roman"/>
                <a:cs typeface="Times New Roman"/>
              </a:rPr>
              <a:t> </a:t>
            </a:r>
            <a:r>
              <a:rPr lang="en-US" sz="2000">
                <a:latin typeface="Times New Roman"/>
                <a:cs typeface="Times New Roman"/>
              </a:rPr>
              <a:t>ethical</a:t>
            </a:r>
            <a:r>
              <a:rPr lang="en-US" sz="2000" spc="-55">
                <a:latin typeface="Times New Roman"/>
                <a:cs typeface="Times New Roman"/>
              </a:rPr>
              <a:t> </a:t>
            </a:r>
            <a:r>
              <a:rPr lang="en-US" sz="2000">
                <a:latin typeface="Times New Roman"/>
                <a:cs typeface="Times New Roman"/>
              </a:rPr>
              <a:t>leaders</a:t>
            </a:r>
            <a:r>
              <a:rPr lang="en-US" sz="2000" spc="-40">
                <a:latin typeface="Times New Roman"/>
                <a:cs typeface="Times New Roman"/>
              </a:rPr>
              <a:t> </a:t>
            </a:r>
            <a:r>
              <a:rPr lang="en-US" sz="2000">
                <a:latin typeface="Times New Roman"/>
                <a:cs typeface="Times New Roman"/>
              </a:rPr>
              <a:t>in</a:t>
            </a:r>
            <a:r>
              <a:rPr lang="en-US" sz="2000" spc="-30">
                <a:latin typeface="Times New Roman"/>
                <a:cs typeface="Times New Roman"/>
              </a:rPr>
              <a:t> </a:t>
            </a:r>
            <a:r>
              <a:rPr lang="en-US" sz="2000">
                <a:latin typeface="Times New Roman"/>
                <a:cs typeface="Times New Roman"/>
              </a:rPr>
              <a:t>the</a:t>
            </a:r>
            <a:r>
              <a:rPr lang="en-US" sz="2000" spc="-35">
                <a:latin typeface="Times New Roman"/>
                <a:cs typeface="Times New Roman"/>
              </a:rPr>
              <a:t> </a:t>
            </a:r>
            <a:r>
              <a:rPr lang="en-US" sz="2000">
                <a:latin typeface="Times New Roman"/>
                <a:cs typeface="Times New Roman"/>
              </a:rPr>
              <a:t>domain</a:t>
            </a:r>
            <a:r>
              <a:rPr lang="en-US" sz="2000" spc="-40">
                <a:latin typeface="Times New Roman"/>
                <a:cs typeface="Times New Roman"/>
              </a:rPr>
              <a:t> </a:t>
            </a:r>
            <a:r>
              <a:rPr lang="en-US" sz="2000">
                <a:latin typeface="Times New Roman"/>
                <a:cs typeface="Times New Roman"/>
              </a:rPr>
              <a:t>of</a:t>
            </a:r>
            <a:r>
              <a:rPr lang="en-US" sz="2000" spc="-25">
                <a:latin typeface="Times New Roman"/>
                <a:cs typeface="Times New Roman"/>
              </a:rPr>
              <a:t> </a:t>
            </a:r>
            <a:r>
              <a:rPr lang="en-US" sz="2000">
                <a:latin typeface="Times New Roman"/>
                <a:cs typeface="Times New Roman"/>
              </a:rPr>
              <a:t>Computational</a:t>
            </a:r>
            <a:r>
              <a:rPr lang="en-US" sz="2000" spc="-45">
                <a:latin typeface="Times New Roman"/>
                <a:cs typeface="Times New Roman"/>
              </a:rPr>
              <a:t> </a:t>
            </a:r>
            <a:r>
              <a:rPr lang="en-US" sz="2000">
                <a:latin typeface="Times New Roman"/>
                <a:cs typeface="Times New Roman"/>
              </a:rPr>
              <a:t>Sciences</a:t>
            </a:r>
            <a:r>
              <a:rPr lang="en-US" sz="2000" spc="-40">
                <a:latin typeface="Times New Roman"/>
                <a:cs typeface="Times New Roman"/>
              </a:rPr>
              <a:t> </a:t>
            </a:r>
            <a:r>
              <a:rPr lang="en-US" sz="2000">
                <a:latin typeface="Times New Roman"/>
                <a:cs typeface="Times New Roman"/>
              </a:rPr>
              <a:t>through</a:t>
            </a:r>
            <a:r>
              <a:rPr lang="en-US" sz="2000" spc="-30">
                <a:latin typeface="Times New Roman"/>
                <a:cs typeface="Times New Roman"/>
              </a:rPr>
              <a:t> </a:t>
            </a:r>
            <a:r>
              <a:rPr lang="en-US" sz="2000" spc="-10">
                <a:latin typeface="Times New Roman"/>
                <a:cs typeface="Times New Roman"/>
              </a:rPr>
              <a:t>quality </a:t>
            </a:r>
            <a:r>
              <a:rPr lang="en-US" sz="2000">
                <a:latin typeface="Times New Roman"/>
                <a:cs typeface="Times New Roman"/>
              </a:rPr>
              <a:t>professional</a:t>
            </a:r>
            <a:r>
              <a:rPr lang="en-US" sz="2000" spc="-15">
                <a:latin typeface="Times New Roman"/>
                <a:cs typeface="Times New Roman"/>
              </a:rPr>
              <a:t> </a:t>
            </a:r>
            <a:r>
              <a:rPr lang="en-US" sz="2000">
                <a:latin typeface="Times New Roman"/>
                <a:cs typeface="Times New Roman"/>
              </a:rPr>
              <a:t>education</a:t>
            </a:r>
            <a:r>
              <a:rPr lang="en-US" sz="2000" spc="-25">
                <a:latin typeface="Times New Roman"/>
                <a:cs typeface="Times New Roman"/>
              </a:rPr>
              <a:t> </a:t>
            </a:r>
            <a:r>
              <a:rPr lang="en-US" sz="2000">
                <a:latin typeface="Times New Roman"/>
                <a:cs typeface="Times New Roman"/>
              </a:rPr>
              <a:t>with</a:t>
            </a:r>
            <a:r>
              <a:rPr lang="en-US" sz="2000" spc="-10">
                <a:latin typeface="Times New Roman"/>
                <a:cs typeface="Times New Roman"/>
              </a:rPr>
              <a:t> </a:t>
            </a:r>
            <a:r>
              <a:rPr lang="en-US" sz="2000">
                <a:latin typeface="Times New Roman"/>
                <a:cs typeface="Times New Roman"/>
              </a:rPr>
              <a:t>a</a:t>
            </a:r>
            <a:r>
              <a:rPr lang="en-US" sz="2000" spc="-15">
                <a:latin typeface="Times New Roman"/>
                <a:cs typeface="Times New Roman"/>
              </a:rPr>
              <a:t> </a:t>
            </a:r>
            <a:r>
              <a:rPr lang="en-US" sz="2000">
                <a:latin typeface="Times New Roman"/>
                <a:cs typeface="Times New Roman"/>
              </a:rPr>
              <a:t>focus</a:t>
            </a:r>
            <a:r>
              <a:rPr lang="en-US" sz="2000" spc="-5">
                <a:latin typeface="Times New Roman"/>
                <a:cs typeface="Times New Roman"/>
              </a:rPr>
              <a:t> </a:t>
            </a:r>
            <a:r>
              <a:rPr lang="en-US" sz="2000">
                <a:latin typeface="Times New Roman"/>
                <a:cs typeface="Times New Roman"/>
              </a:rPr>
              <a:t>on</a:t>
            </a:r>
            <a:r>
              <a:rPr lang="en-US" sz="2000" spc="-10">
                <a:latin typeface="Times New Roman"/>
                <a:cs typeface="Times New Roman"/>
              </a:rPr>
              <a:t> </a:t>
            </a:r>
            <a:r>
              <a:rPr lang="en-US" sz="2000">
                <a:latin typeface="Times New Roman"/>
                <a:cs typeface="Times New Roman"/>
              </a:rPr>
              <a:t>holistic</a:t>
            </a:r>
            <a:r>
              <a:rPr lang="en-US" sz="2000" spc="-30">
                <a:latin typeface="Times New Roman"/>
                <a:cs typeface="Times New Roman"/>
              </a:rPr>
              <a:t> </a:t>
            </a:r>
            <a:r>
              <a:rPr lang="en-US" sz="2000">
                <a:latin typeface="Times New Roman"/>
                <a:cs typeface="Times New Roman"/>
              </a:rPr>
              <a:t>learning</a:t>
            </a:r>
            <a:r>
              <a:rPr lang="en-US" sz="2000" spc="-30">
                <a:latin typeface="Times New Roman"/>
                <a:cs typeface="Times New Roman"/>
              </a:rPr>
              <a:t> </a:t>
            </a:r>
            <a:r>
              <a:rPr lang="en-US" sz="2000">
                <a:latin typeface="Times New Roman"/>
                <a:cs typeface="Times New Roman"/>
              </a:rPr>
              <a:t>and</a:t>
            </a:r>
            <a:r>
              <a:rPr lang="en-US" sz="2000" spc="-5">
                <a:latin typeface="Times New Roman"/>
                <a:cs typeface="Times New Roman"/>
              </a:rPr>
              <a:t> </a:t>
            </a:r>
            <a:r>
              <a:rPr lang="en-US" sz="2000" spc="-10">
                <a:latin typeface="Times New Roman"/>
                <a:cs typeface="Times New Roman"/>
              </a:rPr>
              <a:t>excellence</a:t>
            </a:r>
            <a:r>
              <a:rPr sz="2000" spc="-10">
                <a:latin typeface="Times New Roman"/>
                <a:cs typeface="Times New Roman"/>
              </a:rPr>
              <a:t>.</a:t>
            </a:r>
            <a:endParaRPr sz="2000">
              <a:latin typeface="Times New Roman"/>
              <a:cs typeface="Times New Roman"/>
            </a:endParaRPr>
          </a:p>
          <a:p>
            <a:pPr marL="12700" algn="just">
              <a:lnSpc>
                <a:spcPct val="100000"/>
              </a:lnSpc>
              <a:spcBef>
                <a:spcPts val="500"/>
              </a:spcBef>
            </a:pPr>
            <a:r>
              <a:rPr sz="2000" b="1" u="heavy">
                <a:uFill>
                  <a:solidFill>
                    <a:srgbClr val="000000"/>
                  </a:solidFill>
                </a:uFill>
                <a:latin typeface="Times New Roman"/>
                <a:cs typeface="Times New Roman"/>
              </a:rPr>
              <a:t>Mission</a:t>
            </a:r>
            <a:r>
              <a:rPr sz="2000" b="1" u="heavy" spc="-25">
                <a:uFill>
                  <a:solidFill>
                    <a:srgbClr val="000000"/>
                  </a:solidFill>
                </a:uFill>
                <a:latin typeface="Times New Roman"/>
                <a:cs typeface="Times New Roman"/>
              </a:rPr>
              <a:t> </a:t>
            </a:r>
            <a:r>
              <a:rPr sz="2000" b="1" u="heavy">
                <a:uFill>
                  <a:solidFill>
                    <a:srgbClr val="000000"/>
                  </a:solidFill>
                </a:uFill>
                <a:latin typeface="Times New Roman"/>
                <a:cs typeface="Times New Roman"/>
              </a:rPr>
              <a:t>of</a:t>
            </a:r>
            <a:r>
              <a:rPr sz="2000" b="1" u="heavy" spc="-15">
                <a:uFill>
                  <a:solidFill>
                    <a:srgbClr val="000000"/>
                  </a:solidFill>
                </a:uFill>
                <a:latin typeface="Times New Roman"/>
                <a:cs typeface="Times New Roman"/>
              </a:rPr>
              <a:t> </a:t>
            </a:r>
            <a:r>
              <a:rPr sz="2000" b="1" u="heavy">
                <a:uFill>
                  <a:solidFill>
                    <a:srgbClr val="000000"/>
                  </a:solidFill>
                </a:uFill>
                <a:latin typeface="Times New Roman"/>
                <a:cs typeface="Times New Roman"/>
              </a:rPr>
              <a:t>the</a:t>
            </a:r>
            <a:r>
              <a:rPr sz="2000" b="1" u="heavy" spc="-25">
                <a:uFill>
                  <a:solidFill>
                    <a:srgbClr val="000000"/>
                  </a:solidFill>
                </a:uFill>
                <a:latin typeface="Times New Roman"/>
                <a:cs typeface="Times New Roman"/>
              </a:rPr>
              <a:t> </a:t>
            </a:r>
            <a:r>
              <a:rPr sz="2000" b="1" u="heavy" spc="-10">
                <a:uFill>
                  <a:solidFill>
                    <a:srgbClr val="000000"/>
                  </a:solidFill>
                </a:uFill>
                <a:latin typeface="Times New Roman"/>
                <a:cs typeface="Times New Roman"/>
              </a:rPr>
              <a:t>Department</a:t>
            </a:r>
            <a:endParaRPr sz="2000">
              <a:latin typeface="Times New Roman"/>
              <a:cs typeface="Times New Roman"/>
            </a:endParaRPr>
          </a:p>
          <a:p>
            <a:pPr marL="349250" marR="109855" indent="-337185">
              <a:spcBef>
                <a:spcPts val="100"/>
              </a:spcBef>
              <a:buChar char="•"/>
              <a:tabLst>
                <a:tab pos="377825" algn="l"/>
              </a:tabLst>
            </a:pPr>
            <a:r>
              <a:rPr lang="en-US" sz="2000">
                <a:latin typeface="Times New Roman"/>
                <a:cs typeface="Times New Roman"/>
              </a:rPr>
              <a:t>To</a:t>
            </a:r>
            <a:r>
              <a:rPr lang="en-US" sz="2000" spc="-20">
                <a:latin typeface="Times New Roman"/>
                <a:cs typeface="Times New Roman"/>
              </a:rPr>
              <a:t> </a:t>
            </a:r>
            <a:r>
              <a:rPr lang="en-US" sz="2000">
                <a:latin typeface="Times New Roman"/>
                <a:cs typeface="Times New Roman"/>
              </a:rPr>
              <a:t>create</a:t>
            </a:r>
            <a:r>
              <a:rPr lang="en-US" sz="2000" spc="-35">
                <a:latin typeface="Times New Roman"/>
                <a:cs typeface="Times New Roman"/>
              </a:rPr>
              <a:t> </a:t>
            </a:r>
            <a:r>
              <a:rPr lang="en-US" sz="2000">
                <a:latin typeface="Times New Roman"/>
                <a:cs typeface="Times New Roman"/>
              </a:rPr>
              <a:t>technically</a:t>
            </a:r>
            <a:r>
              <a:rPr lang="en-US" sz="2000" spc="-25">
                <a:latin typeface="Times New Roman"/>
                <a:cs typeface="Times New Roman"/>
              </a:rPr>
              <a:t> </a:t>
            </a:r>
            <a:r>
              <a:rPr lang="en-US" sz="2000">
                <a:latin typeface="Times New Roman"/>
                <a:cs typeface="Times New Roman"/>
              </a:rPr>
              <a:t>competent</a:t>
            </a:r>
            <a:r>
              <a:rPr lang="en-US" sz="2000" spc="-30">
                <a:latin typeface="Times New Roman"/>
                <a:cs typeface="Times New Roman"/>
              </a:rPr>
              <a:t> </a:t>
            </a:r>
            <a:r>
              <a:rPr lang="en-US" sz="2000">
                <a:latin typeface="Times New Roman"/>
                <a:cs typeface="Times New Roman"/>
              </a:rPr>
              <a:t>and</a:t>
            </a:r>
            <a:r>
              <a:rPr lang="en-US" sz="2000" spc="-35">
                <a:latin typeface="Times New Roman"/>
                <a:cs typeface="Times New Roman"/>
              </a:rPr>
              <a:t> </a:t>
            </a:r>
            <a:r>
              <a:rPr lang="en-US" sz="2000">
                <a:latin typeface="Times New Roman"/>
                <a:cs typeface="Times New Roman"/>
              </a:rPr>
              <a:t>ethically</a:t>
            </a:r>
            <a:r>
              <a:rPr lang="en-US" sz="2000" spc="-10">
                <a:latin typeface="Times New Roman"/>
                <a:cs typeface="Times New Roman"/>
              </a:rPr>
              <a:t> </a:t>
            </a:r>
            <a:r>
              <a:rPr lang="en-US" sz="2000">
                <a:latin typeface="Times New Roman"/>
                <a:cs typeface="Times New Roman"/>
              </a:rPr>
              <a:t>conscious</a:t>
            </a:r>
            <a:r>
              <a:rPr lang="en-US" sz="2000" spc="-25">
                <a:latin typeface="Times New Roman"/>
                <a:cs typeface="Times New Roman"/>
              </a:rPr>
              <a:t> </a:t>
            </a:r>
            <a:r>
              <a:rPr lang="en-US" sz="2000">
                <a:latin typeface="Times New Roman"/>
                <a:cs typeface="Times New Roman"/>
              </a:rPr>
              <a:t>graduates</a:t>
            </a:r>
            <a:r>
              <a:rPr lang="en-US" sz="2000" spc="-40">
                <a:latin typeface="Times New Roman"/>
                <a:cs typeface="Times New Roman"/>
              </a:rPr>
              <a:t> </a:t>
            </a:r>
            <a:r>
              <a:rPr lang="en-US" sz="2000">
                <a:latin typeface="Times New Roman"/>
                <a:cs typeface="Times New Roman"/>
              </a:rPr>
              <a:t>in</a:t>
            </a:r>
            <a:r>
              <a:rPr lang="en-US" sz="2000" spc="-15">
                <a:latin typeface="Times New Roman"/>
                <a:cs typeface="Times New Roman"/>
              </a:rPr>
              <a:t> </a:t>
            </a:r>
            <a:r>
              <a:rPr lang="en-US" sz="2000">
                <a:latin typeface="Times New Roman"/>
                <a:cs typeface="Times New Roman"/>
              </a:rPr>
              <a:t>the</a:t>
            </a:r>
            <a:r>
              <a:rPr lang="en-US" sz="2000" spc="-25">
                <a:latin typeface="Times New Roman"/>
                <a:cs typeface="Times New Roman"/>
              </a:rPr>
              <a:t> </a:t>
            </a:r>
            <a:r>
              <a:rPr lang="en-US" sz="2000">
                <a:latin typeface="Times New Roman"/>
                <a:cs typeface="Times New Roman"/>
              </a:rPr>
              <a:t>field</a:t>
            </a:r>
            <a:r>
              <a:rPr lang="en-US" sz="2000" spc="-10">
                <a:latin typeface="Times New Roman"/>
                <a:cs typeface="Times New Roman"/>
              </a:rPr>
              <a:t> </a:t>
            </a:r>
            <a:r>
              <a:rPr lang="en-US" sz="2000">
                <a:latin typeface="Times New Roman"/>
                <a:cs typeface="Times New Roman"/>
              </a:rPr>
              <a:t>of</a:t>
            </a:r>
            <a:r>
              <a:rPr lang="en-US" sz="2000" spc="-25">
                <a:latin typeface="Times New Roman"/>
                <a:cs typeface="Times New Roman"/>
              </a:rPr>
              <a:t> </a:t>
            </a:r>
            <a:r>
              <a:rPr lang="en-US" sz="2000" spc="-10">
                <a:latin typeface="Times New Roman"/>
                <a:cs typeface="Times New Roman"/>
              </a:rPr>
              <a:t>Computer </a:t>
            </a:r>
            <a:r>
              <a:rPr lang="en-US" sz="2000">
                <a:latin typeface="Times New Roman"/>
                <a:cs typeface="Times New Roman"/>
              </a:rPr>
              <a:t>Science</a:t>
            </a:r>
            <a:r>
              <a:rPr lang="en-US" sz="2000" spc="-35">
                <a:latin typeface="Times New Roman"/>
                <a:cs typeface="Times New Roman"/>
              </a:rPr>
              <a:t> </a:t>
            </a:r>
            <a:r>
              <a:rPr lang="en-US" sz="2000">
                <a:latin typeface="Times New Roman"/>
                <a:cs typeface="Times New Roman"/>
              </a:rPr>
              <a:t>and</a:t>
            </a:r>
            <a:r>
              <a:rPr lang="en-US" sz="2000" spc="-30">
                <a:latin typeface="Times New Roman"/>
                <a:cs typeface="Times New Roman"/>
              </a:rPr>
              <a:t> </a:t>
            </a:r>
            <a:r>
              <a:rPr lang="en-US" sz="2000">
                <a:latin typeface="Times New Roman"/>
                <a:cs typeface="Times New Roman"/>
              </a:rPr>
              <a:t>Engineering</a:t>
            </a:r>
            <a:r>
              <a:rPr lang="en-US" sz="2000" spc="-35">
                <a:latin typeface="Times New Roman"/>
                <a:cs typeface="Times New Roman"/>
              </a:rPr>
              <a:t> </a:t>
            </a:r>
            <a:r>
              <a:rPr lang="en-US" sz="2000">
                <a:latin typeface="Times New Roman"/>
                <a:cs typeface="Times New Roman"/>
              </a:rPr>
              <a:t>by</a:t>
            </a:r>
            <a:r>
              <a:rPr lang="en-US" sz="2000" spc="-5">
                <a:latin typeface="Times New Roman"/>
                <a:cs typeface="Times New Roman"/>
              </a:rPr>
              <a:t> </a:t>
            </a:r>
            <a:r>
              <a:rPr lang="en-US" sz="2000">
                <a:latin typeface="Times New Roman"/>
                <a:cs typeface="Times New Roman"/>
              </a:rPr>
              <a:t>encouraging</a:t>
            </a:r>
            <a:r>
              <a:rPr lang="en-US" sz="2000" spc="-45">
                <a:latin typeface="Times New Roman"/>
                <a:cs typeface="Times New Roman"/>
              </a:rPr>
              <a:t> </a:t>
            </a:r>
            <a:r>
              <a:rPr lang="en-US" sz="2000">
                <a:latin typeface="Times New Roman"/>
                <a:cs typeface="Times New Roman"/>
              </a:rPr>
              <a:t>holistic learning</a:t>
            </a:r>
            <a:r>
              <a:rPr lang="en-US" sz="2000" spc="-20">
                <a:latin typeface="Times New Roman"/>
                <a:cs typeface="Times New Roman"/>
              </a:rPr>
              <a:t> </a:t>
            </a:r>
            <a:r>
              <a:rPr lang="en-US" sz="2000">
                <a:latin typeface="Times New Roman"/>
                <a:cs typeface="Times New Roman"/>
              </a:rPr>
              <a:t>and</a:t>
            </a:r>
            <a:r>
              <a:rPr lang="en-US" sz="2000" spc="-25">
                <a:latin typeface="Times New Roman"/>
                <a:cs typeface="Times New Roman"/>
              </a:rPr>
              <a:t> </a:t>
            </a:r>
            <a:r>
              <a:rPr lang="en-US" sz="2000" spc="-10">
                <a:latin typeface="Times New Roman"/>
                <a:cs typeface="Times New Roman"/>
              </a:rPr>
              <a:t>excellence.</a:t>
            </a:r>
            <a:endParaRPr lang="en-US" sz="2000">
              <a:latin typeface="Times New Roman"/>
              <a:cs typeface="Times New Roman"/>
            </a:endParaRPr>
          </a:p>
          <a:p>
            <a:pPr marL="349250" indent="-336550">
              <a:spcBef>
                <a:spcPts val="800"/>
              </a:spcBef>
              <a:buChar char="•"/>
              <a:tabLst>
                <a:tab pos="349250" algn="l"/>
              </a:tabLst>
            </a:pPr>
            <a:r>
              <a:rPr lang="en-US" sz="2000">
                <a:latin typeface="Times New Roman"/>
                <a:cs typeface="Times New Roman"/>
              </a:rPr>
              <a:t>To</a:t>
            </a:r>
            <a:r>
              <a:rPr lang="en-US" sz="2000" spc="-15">
                <a:latin typeface="Times New Roman"/>
                <a:cs typeface="Times New Roman"/>
              </a:rPr>
              <a:t> </a:t>
            </a:r>
            <a:r>
              <a:rPr lang="en-US" sz="2000">
                <a:latin typeface="Times New Roman"/>
                <a:cs typeface="Times New Roman"/>
              </a:rPr>
              <a:t>prepare</a:t>
            </a:r>
            <a:r>
              <a:rPr lang="en-US" sz="2000" spc="-50">
                <a:latin typeface="Times New Roman"/>
                <a:cs typeface="Times New Roman"/>
              </a:rPr>
              <a:t> </a:t>
            </a:r>
            <a:r>
              <a:rPr lang="en-US" sz="2000">
                <a:latin typeface="Times New Roman"/>
                <a:cs typeface="Times New Roman"/>
              </a:rPr>
              <a:t>students</a:t>
            </a:r>
            <a:r>
              <a:rPr lang="en-US" sz="2000" spc="-10">
                <a:latin typeface="Times New Roman"/>
                <a:cs typeface="Times New Roman"/>
              </a:rPr>
              <a:t> </a:t>
            </a:r>
            <a:r>
              <a:rPr lang="en-US" sz="2000">
                <a:latin typeface="Times New Roman"/>
                <a:cs typeface="Times New Roman"/>
              </a:rPr>
              <a:t>for</a:t>
            </a:r>
            <a:r>
              <a:rPr lang="en-US" sz="2000" spc="-25">
                <a:latin typeface="Times New Roman"/>
                <a:cs typeface="Times New Roman"/>
              </a:rPr>
              <a:t> </a:t>
            </a:r>
            <a:r>
              <a:rPr lang="en-US" sz="2000">
                <a:latin typeface="Times New Roman"/>
                <a:cs typeface="Times New Roman"/>
              </a:rPr>
              <a:t>careers</a:t>
            </a:r>
            <a:r>
              <a:rPr lang="en-US" sz="2000" spc="-50">
                <a:latin typeface="Times New Roman"/>
                <a:cs typeface="Times New Roman"/>
              </a:rPr>
              <a:t> </a:t>
            </a:r>
            <a:r>
              <a:rPr lang="en-US" sz="2000">
                <a:latin typeface="Times New Roman"/>
                <a:cs typeface="Times New Roman"/>
              </a:rPr>
              <a:t>in</a:t>
            </a:r>
            <a:r>
              <a:rPr lang="en-US" sz="2000" spc="-10">
                <a:latin typeface="Times New Roman"/>
                <a:cs typeface="Times New Roman"/>
              </a:rPr>
              <a:t> </a:t>
            </a:r>
            <a:r>
              <a:rPr lang="en-US" sz="2000">
                <a:latin typeface="Times New Roman"/>
                <a:cs typeface="Times New Roman"/>
              </a:rPr>
              <a:t>Industry,</a:t>
            </a:r>
            <a:r>
              <a:rPr lang="en-US" sz="2000" spc="-15">
                <a:latin typeface="Times New Roman"/>
                <a:cs typeface="Times New Roman"/>
              </a:rPr>
              <a:t> </a:t>
            </a:r>
            <a:r>
              <a:rPr lang="en-US" sz="2000">
                <a:latin typeface="Times New Roman"/>
                <a:cs typeface="Times New Roman"/>
              </a:rPr>
              <a:t>Academia</a:t>
            </a:r>
            <a:r>
              <a:rPr lang="en-US" sz="2000" spc="-40">
                <a:latin typeface="Times New Roman"/>
                <a:cs typeface="Times New Roman"/>
              </a:rPr>
              <a:t> </a:t>
            </a:r>
            <a:r>
              <a:rPr lang="en-US" sz="2000">
                <a:latin typeface="Times New Roman"/>
                <a:cs typeface="Times New Roman"/>
              </a:rPr>
              <a:t>and</a:t>
            </a:r>
            <a:r>
              <a:rPr lang="en-US" sz="2000" spc="-25">
                <a:latin typeface="Times New Roman"/>
                <a:cs typeface="Times New Roman"/>
              </a:rPr>
              <a:t> </a:t>
            </a:r>
            <a:r>
              <a:rPr lang="en-US" sz="2000">
                <a:latin typeface="Times New Roman"/>
                <a:cs typeface="Times New Roman"/>
              </a:rPr>
              <a:t>the</a:t>
            </a:r>
            <a:r>
              <a:rPr lang="en-US" sz="2000" spc="-25">
                <a:latin typeface="Times New Roman"/>
                <a:cs typeface="Times New Roman"/>
              </a:rPr>
              <a:t> </a:t>
            </a:r>
            <a:r>
              <a:rPr lang="en-US" sz="2000" spc="-10">
                <a:latin typeface="Times New Roman"/>
                <a:cs typeface="Times New Roman"/>
              </a:rPr>
              <a:t>Government.</a:t>
            </a:r>
            <a:endParaRPr lang="en-US" sz="2000">
              <a:latin typeface="Times New Roman"/>
              <a:cs typeface="Times New Roman"/>
            </a:endParaRPr>
          </a:p>
          <a:p>
            <a:pPr marL="349250" indent="-336550">
              <a:buChar char="•"/>
              <a:tabLst>
                <a:tab pos="349250" algn="l"/>
              </a:tabLst>
            </a:pPr>
            <a:r>
              <a:rPr lang="en-US" sz="2000">
                <a:latin typeface="Times New Roman"/>
                <a:cs typeface="Times New Roman"/>
              </a:rPr>
              <a:t>To</a:t>
            </a:r>
            <a:r>
              <a:rPr lang="en-US" sz="2000" spc="-25">
                <a:latin typeface="Times New Roman"/>
                <a:cs typeface="Times New Roman"/>
              </a:rPr>
              <a:t> </a:t>
            </a:r>
            <a:r>
              <a:rPr lang="en-US" sz="2000">
                <a:latin typeface="Times New Roman"/>
                <a:cs typeface="Times New Roman"/>
              </a:rPr>
              <a:t>instill</a:t>
            </a:r>
            <a:r>
              <a:rPr lang="en-US" sz="2000" spc="5">
                <a:latin typeface="Times New Roman"/>
                <a:cs typeface="Times New Roman"/>
              </a:rPr>
              <a:t> </a:t>
            </a:r>
            <a:r>
              <a:rPr lang="en-US" sz="2000">
                <a:latin typeface="Times New Roman"/>
                <a:cs typeface="Times New Roman"/>
              </a:rPr>
              <a:t>Entrepreneurial</a:t>
            </a:r>
            <a:r>
              <a:rPr lang="en-US" sz="2000" spc="-45">
                <a:latin typeface="Times New Roman"/>
                <a:cs typeface="Times New Roman"/>
              </a:rPr>
              <a:t> </a:t>
            </a:r>
            <a:r>
              <a:rPr lang="en-US" sz="2000">
                <a:latin typeface="Times New Roman"/>
                <a:cs typeface="Times New Roman"/>
              </a:rPr>
              <a:t>Orientation</a:t>
            </a:r>
            <a:r>
              <a:rPr lang="en-US" sz="2000" spc="-30">
                <a:latin typeface="Times New Roman"/>
                <a:cs typeface="Times New Roman"/>
              </a:rPr>
              <a:t> </a:t>
            </a:r>
            <a:r>
              <a:rPr lang="en-US" sz="2000">
                <a:latin typeface="Times New Roman"/>
                <a:cs typeface="Times New Roman"/>
              </a:rPr>
              <a:t>and</a:t>
            </a:r>
            <a:r>
              <a:rPr lang="en-US" sz="2000" spc="-40">
                <a:latin typeface="Times New Roman"/>
                <a:cs typeface="Times New Roman"/>
              </a:rPr>
              <a:t> </a:t>
            </a:r>
            <a:r>
              <a:rPr lang="en-US" sz="2000">
                <a:latin typeface="Times New Roman"/>
                <a:cs typeface="Times New Roman"/>
              </a:rPr>
              <a:t>research</a:t>
            </a:r>
            <a:r>
              <a:rPr lang="en-US" sz="2000" spc="-40">
                <a:latin typeface="Times New Roman"/>
                <a:cs typeface="Times New Roman"/>
              </a:rPr>
              <a:t> </a:t>
            </a:r>
            <a:r>
              <a:rPr lang="en-US" sz="2000">
                <a:latin typeface="Times New Roman"/>
                <a:cs typeface="Times New Roman"/>
              </a:rPr>
              <a:t>motivation</a:t>
            </a:r>
            <a:r>
              <a:rPr lang="en-US" sz="2000" spc="-10">
                <a:latin typeface="Times New Roman"/>
                <a:cs typeface="Times New Roman"/>
              </a:rPr>
              <a:t> </a:t>
            </a:r>
            <a:r>
              <a:rPr lang="en-US" sz="2000">
                <a:latin typeface="Times New Roman"/>
                <a:cs typeface="Times New Roman"/>
              </a:rPr>
              <a:t>among</a:t>
            </a:r>
            <a:r>
              <a:rPr lang="en-US" sz="2000" spc="-30">
                <a:latin typeface="Times New Roman"/>
                <a:cs typeface="Times New Roman"/>
              </a:rPr>
              <a:t> </a:t>
            </a:r>
            <a:r>
              <a:rPr lang="en-US" sz="2000">
                <a:latin typeface="Times New Roman"/>
                <a:cs typeface="Times New Roman"/>
              </a:rPr>
              <a:t>the</a:t>
            </a:r>
            <a:r>
              <a:rPr lang="en-US" sz="2000" spc="-30">
                <a:latin typeface="Times New Roman"/>
                <a:cs typeface="Times New Roman"/>
              </a:rPr>
              <a:t> </a:t>
            </a:r>
            <a:r>
              <a:rPr lang="en-US" sz="2000">
                <a:latin typeface="Times New Roman"/>
                <a:cs typeface="Times New Roman"/>
              </a:rPr>
              <a:t>students</a:t>
            </a:r>
            <a:r>
              <a:rPr lang="en-US" sz="2000" spc="-20">
                <a:latin typeface="Times New Roman"/>
                <a:cs typeface="Times New Roman"/>
              </a:rPr>
              <a:t> </a:t>
            </a:r>
            <a:r>
              <a:rPr lang="en-US" sz="2000">
                <a:latin typeface="Times New Roman"/>
                <a:cs typeface="Times New Roman"/>
              </a:rPr>
              <a:t>of</a:t>
            </a:r>
            <a:r>
              <a:rPr lang="en-US" sz="2000" spc="-30">
                <a:latin typeface="Times New Roman"/>
                <a:cs typeface="Times New Roman"/>
              </a:rPr>
              <a:t> </a:t>
            </a:r>
            <a:r>
              <a:rPr lang="en-US" sz="2000" spc="-25">
                <a:latin typeface="Times New Roman"/>
                <a:cs typeface="Times New Roman"/>
              </a:rPr>
              <a:t>the</a:t>
            </a:r>
            <a:r>
              <a:rPr lang="en-US" sz="2000">
                <a:latin typeface="Times New Roman"/>
                <a:cs typeface="Times New Roman"/>
              </a:rPr>
              <a:t> </a:t>
            </a:r>
            <a:r>
              <a:rPr lang="en-US" sz="2000" spc="-10">
                <a:latin typeface="Times New Roman"/>
                <a:cs typeface="Times New Roman"/>
              </a:rPr>
              <a:t>department.</a:t>
            </a:r>
            <a:endParaRPr lang="en-US" sz="2000">
              <a:latin typeface="Times New Roman"/>
              <a:cs typeface="Times New Roman"/>
            </a:endParaRPr>
          </a:p>
          <a:p>
            <a:pPr marL="349250" marR="5080" indent="-337185">
              <a:spcBef>
                <a:spcPts val="100"/>
              </a:spcBef>
              <a:buChar char="•"/>
              <a:tabLst>
                <a:tab pos="377825" algn="l"/>
              </a:tabLst>
            </a:pPr>
            <a:r>
              <a:rPr lang="en-US" sz="2000">
                <a:latin typeface="Times New Roman"/>
                <a:cs typeface="Times New Roman"/>
              </a:rPr>
              <a:t>To</a:t>
            </a:r>
            <a:r>
              <a:rPr lang="en-US" sz="2000" spc="-10">
                <a:latin typeface="Times New Roman"/>
                <a:cs typeface="Times New Roman"/>
              </a:rPr>
              <a:t> </a:t>
            </a:r>
            <a:r>
              <a:rPr lang="en-US" sz="2000">
                <a:latin typeface="Times New Roman"/>
                <a:cs typeface="Times New Roman"/>
              </a:rPr>
              <a:t>emerge</a:t>
            </a:r>
            <a:r>
              <a:rPr lang="en-US" sz="2000" spc="-35">
                <a:latin typeface="Times New Roman"/>
                <a:cs typeface="Times New Roman"/>
              </a:rPr>
              <a:t> </a:t>
            </a:r>
            <a:r>
              <a:rPr lang="en-US" sz="2000">
                <a:latin typeface="Times New Roman"/>
                <a:cs typeface="Times New Roman"/>
              </a:rPr>
              <a:t>as</a:t>
            </a:r>
            <a:r>
              <a:rPr lang="en-US" sz="2000" spc="-20">
                <a:latin typeface="Times New Roman"/>
                <a:cs typeface="Times New Roman"/>
              </a:rPr>
              <a:t> </a:t>
            </a:r>
            <a:r>
              <a:rPr lang="en-US" sz="2000">
                <a:latin typeface="Times New Roman"/>
                <a:cs typeface="Times New Roman"/>
              </a:rPr>
              <a:t>a</a:t>
            </a:r>
            <a:r>
              <a:rPr lang="en-US" sz="2000" spc="-20">
                <a:latin typeface="Times New Roman"/>
                <a:cs typeface="Times New Roman"/>
              </a:rPr>
              <a:t> </a:t>
            </a:r>
            <a:r>
              <a:rPr lang="en-US" sz="2000">
                <a:latin typeface="Times New Roman"/>
                <a:cs typeface="Times New Roman"/>
              </a:rPr>
              <a:t>leader</a:t>
            </a:r>
            <a:r>
              <a:rPr lang="en-US" sz="2000" spc="-35">
                <a:latin typeface="Times New Roman"/>
                <a:cs typeface="Times New Roman"/>
              </a:rPr>
              <a:t> </a:t>
            </a:r>
            <a:r>
              <a:rPr lang="en-US" sz="2000">
                <a:latin typeface="Times New Roman"/>
                <a:cs typeface="Times New Roman"/>
              </a:rPr>
              <a:t>in</a:t>
            </a:r>
            <a:r>
              <a:rPr lang="en-US" sz="2000" spc="-5">
                <a:latin typeface="Times New Roman"/>
                <a:cs typeface="Times New Roman"/>
              </a:rPr>
              <a:t> </a:t>
            </a:r>
            <a:r>
              <a:rPr lang="en-US" sz="2000">
                <a:latin typeface="Times New Roman"/>
                <a:cs typeface="Times New Roman"/>
              </a:rPr>
              <a:t>education</a:t>
            </a:r>
            <a:r>
              <a:rPr lang="en-US" sz="2000" spc="-30">
                <a:latin typeface="Times New Roman"/>
                <a:cs typeface="Times New Roman"/>
              </a:rPr>
              <a:t> </a:t>
            </a:r>
            <a:r>
              <a:rPr lang="en-US" sz="2000">
                <a:latin typeface="Times New Roman"/>
                <a:cs typeface="Times New Roman"/>
              </a:rPr>
              <a:t>in</a:t>
            </a:r>
            <a:r>
              <a:rPr lang="en-US" sz="2000" spc="-5">
                <a:latin typeface="Times New Roman"/>
                <a:cs typeface="Times New Roman"/>
              </a:rPr>
              <a:t> </a:t>
            </a:r>
            <a:r>
              <a:rPr lang="en-US" sz="2000">
                <a:latin typeface="Times New Roman"/>
                <a:cs typeface="Times New Roman"/>
              </a:rPr>
              <a:t>the</a:t>
            </a:r>
            <a:r>
              <a:rPr lang="en-US" sz="2000" spc="-20">
                <a:latin typeface="Times New Roman"/>
                <a:cs typeface="Times New Roman"/>
              </a:rPr>
              <a:t> </a:t>
            </a:r>
            <a:r>
              <a:rPr lang="en-US" sz="2000">
                <a:latin typeface="Times New Roman"/>
                <a:cs typeface="Times New Roman"/>
              </a:rPr>
              <a:t>region</a:t>
            </a:r>
            <a:r>
              <a:rPr lang="en-US" sz="2000" spc="-20">
                <a:latin typeface="Times New Roman"/>
                <a:cs typeface="Times New Roman"/>
              </a:rPr>
              <a:t> </a:t>
            </a:r>
            <a:r>
              <a:rPr lang="en-US" sz="2000">
                <a:latin typeface="Times New Roman"/>
                <a:cs typeface="Times New Roman"/>
              </a:rPr>
              <a:t>by</a:t>
            </a:r>
            <a:r>
              <a:rPr lang="en-US" sz="2000" spc="-20">
                <a:latin typeface="Times New Roman"/>
                <a:cs typeface="Times New Roman"/>
              </a:rPr>
              <a:t> </a:t>
            </a:r>
            <a:r>
              <a:rPr lang="en-US" sz="2000">
                <a:latin typeface="Times New Roman"/>
                <a:cs typeface="Times New Roman"/>
              </a:rPr>
              <a:t>encouraging</a:t>
            </a:r>
            <a:r>
              <a:rPr lang="en-US" sz="2000" spc="-25">
                <a:latin typeface="Times New Roman"/>
                <a:cs typeface="Times New Roman"/>
              </a:rPr>
              <a:t> </a:t>
            </a:r>
            <a:r>
              <a:rPr lang="en-US" sz="2000">
                <a:latin typeface="Times New Roman"/>
                <a:cs typeface="Times New Roman"/>
              </a:rPr>
              <a:t>teaching,</a:t>
            </a:r>
            <a:r>
              <a:rPr lang="en-US" sz="2000" spc="-25">
                <a:latin typeface="Times New Roman"/>
                <a:cs typeface="Times New Roman"/>
              </a:rPr>
              <a:t> </a:t>
            </a:r>
            <a:r>
              <a:rPr lang="en-US" sz="2000">
                <a:latin typeface="Times New Roman"/>
                <a:cs typeface="Times New Roman"/>
              </a:rPr>
              <a:t>learning,</a:t>
            </a:r>
            <a:r>
              <a:rPr lang="en-US" sz="2000" spc="-25">
                <a:latin typeface="Times New Roman"/>
                <a:cs typeface="Times New Roman"/>
              </a:rPr>
              <a:t> </a:t>
            </a:r>
            <a:r>
              <a:rPr lang="en-US" sz="2000" spc="-10">
                <a:latin typeface="Times New Roman"/>
                <a:cs typeface="Times New Roman"/>
              </a:rPr>
              <a:t>industry </a:t>
            </a:r>
            <a:r>
              <a:rPr lang="en-US" sz="2000">
                <a:latin typeface="Times New Roman"/>
                <a:cs typeface="Times New Roman"/>
              </a:rPr>
              <a:t>and</a:t>
            </a:r>
            <a:r>
              <a:rPr lang="en-US" sz="2000" spc="-30">
                <a:latin typeface="Times New Roman"/>
                <a:cs typeface="Times New Roman"/>
              </a:rPr>
              <a:t> </a:t>
            </a:r>
            <a:r>
              <a:rPr lang="en-US" sz="2000">
                <a:latin typeface="Times New Roman"/>
                <a:cs typeface="Times New Roman"/>
              </a:rPr>
              <a:t>societal</a:t>
            </a:r>
            <a:r>
              <a:rPr lang="en-US" sz="2000" spc="-15">
                <a:latin typeface="Times New Roman"/>
                <a:cs typeface="Times New Roman"/>
              </a:rPr>
              <a:t> </a:t>
            </a:r>
            <a:r>
              <a:rPr lang="en-US" sz="2000" spc="-10">
                <a:latin typeface="Times New Roman"/>
                <a:cs typeface="Times New Roman"/>
              </a:rPr>
              <a:t>connect.</a:t>
            </a:r>
            <a:endParaRPr lang="en-US" sz="2000">
              <a:latin typeface="Times New Roman"/>
              <a:cs typeface="Times New Roman"/>
            </a:endParaRPr>
          </a:p>
        </p:txBody>
      </p:sp>
      <p:grpSp>
        <p:nvGrpSpPr>
          <p:cNvPr id="3" name="object 3"/>
          <p:cNvGrpSpPr/>
          <p:nvPr/>
        </p:nvGrpSpPr>
        <p:grpSpPr>
          <a:xfrm>
            <a:off x="548405" y="6485439"/>
            <a:ext cx="8043545" cy="130175"/>
            <a:chOff x="548405" y="6485439"/>
            <a:chExt cx="8043545" cy="130175"/>
          </a:xfrm>
        </p:grpSpPr>
        <p:pic>
          <p:nvPicPr>
            <p:cNvPr id="4" name="object 4"/>
            <p:cNvPicPr/>
            <p:nvPr/>
          </p:nvPicPr>
          <p:blipFill>
            <a:blip r:embed="rId2" cstate="print"/>
            <a:stretch>
              <a:fillRect/>
            </a:stretch>
          </p:blipFill>
          <p:spPr>
            <a:xfrm>
              <a:off x="548405" y="6485439"/>
              <a:ext cx="567928" cy="130026"/>
            </a:xfrm>
            <a:prstGeom prst="rect">
              <a:avLst/>
            </a:prstGeom>
          </p:spPr>
        </p:pic>
        <p:sp>
          <p:nvSpPr>
            <p:cNvPr id="5" name="object 5"/>
            <p:cNvSpPr/>
            <p:nvPr/>
          </p:nvSpPr>
          <p:spPr>
            <a:xfrm>
              <a:off x="8531572" y="6496948"/>
              <a:ext cx="60325" cy="99695"/>
            </a:xfrm>
            <a:custGeom>
              <a:avLst/>
              <a:gdLst/>
              <a:ahLst/>
              <a:cxnLst/>
              <a:rect l="l" t="t" r="r" b="b"/>
              <a:pathLst>
                <a:path w="60325" h="99695">
                  <a:moveTo>
                    <a:pt x="31749" y="99268"/>
                  </a:moveTo>
                  <a:lnTo>
                    <a:pt x="23217" y="99268"/>
                  </a:lnTo>
                  <a:lnTo>
                    <a:pt x="20191" y="98970"/>
                  </a:lnTo>
                  <a:lnTo>
                    <a:pt x="0" y="84087"/>
                  </a:lnTo>
                  <a:lnTo>
                    <a:pt x="148" y="82847"/>
                  </a:lnTo>
                  <a:lnTo>
                    <a:pt x="843" y="81458"/>
                  </a:lnTo>
                  <a:lnTo>
                    <a:pt x="1339" y="81111"/>
                  </a:lnTo>
                  <a:lnTo>
                    <a:pt x="2430" y="81111"/>
                  </a:lnTo>
                  <a:lnTo>
                    <a:pt x="7590" y="83939"/>
                  </a:lnTo>
                  <a:lnTo>
                    <a:pt x="11757" y="85724"/>
                  </a:lnTo>
                  <a:lnTo>
                    <a:pt x="19595" y="88155"/>
                  </a:lnTo>
                  <a:lnTo>
                    <a:pt x="22671" y="88552"/>
                  </a:lnTo>
                  <a:lnTo>
                    <a:pt x="29319" y="88552"/>
                  </a:lnTo>
                  <a:lnTo>
                    <a:pt x="45987" y="73917"/>
                  </a:lnTo>
                  <a:lnTo>
                    <a:pt x="45987" y="68659"/>
                  </a:lnTo>
                  <a:lnTo>
                    <a:pt x="11608" y="53280"/>
                  </a:lnTo>
                  <a:lnTo>
                    <a:pt x="10864" y="52784"/>
                  </a:lnTo>
                  <a:lnTo>
                    <a:pt x="9773" y="50204"/>
                  </a:lnTo>
                  <a:lnTo>
                    <a:pt x="9822" y="45987"/>
                  </a:lnTo>
                  <a:lnTo>
                    <a:pt x="10269" y="44797"/>
                  </a:lnTo>
                  <a:lnTo>
                    <a:pt x="11459" y="43606"/>
                  </a:lnTo>
                  <a:lnTo>
                    <a:pt x="12253" y="43308"/>
                  </a:lnTo>
                  <a:lnTo>
                    <a:pt x="24407" y="43308"/>
                  </a:lnTo>
                  <a:lnTo>
                    <a:pt x="27334" y="42912"/>
                  </a:lnTo>
                  <a:lnTo>
                    <a:pt x="42118" y="28078"/>
                  </a:lnTo>
                  <a:lnTo>
                    <a:pt x="42118" y="23316"/>
                  </a:lnTo>
                  <a:lnTo>
                    <a:pt x="29021" y="10566"/>
                  </a:lnTo>
                  <a:lnTo>
                    <a:pt x="23465" y="10566"/>
                  </a:lnTo>
                  <a:lnTo>
                    <a:pt x="20835" y="11013"/>
                  </a:lnTo>
                  <a:lnTo>
                    <a:pt x="13940" y="13741"/>
                  </a:lnTo>
                  <a:lnTo>
                    <a:pt x="8582" y="16668"/>
                  </a:lnTo>
                  <a:lnTo>
                    <a:pt x="6102" y="18355"/>
                  </a:lnTo>
                  <a:lnTo>
                    <a:pt x="5258" y="18752"/>
                  </a:lnTo>
                  <a:lnTo>
                    <a:pt x="3522" y="18504"/>
                  </a:lnTo>
                  <a:lnTo>
                    <a:pt x="2778" y="16966"/>
                  </a:lnTo>
                  <a:lnTo>
                    <a:pt x="2679" y="11757"/>
                  </a:lnTo>
                  <a:lnTo>
                    <a:pt x="3770" y="8681"/>
                  </a:lnTo>
                  <a:lnTo>
                    <a:pt x="25697" y="0"/>
                  </a:lnTo>
                  <a:lnTo>
                    <a:pt x="33337" y="0"/>
                  </a:lnTo>
                  <a:lnTo>
                    <a:pt x="55810" y="20191"/>
                  </a:lnTo>
                  <a:lnTo>
                    <a:pt x="55810" y="26739"/>
                  </a:lnTo>
                  <a:lnTo>
                    <a:pt x="37802" y="47178"/>
                  </a:lnTo>
                  <a:lnTo>
                    <a:pt x="37802" y="47327"/>
                  </a:lnTo>
                  <a:lnTo>
                    <a:pt x="60275" y="67171"/>
                  </a:lnTo>
                  <a:lnTo>
                    <a:pt x="60275" y="70246"/>
                  </a:lnTo>
                  <a:lnTo>
                    <a:pt x="60275" y="74612"/>
                  </a:lnTo>
                  <a:lnTo>
                    <a:pt x="36462" y="98573"/>
                  </a:lnTo>
                  <a:lnTo>
                    <a:pt x="31749" y="99268"/>
                  </a:lnTo>
                  <a:close/>
                </a:path>
              </a:pathLst>
            </a:custGeom>
            <a:solidFill>
              <a:srgbClr val="888888"/>
            </a:solidFill>
          </p:spPr>
          <p:txBody>
            <a:bodyPr wrap="square" lIns="0" tIns="0" rIns="0" bIns="0" rtlCol="0"/>
            <a:lstStyle/>
            <a:p>
              <a:endParaRPr/>
            </a:p>
          </p:txBody>
        </p:sp>
      </p:grpSp>
      <p:pic>
        <p:nvPicPr>
          <p:cNvPr id="6" name="object 6"/>
          <p:cNvPicPr/>
          <p:nvPr/>
        </p:nvPicPr>
        <p:blipFill>
          <a:blip r:embed="rId3" cstate="print"/>
          <a:stretch>
            <a:fillRect/>
          </a:stretch>
        </p:blipFill>
        <p:spPr>
          <a:xfrm>
            <a:off x="154360" y="11112"/>
            <a:ext cx="8904077" cy="15817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E05285-791E-5583-2E26-7A2E1C914DDB}"/>
              </a:ext>
            </a:extLst>
          </p:cNvPr>
          <p:cNvSpPr txBox="1"/>
          <p:nvPr/>
        </p:nvSpPr>
        <p:spPr>
          <a:xfrm>
            <a:off x="85562" y="1592876"/>
            <a:ext cx="5629437" cy="400110"/>
          </a:xfrm>
          <a:prstGeom prst="rect">
            <a:avLst/>
          </a:prstGeom>
          <a:noFill/>
        </p:spPr>
        <p:txBody>
          <a:bodyPr wrap="square">
            <a:spAutoFit/>
          </a:bodyPr>
          <a:lstStyle/>
          <a:p>
            <a:r>
              <a:rPr lang="en-US" sz="2000" b="1" u="sng" err="1">
                <a:latin typeface="Times New Roman"/>
                <a:cs typeface="Times New Roman"/>
              </a:rPr>
              <a:t>Programme</a:t>
            </a:r>
            <a:r>
              <a:rPr lang="en-US" sz="2000" b="1" u="sng" spc="-20">
                <a:latin typeface="Times New Roman"/>
                <a:cs typeface="Times New Roman"/>
              </a:rPr>
              <a:t> </a:t>
            </a:r>
            <a:r>
              <a:rPr lang="en-US" sz="2000" b="1" u="sng">
                <a:latin typeface="Times New Roman"/>
                <a:cs typeface="Times New Roman"/>
              </a:rPr>
              <a:t>Educational</a:t>
            </a:r>
            <a:r>
              <a:rPr lang="en-US" sz="2000" b="1" u="sng" spc="-55">
                <a:latin typeface="Times New Roman"/>
                <a:cs typeface="Times New Roman"/>
              </a:rPr>
              <a:t> </a:t>
            </a:r>
            <a:r>
              <a:rPr lang="en-US" sz="2000" b="1" u="sng">
                <a:latin typeface="Times New Roman"/>
                <a:cs typeface="Times New Roman"/>
              </a:rPr>
              <a:t>Objectives</a:t>
            </a:r>
            <a:r>
              <a:rPr lang="en-US" sz="2000" b="1" u="sng" spc="-60">
                <a:latin typeface="Times New Roman"/>
                <a:cs typeface="Times New Roman"/>
              </a:rPr>
              <a:t> </a:t>
            </a:r>
            <a:r>
              <a:rPr lang="en-US" sz="2000" b="1" u="sng" spc="-10">
                <a:latin typeface="Times New Roman"/>
                <a:cs typeface="Times New Roman"/>
              </a:rPr>
              <a:t>(PEOs)</a:t>
            </a:r>
            <a:endParaRPr lang="en-US" sz="2000" b="1" u="sng"/>
          </a:p>
        </p:txBody>
      </p:sp>
      <p:pic>
        <p:nvPicPr>
          <p:cNvPr id="4" name="object 6">
            <a:extLst>
              <a:ext uri="{FF2B5EF4-FFF2-40B4-BE49-F238E27FC236}">
                <a16:creationId xmlns:a16="http://schemas.microsoft.com/office/drawing/2014/main" id="{09A4E1ED-7768-1BA9-0ABF-01AA66342E93}"/>
              </a:ext>
            </a:extLst>
          </p:cNvPr>
          <p:cNvPicPr/>
          <p:nvPr/>
        </p:nvPicPr>
        <p:blipFill>
          <a:blip r:embed="rId2" cstate="print"/>
          <a:stretch>
            <a:fillRect/>
          </a:stretch>
        </p:blipFill>
        <p:spPr>
          <a:xfrm>
            <a:off x="154360" y="11112"/>
            <a:ext cx="8904077" cy="1581764"/>
          </a:xfrm>
          <a:prstGeom prst="rect">
            <a:avLst/>
          </a:prstGeom>
        </p:spPr>
      </p:pic>
      <p:sp>
        <p:nvSpPr>
          <p:cNvPr id="6" name="TextBox 5">
            <a:extLst>
              <a:ext uri="{FF2B5EF4-FFF2-40B4-BE49-F238E27FC236}">
                <a16:creationId xmlns:a16="http://schemas.microsoft.com/office/drawing/2014/main" id="{29DE7EEA-338C-AA16-467D-6B52D59046C0}"/>
              </a:ext>
            </a:extLst>
          </p:cNvPr>
          <p:cNvSpPr txBox="1"/>
          <p:nvPr/>
        </p:nvSpPr>
        <p:spPr>
          <a:xfrm>
            <a:off x="85562" y="1992986"/>
            <a:ext cx="9058438" cy="3503523"/>
          </a:xfrm>
          <a:prstGeom prst="rect">
            <a:avLst/>
          </a:prstGeom>
          <a:noFill/>
        </p:spPr>
        <p:txBody>
          <a:bodyPr wrap="square">
            <a:spAutoFit/>
          </a:bodyPr>
          <a:lstStyle/>
          <a:p>
            <a:pPr marL="240665" indent="-227965" algn="just">
              <a:spcBef>
                <a:spcPts val="880"/>
              </a:spcBef>
              <a:buAutoNum type="arabicPeriod"/>
              <a:tabLst>
                <a:tab pos="240665" algn="l"/>
              </a:tabLst>
            </a:pPr>
            <a:r>
              <a:rPr lang="en-US" sz="2000">
                <a:latin typeface="Times New Roman"/>
                <a:cs typeface="Times New Roman"/>
              </a:rPr>
              <a:t>The</a:t>
            </a:r>
            <a:r>
              <a:rPr lang="en-US" sz="2000" spc="-50">
                <a:latin typeface="Times New Roman"/>
                <a:cs typeface="Times New Roman"/>
              </a:rPr>
              <a:t> </a:t>
            </a:r>
            <a:r>
              <a:rPr lang="en-US" sz="2000">
                <a:latin typeface="Times New Roman"/>
                <a:cs typeface="Times New Roman"/>
              </a:rPr>
              <a:t>graduates</a:t>
            </a:r>
            <a:r>
              <a:rPr lang="en-US" sz="2000" spc="-60">
                <a:latin typeface="Times New Roman"/>
                <a:cs typeface="Times New Roman"/>
              </a:rPr>
              <a:t> </a:t>
            </a:r>
            <a:r>
              <a:rPr lang="en-US" sz="2000">
                <a:latin typeface="Times New Roman"/>
                <a:cs typeface="Times New Roman"/>
              </a:rPr>
              <a:t>shall</a:t>
            </a:r>
            <a:r>
              <a:rPr lang="en-US" sz="2000" spc="-45">
                <a:latin typeface="Times New Roman"/>
                <a:cs typeface="Times New Roman"/>
              </a:rPr>
              <a:t> </a:t>
            </a:r>
            <a:r>
              <a:rPr lang="en-US" sz="2000">
                <a:latin typeface="Times New Roman"/>
                <a:cs typeface="Times New Roman"/>
              </a:rPr>
              <a:t>have</a:t>
            </a:r>
            <a:r>
              <a:rPr lang="en-US" sz="2000" spc="-45">
                <a:latin typeface="Times New Roman"/>
                <a:cs typeface="Times New Roman"/>
              </a:rPr>
              <a:t> </a:t>
            </a:r>
            <a:r>
              <a:rPr lang="en-US" sz="2000">
                <a:latin typeface="Times New Roman"/>
                <a:cs typeface="Times New Roman"/>
              </a:rPr>
              <a:t>sound</a:t>
            </a:r>
            <a:r>
              <a:rPr lang="en-US" sz="2000" spc="-45">
                <a:latin typeface="Times New Roman"/>
                <a:cs typeface="Times New Roman"/>
              </a:rPr>
              <a:t> </a:t>
            </a:r>
            <a:r>
              <a:rPr lang="en-US" sz="2000">
                <a:latin typeface="Times New Roman"/>
                <a:cs typeface="Times New Roman"/>
              </a:rPr>
              <a:t>knowledge</a:t>
            </a:r>
            <a:r>
              <a:rPr lang="en-US" sz="2000" spc="-45">
                <a:latin typeface="Times New Roman"/>
                <a:cs typeface="Times New Roman"/>
              </a:rPr>
              <a:t> </a:t>
            </a:r>
            <a:r>
              <a:rPr lang="en-US" sz="2000">
                <a:latin typeface="Times New Roman"/>
                <a:cs typeface="Times New Roman"/>
              </a:rPr>
              <a:t>of</a:t>
            </a:r>
            <a:r>
              <a:rPr lang="en-US" sz="2000" spc="-55">
                <a:latin typeface="Times New Roman"/>
                <a:cs typeface="Times New Roman"/>
              </a:rPr>
              <a:t> </a:t>
            </a:r>
            <a:r>
              <a:rPr lang="en-US" sz="2000">
                <a:latin typeface="Times New Roman"/>
                <a:cs typeface="Times New Roman"/>
              </a:rPr>
              <a:t>Mathematics,</a:t>
            </a:r>
            <a:r>
              <a:rPr lang="en-US" sz="2000" spc="-65">
                <a:latin typeface="Times New Roman"/>
                <a:cs typeface="Times New Roman"/>
              </a:rPr>
              <a:t> </a:t>
            </a:r>
            <a:r>
              <a:rPr lang="en-US" sz="2000">
                <a:latin typeface="Times New Roman"/>
                <a:cs typeface="Times New Roman"/>
              </a:rPr>
              <a:t>Science,</a:t>
            </a:r>
            <a:r>
              <a:rPr lang="en-US" sz="2000" spc="-60">
                <a:latin typeface="Times New Roman"/>
                <a:cs typeface="Times New Roman"/>
              </a:rPr>
              <a:t> </a:t>
            </a:r>
            <a:r>
              <a:rPr lang="en-US" sz="2000">
                <a:latin typeface="Times New Roman"/>
                <a:cs typeface="Times New Roman"/>
              </a:rPr>
              <a:t>Engineering</a:t>
            </a:r>
            <a:r>
              <a:rPr lang="en-US" sz="2000" spc="-55">
                <a:latin typeface="Times New Roman"/>
                <a:cs typeface="Times New Roman"/>
              </a:rPr>
              <a:t> </a:t>
            </a:r>
            <a:r>
              <a:rPr lang="en-US" sz="2000" spc="-25">
                <a:latin typeface="Times New Roman"/>
                <a:cs typeface="Times New Roman"/>
              </a:rPr>
              <a:t>and </a:t>
            </a:r>
            <a:r>
              <a:rPr lang="en-US" sz="2000">
                <a:latin typeface="Times New Roman"/>
                <a:cs typeface="Times New Roman"/>
              </a:rPr>
              <a:t>Management</a:t>
            </a:r>
            <a:r>
              <a:rPr lang="en-US" sz="2000" spc="-35">
                <a:latin typeface="Times New Roman"/>
                <a:cs typeface="Times New Roman"/>
              </a:rPr>
              <a:t> </a:t>
            </a:r>
            <a:r>
              <a:rPr lang="en-US" sz="2000">
                <a:latin typeface="Times New Roman"/>
                <a:cs typeface="Times New Roman"/>
              </a:rPr>
              <a:t>to</a:t>
            </a:r>
            <a:r>
              <a:rPr lang="en-US" sz="2000" spc="-35">
                <a:latin typeface="Times New Roman"/>
                <a:cs typeface="Times New Roman"/>
              </a:rPr>
              <a:t> </a:t>
            </a:r>
            <a:r>
              <a:rPr lang="en-US" sz="2000">
                <a:latin typeface="Times New Roman"/>
                <a:cs typeface="Times New Roman"/>
              </a:rPr>
              <a:t>be</a:t>
            </a:r>
            <a:r>
              <a:rPr lang="en-US" sz="2000" spc="-30">
                <a:latin typeface="Times New Roman"/>
                <a:cs typeface="Times New Roman"/>
              </a:rPr>
              <a:t> </a:t>
            </a:r>
            <a:r>
              <a:rPr lang="en-US" sz="2000">
                <a:latin typeface="Times New Roman"/>
                <a:cs typeface="Times New Roman"/>
              </a:rPr>
              <a:t>able</a:t>
            </a:r>
            <a:r>
              <a:rPr lang="en-US" sz="2000" spc="-35">
                <a:latin typeface="Times New Roman"/>
                <a:cs typeface="Times New Roman"/>
              </a:rPr>
              <a:t> </a:t>
            </a:r>
            <a:r>
              <a:rPr lang="en-US" sz="2000">
                <a:latin typeface="Times New Roman"/>
                <a:cs typeface="Times New Roman"/>
              </a:rPr>
              <a:t>to</a:t>
            </a:r>
            <a:r>
              <a:rPr lang="en-US" sz="2000" spc="-30">
                <a:latin typeface="Times New Roman"/>
                <a:cs typeface="Times New Roman"/>
              </a:rPr>
              <a:t> </a:t>
            </a:r>
            <a:r>
              <a:rPr lang="en-US" sz="2000">
                <a:latin typeface="Times New Roman"/>
                <a:cs typeface="Times New Roman"/>
              </a:rPr>
              <a:t>offer</a:t>
            </a:r>
            <a:r>
              <a:rPr lang="en-US" sz="2000" spc="-35">
                <a:latin typeface="Times New Roman"/>
                <a:cs typeface="Times New Roman"/>
              </a:rPr>
              <a:t> </a:t>
            </a:r>
            <a:r>
              <a:rPr lang="en-US" sz="2000">
                <a:latin typeface="Times New Roman"/>
                <a:cs typeface="Times New Roman"/>
              </a:rPr>
              <a:t>practical</a:t>
            </a:r>
            <a:r>
              <a:rPr lang="en-US" sz="2000" spc="-60">
                <a:latin typeface="Times New Roman"/>
                <a:cs typeface="Times New Roman"/>
              </a:rPr>
              <a:t> </a:t>
            </a:r>
            <a:r>
              <a:rPr lang="en-US" sz="2000">
                <a:latin typeface="Times New Roman"/>
                <a:cs typeface="Times New Roman"/>
              </a:rPr>
              <a:t>software</a:t>
            </a:r>
            <a:r>
              <a:rPr lang="en-US" sz="2000" spc="-30">
                <a:latin typeface="Times New Roman"/>
                <a:cs typeface="Times New Roman"/>
              </a:rPr>
              <a:t> </a:t>
            </a:r>
            <a:r>
              <a:rPr lang="en-US" sz="2000">
                <a:latin typeface="Times New Roman"/>
                <a:cs typeface="Times New Roman"/>
              </a:rPr>
              <a:t>and</a:t>
            </a:r>
            <a:r>
              <a:rPr lang="en-US" sz="2000" spc="-30">
                <a:latin typeface="Times New Roman"/>
                <a:cs typeface="Times New Roman"/>
              </a:rPr>
              <a:t> </a:t>
            </a:r>
            <a:r>
              <a:rPr lang="en-US" sz="2000">
                <a:latin typeface="Times New Roman"/>
                <a:cs typeface="Times New Roman"/>
              </a:rPr>
              <a:t>hardware</a:t>
            </a:r>
            <a:r>
              <a:rPr lang="en-US" sz="2000" spc="-45">
                <a:latin typeface="Times New Roman"/>
                <a:cs typeface="Times New Roman"/>
              </a:rPr>
              <a:t> </a:t>
            </a:r>
            <a:r>
              <a:rPr lang="en-US" sz="2000">
                <a:latin typeface="Times New Roman"/>
                <a:cs typeface="Times New Roman"/>
              </a:rPr>
              <a:t>solutions</a:t>
            </a:r>
            <a:r>
              <a:rPr lang="en-US" sz="2000" spc="-40">
                <a:latin typeface="Times New Roman"/>
                <a:cs typeface="Times New Roman"/>
              </a:rPr>
              <a:t> </a:t>
            </a:r>
            <a:r>
              <a:rPr lang="en-US" sz="2000">
                <a:latin typeface="Times New Roman"/>
                <a:cs typeface="Times New Roman"/>
              </a:rPr>
              <a:t>for</a:t>
            </a:r>
            <a:r>
              <a:rPr lang="en-US" sz="2000" spc="-30">
                <a:latin typeface="Times New Roman"/>
                <a:cs typeface="Times New Roman"/>
              </a:rPr>
              <a:t> </a:t>
            </a:r>
            <a:r>
              <a:rPr lang="en-US" sz="2000" spc="-25">
                <a:latin typeface="Times New Roman"/>
                <a:cs typeface="Times New Roman"/>
              </a:rPr>
              <a:t>the </a:t>
            </a:r>
            <a:r>
              <a:rPr lang="en-US" sz="2000">
                <a:latin typeface="Times New Roman"/>
                <a:cs typeface="Times New Roman"/>
              </a:rPr>
              <a:t>problems</a:t>
            </a:r>
            <a:r>
              <a:rPr lang="en-US" sz="2000" spc="-60">
                <a:latin typeface="Times New Roman"/>
                <a:cs typeface="Times New Roman"/>
              </a:rPr>
              <a:t> </a:t>
            </a:r>
            <a:r>
              <a:rPr lang="en-US" sz="2000" spc="-25">
                <a:latin typeface="Times New Roman"/>
                <a:cs typeface="Times New Roman"/>
              </a:rPr>
              <a:t>of </a:t>
            </a:r>
            <a:r>
              <a:rPr lang="en-US" sz="2000">
                <a:latin typeface="Times New Roman"/>
                <a:cs typeface="Times New Roman"/>
              </a:rPr>
              <a:t>industry</a:t>
            </a:r>
            <a:r>
              <a:rPr lang="en-US" sz="2000" spc="-30">
                <a:latin typeface="Times New Roman"/>
                <a:cs typeface="Times New Roman"/>
              </a:rPr>
              <a:t> </a:t>
            </a:r>
            <a:r>
              <a:rPr lang="en-US" sz="2000">
                <a:latin typeface="Times New Roman"/>
                <a:cs typeface="Times New Roman"/>
              </a:rPr>
              <a:t>and</a:t>
            </a:r>
            <a:r>
              <a:rPr lang="en-US" sz="2000" spc="-20">
                <a:latin typeface="Times New Roman"/>
                <a:cs typeface="Times New Roman"/>
              </a:rPr>
              <a:t> </a:t>
            </a:r>
            <a:r>
              <a:rPr lang="en-US" sz="2000">
                <a:latin typeface="Times New Roman"/>
                <a:cs typeface="Times New Roman"/>
              </a:rPr>
              <a:t>society</a:t>
            </a:r>
            <a:r>
              <a:rPr lang="en-US" sz="2000" spc="-30">
                <a:latin typeface="Times New Roman"/>
                <a:cs typeface="Times New Roman"/>
              </a:rPr>
              <a:t> </a:t>
            </a:r>
            <a:r>
              <a:rPr lang="en-US" sz="2000">
                <a:latin typeface="Times New Roman"/>
                <a:cs typeface="Times New Roman"/>
              </a:rPr>
              <a:t>at</a:t>
            </a:r>
            <a:r>
              <a:rPr lang="en-US" sz="2000" spc="-15">
                <a:latin typeface="Times New Roman"/>
                <a:cs typeface="Times New Roman"/>
              </a:rPr>
              <a:t> </a:t>
            </a:r>
            <a:r>
              <a:rPr lang="en-US" sz="2000" spc="-10">
                <a:latin typeface="Times New Roman"/>
                <a:cs typeface="Times New Roman"/>
              </a:rPr>
              <a:t>large.</a:t>
            </a:r>
            <a:endParaRPr lang="en-US" sz="2000">
              <a:latin typeface="Times New Roman"/>
              <a:cs typeface="Times New Roman"/>
            </a:endParaRPr>
          </a:p>
          <a:p>
            <a:pPr marL="12700" marR="1141730" algn="just">
              <a:buAutoNum type="arabicPeriod" startAt="2"/>
              <a:tabLst>
                <a:tab pos="240665" algn="l"/>
              </a:tabLst>
            </a:pPr>
            <a:r>
              <a:rPr lang="en-US" sz="2000">
                <a:latin typeface="Times New Roman"/>
                <a:cs typeface="Times New Roman"/>
              </a:rPr>
              <a:t>The</a:t>
            </a:r>
            <a:r>
              <a:rPr lang="en-US" sz="2000" spc="-35">
                <a:latin typeface="Times New Roman"/>
                <a:cs typeface="Times New Roman"/>
              </a:rPr>
              <a:t> </a:t>
            </a:r>
            <a:r>
              <a:rPr lang="en-US" sz="2000">
                <a:latin typeface="Times New Roman"/>
                <a:cs typeface="Times New Roman"/>
              </a:rPr>
              <a:t>graduates</a:t>
            </a:r>
            <a:r>
              <a:rPr lang="en-US" sz="2000" spc="-50">
                <a:latin typeface="Times New Roman"/>
                <a:cs typeface="Times New Roman"/>
              </a:rPr>
              <a:t> </a:t>
            </a:r>
            <a:r>
              <a:rPr lang="en-US" sz="2000">
                <a:latin typeface="Times New Roman"/>
                <a:cs typeface="Times New Roman"/>
              </a:rPr>
              <a:t>shall</a:t>
            </a:r>
            <a:r>
              <a:rPr lang="en-US" sz="2000" spc="-30">
                <a:latin typeface="Times New Roman"/>
                <a:cs typeface="Times New Roman"/>
              </a:rPr>
              <a:t> </a:t>
            </a:r>
            <a:r>
              <a:rPr lang="en-US" sz="2000">
                <a:latin typeface="Times New Roman"/>
                <a:cs typeface="Times New Roman"/>
              </a:rPr>
              <a:t>be</a:t>
            </a:r>
            <a:r>
              <a:rPr lang="en-US" sz="2000" spc="-35">
                <a:latin typeface="Times New Roman"/>
                <a:cs typeface="Times New Roman"/>
              </a:rPr>
              <a:t> </a:t>
            </a:r>
            <a:r>
              <a:rPr lang="en-US" sz="2000">
                <a:latin typeface="Times New Roman"/>
                <a:cs typeface="Times New Roman"/>
              </a:rPr>
              <a:t>able</a:t>
            </a:r>
            <a:r>
              <a:rPr lang="en-US" sz="2000" spc="-30">
                <a:latin typeface="Times New Roman"/>
                <a:cs typeface="Times New Roman"/>
              </a:rPr>
              <a:t> </a:t>
            </a:r>
            <a:r>
              <a:rPr lang="en-US" sz="2000">
                <a:latin typeface="Times New Roman"/>
                <a:cs typeface="Times New Roman"/>
              </a:rPr>
              <a:t>to</a:t>
            </a:r>
            <a:r>
              <a:rPr lang="en-US" sz="2000" spc="-35">
                <a:latin typeface="Times New Roman"/>
                <a:cs typeface="Times New Roman"/>
              </a:rPr>
              <a:t> </a:t>
            </a:r>
            <a:r>
              <a:rPr lang="en-US" sz="2000">
                <a:latin typeface="Times New Roman"/>
                <a:cs typeface="Times New Roman"/>
              </a:rPr>
              <a:t>establish</a:t>
            </a:r>
            <a:r>
              <a:rPr lang="en-US" sz="2000" spc="-45">
                <a:latin typeface="Times New Roman"/>
                <a:cs typeface="Times New Roman"/>
              </a:rPr>
              <a:t> </a:t>
            </a:r>
            <a:r>
              <a:rPr lang="en-US" sz="2000">
                <a:latin typeface="Times New Roman"/>
                <a:cs typeface="Times New Roman"/>
              </a:rPr>
              <a:t>themselves</a:t>
            </a:r>
            <a:r>
              <a:rPr lang="en-US" sz="2000" spc="-45">
                <a:latin typeface="Times New Roman"/>
                <a:cs typeface="Times New Roman"/>
              </a:rPr>
              <a:t> </a:t>
            </a:r>
            <a:r>
              <a:rPr lang="en-US" sz="2000">
                <a:latin typeface="Times New Roman"/>
                <a:cs typeface="Times New Roman"/>
              </a:rPr>
              <a:t>as</a:t>
            </a:r>
            <a:r>
              <a:rPr lang="en-US" sz="2000" spc="-40">
                <a:latin typeface="Times New Roman"/>
                <a:cs typeface="Times New Roman"/>
              </a:rPr>
              <a:t> </a:t>
            </a:r>
            <a:r>
              <a:rPr lang="en-US" sz="2000">
                <a:latin typeface="Times New Roman"/>
                <a:cs typeface="Times New Roman"/>
              </a:rPr>
              <a:t>practicing 	professionals</a:t>
            </a:r>
            <a:r>
              <a:rPr lang="en-US" sz="2000" spc="-10">
                <a:latin typeface="Times New Roman"/>
                <a:cs typeface="Times New Roman"/>
              </a:rPr>
              <a:t>, 	</a:t>
            </a:r>
            <a:r>
              <a:rPr lang="en-US" sz="2000">
                <a:latin typeface="Times New Roman"/>
                <a:cs typeface="Times New Roman"/>
              </a:rPr>
              <a:t>researchers</a:t>
            </a:r>
            <a:r>
              <a:rPr lang="en-US" sz="2000" spc="-95">
                <a:latin typeface="Times New Roman"/>
                <a:cs typeface="Times New Roman"/>
              </a:rPr>
              <a:t> </a:t>
            </a:r>
            <a:r>
              <a:rPr lang="en-US" sz="2000" spc="-25">
                <a:latin typeface="Times New Roman"/>
                <a:cs typeface="Times New Roman"/>
              </a:rPr>
              <a:t>or</a:t>
            </a:r>
            <a:r>
              <a:rPr lang="en-US" sz="2000">
                <a:latin typeface="Times New Roman"/>
                <a:cs typeface="Times New Roman"/>
              </a:rPr>
              <a:t> </a:t>
            </a:r>
            <a:r>
              <a:rPr lang="en-US" sz="2000" spc="-10">
                <a:latin typeface="Times New Roman"/>
                <a:cs typeface="Times New Roman"/>
              </a:rPr>
              <a:t>Entrepreneurs</a:t>
            </a:r>
            <a:r>
              <a:rPr lang="en-US" sz="2000" spc="-50">
                <a:latin typeface="Times New Roman"/>
                <a:cs typeface="Times New Roman"/>
              </a:rPr>
              <a:t> </a:t>
            </a:r>
            <a:r>
              <a:rPr lang="en-US" sz="2000">
                <a:latin typeface="Times New Roman"/>
                <a:cs typeface="Times New Roman"/>
              </a:rPr>
              <a:t>in</a:t>
            </a:r>
            <a:r>
              <a:rPr lang="en-US" sz="2000" spc="-20">
                <a:latin typeface="Times New Roman"/>
                <a:cs typeface="Times New Roman"/>
              </a:rPr>
              <a:t> </a:t>
            </a:r>
            <a:r>
              <a:rPr lang="en-US" sz="2000">
                <a:latin typeface="Times New Roman"/>
                <a:cs typeface="Times New Roman"/>
              </a:rPr>
              <a:t>computer</a:t>
            </a:r>
            <a:r>
              <a:rPr lang="en-US" sz="2000" spc="-15">
                <a:latin typeface="Times New Roman"/>
                <a:cs typeface="Times New Roman"/>
              </a:rPr>
              <a:t> </a:t>
            </a:r>
            <a:r>
              <a:rPr lang="en-US" sz="2000">
                <a:latin typeface="Times New Roman"/>
                <a:cs typeface="Times New Roman"/>
              </a:rPr>
              <a:t>science</a:t>
            </a:r>
            <a:r>
              <a:rPr lang="en-US" sz="2000" spc="-40">
                <a:latin typeface="Times New Roman"/>
                <a:cs typeface="Times New Roman"/>
              </a:rPr>
              <a:t> </a:t>
            </a:r>
            <a:r>
              <a:rPr lang="en-US" sz="2000">
                <a:latin typeface="Times New Roman"/>
                <a:cs typeface="Times New Roman"/>
              </a:rPr>
              <a:t>or</a:t>
            </a:r>
            <a:r>
              <a:rPr lang="en-US" sz="2000" spc="-20">
                <a:latin typeface="Times New Roman"/>
                <a:cs typeface="Times New Roman"/>
              </a:rPr>
              <a:t> </a:t>
            </a:r>
            <a:r>
              <a:rPr lang="en-US" sz="2000">
                <a:latin typeface="Times New Roman"/>
                <a:cs typeface="Times New Roman"/>
              </a:rPr>
              <a:t>allied</a:t>
            </a:r>
            <a:r>
              <a:rPr lang="en-US" sz="2000" spc="-40">
                <a:latin typeface="Times New Roman"/>
                <a:cs typeface="Times New Roman"/>
              </a:rPr>
              <a:t> 	</a:t>
            </a:r>
            <a:r>
              <a:rPr lang="en-US" sz="2000">
                <a:latin typeface="Times New Roman"/>
                <a:cs typeface="Times New Roman"/>
              </a:rPr>
              <a:t>areas</a:t>
            </a:r>
            <a:r>
              <a:rPr lang="en-US" sz="2000" spc="-35">
                <a:latin typeface="Times New Roman"/>
                <a:cs typeface="Times New Roman"/>
              </a:rPr>
              <a:t> </a:t>
            </a:r>
            <a:r>
              <a:rPr lang="en-US" sz="2000">
                <a:latin typeface="Times New Roman"/>
                <a:cs typeface="Times New Roman"/>
              </a:rPr>
              <a:t>and</a:t>
            </a:r>
            <a:r>
              <a:rPr lang="en-US" sz="2000" spc="-20">
                <a:latin typeface="Times New Roman"/>
                <a:cs typeface="Times New Roman"/>
              </a:rPr>
              <a:t> </a:t>
            </a:r>
            <a:r>
              <a:rPr lang="en-US" sz="2000">
                <a:latin typeface="Times New Roman"/>
                <a:cs typeface="Times New Roman"/>
              </a:rPr>
              <a:t>shall</a:t>
            </a:r>
            <a:r>
              <a:rPr lang="en-US" sz="2000" spc="-20">
                <a:latin typeface="Times New Roman"/>
                <a:cs typeface="Times New Roman"/>
              </a:rPr>
              <a:t> </a:t>
            </a:r>
            <a:r>
              <a:rPr lang="en-US" sz="2000">
                <a:latin typeface="Times New Roman"/>
                <a:cs typeface="Times New Roman"/>
              </a:rPr>
              <a:t>also</a:t>
            </a:r>
            <a:r>
              <a:rPr lang="en-US" sz="2000" spc="-40">
                <a:latin typeface="Times New Roman"/>
                <a:cs typeface="Times New Roman"/>
              </a:rPr>
              <a:t> </a:t>
            </a:r>
            <a:r>
              <a:rPr lang="en-US" sz="2000">
                <a:latin typeface="Times New Roman"/>
                <a:cs typeface="Times New Roman"/>
              </a:rPr>
              <a:t>be</a:t>
            </a:r>
            <a:r>
              <a:rPr lang="en-US" sz="2000" spc="-20">
                <a:latin typeface="Times New Roman"/>
                <a:cs typeface="Times New Roman"/>
              </a:rPr>
              <a:t> 	</a:t>
            </a:r>
            <a:r>
              <a:rPr lang="en-US" sz="2000">
                <a:latin typeface="Times New Roman"/>
                <a:cs typeface="Times New Roman"/>
              </a:rPr>
              <a:t>able</a:t>
            </a:r>
            <a:r>
              <a:rPr lang="en-US" sz="2000" spc="-20">
                <a:latin typeface="Times New Roman"/>
                <a:cs typeface="Times New Roman"/>
              </a:rPr>
              <a:t> </a:t>
            </a:r>
            <a:r>
              <a:rPr lang="en-US" sz="2000">
                <a:latin typeface="Times New Roman"/>
                <a:cs typeface="Times New Roman"/>
              </a:rPr>
              <a:t>to</a:t>
            </a:r>
            <a:r>
              <a:rPr lang="en-US" sz="2000" spc="-25">
                <a:latin typeface="Times New Roman"/>
                <a:cs typeface="Times New Roman"/>
              </a:rPr>
              <a:t> </a:t>
            </a:r>
            <a:r>
              <a:rPr lang="en-US" sz="2000">
                <a:latin typeface="Times New Roman"/>
                <a:cs typeface="Times New Roman"/>
              </a:rPr>
              <a:t>pursue</a:t>
            </a:r>
            <a:r>
              <a:rPr lang="en-US" sz="2000" spc="-20">
                <a:latin typeface="Times New Roman"/>
                <a:cs typeface="Times New Roman"/>
              </a:rPr>
              <a:t> </a:t>
            </a:r>
            <a:r>
              <a:rPr lang="en-US" sz="2000" spc="-10">
                <a:latin typeface="Times New Roman"/>
                <a:cs typeface="Times New Roman"/>
              </a:rPr>
              <a:t>higher </a:t>
            </a:r>
            <a:r>
              <a:rPr lang="en-US" sz="2000">
                <a:latin typeface="Times New Roman"/>
                <a:cs typeface="Times New Roman"/>
              </a:rPr>
              <a:t>education</a:t>
            </a:r>
            <a:r>
              <a:rPr lang="en-US" sz="2000" spc="-25">
                <a:latin typeface="Times New Roman"/>
                <a:cs typeface="Times New Roman"/>
              </a:rPr>
              <a:t> </a:t>
            </a:r>
            <a:r>
              <a:rPr lang="en-US" sz="2000">
                <a:latin typeface="Times New Roman"/>
                <a:cs typeface="Times New Roman"/>
              </a:rPr>
              <a:t>in reputed</a:t>
            </a:r>
            <a:r>
              <a:rPr lang="en-US" sz="2000" spc="5">
                <a:latin typeface="Times New Roman"/>
                <a:cs typeface="Times New Roman"/>
              </a:rPr>
              <a:t> 	</a:t>
            </a:r>
            <a:r>
              <a:rPr lang="en-US" sz="2000" spc="-10">
                <a:latin typeface="Times New Roman"/>
                <a:cs typeface="Times New Roman"/>
              </a:rPr>
              <a:t>institutes</a:t>
            </a:r>
          </a:p>
          <a:p>
            <a:pPr marL="12700" marR="1141730" algn="just">
              <a:buAutoNum type="arabicPeriod" startAt="2"/>
              <a:tabLst>
                <a:tab pos="240665" algn="l"/>
              </a:tabLst>
            </a:pPr>
            <a:r>
              <a:rPr lang="en-US" sz="2000">
                <a:latin typeface="Times New Roman"/>
                <a:cs typeface="Times New Roman"/>
              </a:rPr>
              <a:t>The</a:t>
            </a:r>
            <a:r>
              <a:rPr lang="en-US" sz="2000" spc="-35">
                <a:latin typeface="Times New Roman"/>
                <a:cs typeface="Times New Roman"/>
              </a:rPr>
              <a:t> </a:t>
            </a:r>
            <a:r>
              <a:rPr lang="en-US" sz="2000">
                <a:latin typeface="Times New Roman"/>
                <a:cs typeface="Times New Roman"/>
              </a:rPr>
              <a:t>graduates</a:t>
            </a:r>
            <a:r>
              <a:rPr lang="en-US" sz="2000" spc="-55">
                <a:latin typeface="Times New Roman"/>
                <a:cs typeface="Times New Roman"/>
              </a:rPr>
              <a:t> </a:t>
            </a:r>
            <a:r>
              <a:rPr lang="en-US" sz="2000">
                <a:latin typeface="Times New Roman"/>
                <a:cs typeface="Times New Roman"/>
              </a:rPr>
              <a:t>shall</a:t>
            </a:r>
            <a:r>
              <a:rPr lang="en-US" sz="2000" spc="-35">
                <a:latin typeface="Times New Roman"/>
                <a:cs typeface="Times New Roman"/>
              </a:rPr>
              <a:t> </a:t>
            </a:r>
            <a:r>
              <a:rPr lang="en-US" sz="2000">
                <a:latin typeface="Times New Roman"/>
                <a:cs typeface="Times New Roman"/>
              </a:rPr>
              <a:t>be</a:t>
            </a:r>
            <a:r>
              <a:rPr lang="en-US" sz="2000" spc="-35">
                <a:latin typeface="Times New Roman"/>
                <a:cs typeface="Times New Roman"/>
              </a:rPr>
              <a:t> </a:t>
            </a:r>
            <a:r>
              <a:rPr lang="en-US" sz="2000">
                <a:latin typeface="Times New Roman"/>
                <a:cs typeface="Times New Roman"/>
              </a:rPr>
              <a:t>able</a:t>
            </a:r>
            <a:r>
              <a:rPr lang="en-US" sz="2000" spc="-35">
                <a:latin typeface="Times New Roman"/>
                <a:cs typeface="Times New Roman"/>
              </a:rPr>
              <a:t> </a:t>
            </a:r>
            <a:r>
              <a:rPr lang="en-US" sz="2000">
                <a:latin typeface="Times New Roman"/>
                <a:cs typeface="Times New Roman"/>
              </a:rPr>
              <a:t>to</a:t>
            </a:r>
            <a:r>
              <a:rPr lang="en-US" sz="2000" spc="-35">
                <a:latin typeface="Times New Roman"/>
                <a:cs typeface="Times New Roman"/>
              </a:rPr>
              <a:t> </a:t>
            </a:r>
            <a:r>
              <a:rPr lang="en-US" sz="2000">
                <a:latin typeface="Times New Roman"/>
                <a:cs typeface="Times New Roman"/>
              </a:rPr>
              <a:t>communicate</a:t>
            </a:r>
            <a:r>
              <a:rPr lang="en-US" sz="2000" spc="-35">
                <a:latin typeface="Times New Roman"/>
                <a:cs typeface="Times New Roman"/>
              </a:rPr>
              <a:t> </a:t>
            </a:r>
            <a:r>
              <a:rPr lang="en-US" sz="2000">
                <a:latin typeface="Times New Roman"/>
                <a:cs typeface="Times New Roman"/>
              </a:rPr>
              <a:t>effectively</a:t>
            </a:r>
            <a:r>
              <a:rPr lang="en-US" sz="2000" spc="-60">
                <a:latin typeface="Times New Roman"/>
                <a:cs typeface="Times New Roman"/>
              </a:rPr>
              <a:t> </a:t>
            </a:r>
            <a:r>
              <a:rPr lang="en-US" sz="2000">
                <a:latin typeface="Times New Roman"/>
                <a:cs typeface="Times New Roman"/>
              </a:rPr>
              <a:t>and</a:t>
            </a:r>
            <a:r>
              <a:rPr lang="en-US" sz="2000" spc="-35">
                <a:latin typeface="Times New Roman"/>
                <a:cs typeface="Times New Roman"/>
              </a:rPr>
              <a:t> </a:t>
            </a:r>
            <a:r>
              <a:rPr lang="en-US" sz="2000">
                <a:latin typeface="Times New Roman"/>
                <a:cs typeface="Times New Roman"/>
              </a:rPr>
              <a:t>work</a:t>
            </a:r>
            <a:r>
              <a:rPr lang="en-US" sz="2000" spc="-35">
                <a:latin typeface="Times New Roman"/>
                <a:cs typeface="Times New Roman"/>
              </a:rPr>
              <a:t> </a:t>
            </a:r>
            <a:r>
              <a:rPr lang="en-US" sz="2000">
                <a:latin typeface="Times New Roman"/>
                <a:cs typeface="Times New Roman"/>
              </a:rPr>
              <a:t>in</a:t>
            </a:r>
            <a:r>
              <a:rPr lang="en-US" sz="2000" spc="-45">
                <a:latin typeface="Times New Roman"/>
                <a:cs typeface="Times New Roman"/>
              </a:rPr>
              <a:t> 	</a:t>
            </a:r>
            <a:r>
              <a:rPr lang="en-US" sz="2000" spc="-10">
                <a:latin typeface="Times New Roman"/>
                <a:cs typeface="Times New Roman"/>
              </a:rPr>
              <a:t>multidisciplinary teams </a:t>
            </a:r>
            <a:r>
              <a:rPr lang="en-US" sz="2000">
                <a:latin typeface="Times New Roman"/>
                <a:cs typeface="Times New Roman"/>
              </a:rPr>
              <a:t>with</a:t>
            </a:r>
            <a:r>
              <a:rPr lang="en-US" sz="2000" spc="-30">
                <a:latin typeface="Times New Roman"/>
                <a:cs typeface="Times New Roman"/>
              </a:rPr>
              <a:t> </a:t>
            </a:r>
            <a:r>
              <a:rPr lang="en-US" sz="2000">
                <a:latin typeface="Times New Roman"/>
                <a:cs typeface="Times New Roman"/>
              </a:rPr>
              <a:t>team</a:t>
            </a:r>
            <a:r>
              <a:rPr lang="en-US" sz="2000" spc="-35">
                <a:latin typeface="Times New Roman"/>
                <a:cs typeface="Times New Roman"/>
              </a:rPr>
              <a:t> </a:t>
            </a:r>
            <a:r>
              <a:rPr lang="en-US" sz="2000">
                <a:latin typeface="Times New Roman"/>
                <a:cs typeface="Times New Roman"/>
              </a:rPr>
              <a:t>spirit</a:t>
            </a:r>
            <a:r>
              <a:rPr lang="en-US" sz="2000" spc="-25">
                <a:latin typeface="Times New Roman"/>
                <a:cs typeface="Times New Roman"/>
              </a:rPr>
              <a:t> </a:t>
            </a:r>
            <a:r>
              <a:rPr lang="en-US" sz="2000">
                <a:latin typeface="Times New Roman"/>
                <a:cs typeface="Times New Roman"/>
              </a:rPr>
              <a:t>demonstrating</a:t>
            </a:r>
            <a:r>
              <a:rPr lang="en-US" sz="2000" spc="-40">
                <a:latin typeface="Times New Roman"/>
                <a:cs typeface="Times New Roman"/>
              </a:rPr>
              <a:t> </a:t>
            </a:r>
            <a:r>
              <a:rPr lang="en-US" sz="2000">
                <a:latin typeface="Times New Roman"/>
                <a:cs typeface="Times New Roman"/>
              </a:rPr>
              <a:t>value</a:t>
            </a:r>
            <a:r>
              <a:rPr lang="en-US" sz="2000" spc="-25">
                <a:latin typeface="Times New Roman"/>
                <a:cs typeface="Times New Roman"/>
              </a:rPr>
              <a:t> </a:t>
            </a:r>
            <a:r>
              <a:rPr lang="en-US" sz="2000">
                <a:latin typeface="Times New Roman"/>
                <a:cs typeface="Times New Roman"/>
              </a:rPr>
              <a:t>driven</a:t>
            </a:r>
            <a:r>
              <a:rPr lang="en-US" sz="2000" spc="-45">
                <a:latin typeface="Times New Roman"/>
                <a:cs typeface="Times New Roman"/>
              </a:rPr>
              <a:t> </a:t>
            </a:r>
            <a:r>
              <a:rPr lang="en-US" sz="2000">
                <a:latin typeface="Times New Roman"/>
                <a:cs typeface="Times New Roman"/>
              </a:rPr>
              <a:t>and</a:t>
            </a:r>
            <a:r>
              <a:rPr lang="en-US" sz="2000" spc="-20">
                <a:latin typeface="Times New Roman"/>
                <a:cs typeface="Times New Roman"/>
              </a:rPr>
              <a:t> 	</a:t>
            </a:r>
            <a:r>
              <a:rPr lang="en-US" sz="2000">
                <a:latin typeface="Times New Roman"/>
                <a:cs typeface="Times New Roman"/>
              </a:rPr>
              <a:t>ethical</a:t>
            </a:r>
            <a:r>
              <a:rPr lang="en-US" sz="2000" spc="-50">
                <a:latin typeface="Times New Roman"/>
                <a:cs typeface="Times New Roman"/>
              </a:rPr>
              <a:t> </a:t>
            </a:r>
            <a:r>
              <a:rPr lang="en-US" sz="2000" spc="-10">
                <a:latin typeface="Times New Roman"/>
                <a:cs typeface="Times New Roman"/>
              </a:rPr>
              <a:t>leadership.</a:t>
            </a:r>
            <a:endParaRPr lang="en-US" sz="2000">
              <a:latin typeface="Times New Roman"/>
              <a:cs typeface="Times New Roman"/>
            </a:endParaRPr>
          </a:p>
          <a:p>
            <a:pPr marR="5080" algn="just">
              <a:lnSpc>
                <a:spcPct val="100000"/>
              </a:lnSpc>
              <a:spcBef>
                <a:spcPts val="219"/>
              </a:spcBef>
            </a:pPr>
            <a:endParaRPr lang="en-US" sz="2000">
              <a:latin typeface="Arial MT"/>
              <a:cs typeface="Arial MT"/>
            </a:endParaRPr>
          </a:p>
        </p:txBody>
      </p:sp>
    </p:spTree>
    <p:extLst>
      <p:ext uri="{BB962C8B-B14F-4D97-AF65-F5344CB8AC3E}">
        <p14:creationId xmlns:p14="http://schemas.microsoft.com/office/powerpoint/2010/main" val="1069492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6">
            <a:extLst>
              <a:ext uri="{FF2B5EF4-FFF2-40B4-BE49-F238E27FC236}">
                <a16:creationId xmlns:a16="http://schemas.microsoft.com/office/drawing/2014/main" id="{3B1CB210-8B1B-B1CF-65EE-DE4ED1ABC02D}"/>
              </a:ext>
            </a:extLst>
          </p:cNvPr>
          <p:cNvPicPr/>
          <p:nvPr/>
        </p:nvPicPr>
        <p:blipFill>
          <a:blip r:embed="rId2" cstate="print"/>
          <a:stretch>
            <a:fillRect/>
          </a:stretch>
        </p:blipFill>
        <p:spPr>
          <a:xfrm>
            <a:off x="154360" y="11112"/>
            <a:ext cx="8904077" cy="1581764"/>
          </a:xfrm>
          <a:prstGeom prst="rect">
            <a:avLst/>
          </a:prstGeom>
        </p:spPr>
      </p:pic>
      <p:sp>
        <p:nvSpPr>
          <p:cNvPr id="4" name="TextBox 3">
            <a:extLst>
              <a:ext uri="{FF2B5EF4-FFF2-40B4-BE49-F238E27FC236}">
                <a16:creationId xmlns:a16="http://schemas.microsoft.com/office/drawing/2014/main" id="{BAEAEF29-BA29-54C8-2429-ADC0CADA174F}"/>
              </a:ext>
            </a:extLst>
          </p:cNvPr>
          <p:cNvSpPr txBox="1"/>
          <p:nvPr/>
        </p:nvSpPr>
        <p:spPr>
          <a:xfrm>
            <a:off x="154360" y="1592876"/>
            <a:ext cx="4572000" cy="400110"/>
          </a:xfrm>
          <a:prstGeom prst="rect">
            <a:avLst/>
          </a:prstGeom>
          <a:noFill/>
        </p:spPr>
        <p:txBody>
          <a:bodyPr wrap="square">
            <a:spAutoFit/>
          </a:bodyPr>
          <a:lstStyle/>
          <a:p>
            <a:r>
              <a:rPr lang="en-US" sz="2000" b="1" u="sng">
                <a:uFill>
                  <a:solidFill>
                    <a:srgbClr val="000000"/>
                  </a:solidFill>
                </a:uFill>
                <a:latin typeface="Times New Roman"/>
                <a:cs typeface="Times New Roman"/>
              </a:rPr>
              <a:t>Programme</a:t>
            </a:r>
            <a:r>
              <a:rPr lang="en-US" sz="2000" b="1" u="sng" spc="-120">
                <a:uFill>
                  <a:solidFill>
                    <a:srgbClr val="000000"/>
                  </a:solidFill>
                </a:uFill>
                <a:latin typeface="Times New Roman"/>
                <a:cs typeface="Times New Roman"/>
              </a:rPr>
              <a:t> </a:t>
            </a:r>
            <a:r>
              <a:rPr lang="en-US" sz="2000" b="1" u="sng" spc="-10">
                <a:uFill>
                  <a:solidFill>
                    <a:srgbClr val="000000"/>
                  </a:solidFill>
                </a:uFill>
                <a:latin typeface="Times New Roman"/>
                <a:cs typeface="Times New Roman"/>
              </a:rPr>
              <a:t>Outcomes</a:t>
            </a:r>
            <a:endParaRPr lang="en-US" sz="2000"/>
          </a:p>
        </p:txBody>
      </p:sp>
      <p:sp>
        <p:nvSpPr>
          <p:cNvPr id="6" name="TextBox 5">
            <a:extLst>
              <a:ext uri="{FF2B5EF4-FFF2-40B4-BE49-F238E27FC236}">
                <a16:creationId xmlns:a16="http://schemas.microsoft.com/office/drawing/2014/main" id="{7F6FA31B-9EAE-CEE3-1CBA-A822FE461591}"/>
              </a:ext>
            </a:extLst>
          </p:cNvPr>
          <p:cNvSpPr txBox="1"/>
          <p:nvPr/>
        </p:nvSpPr>
        <p:spPr>
          <a:xfrm>
            <a:off x="154360" y="1992986"/>
            <a:ext cx="8835280" cy="3798476"/>
          </a:xfrm>
          <a:prstGeom prst="rect">
            <a:avLst/>
          </a:prstGeom>
          <a:noFill/>
        </p:spPr>
        <p:txBody>
          <a:bodyPr wrap="square">
            <a:spAutoFit/>
          </a:bodyPr>
          <a:lstStyle/>
          <a:p>
            <a:pPr marL="12700">
              <a:spcBef>
                <a:spcPts val="335"/>
              </a:spcBef>
            </a:pPr>
            <a:r>
              <a:rPr lang="en-US" sz="2000">
                <a:latin typeface="Times New Roman"/>
                <a:cs typeface="Times New Roman"/>
              </a:rPr>
              <a:t>Engineering</a:t>
            </a:r>
            <a:r>
              <a:rPr lang="en-US" sz="2000" spc="-25">
                <a:latin typeface="Times New Roman"/>
                <a:cs typeface="Times New Roman"/>
              </a:rPr>
              <a:t> </a:t>
            </a:r>
            <a:r>
              <a:rPr lang="en-US" sz="2000">
                <a:latin typeface="Times New Roman"/>
                <a:cs typeface="Times New Roman"/>
              </a:rPr>
              <a:t>Graduates</a:t>
            </a:r>
            <a:r>
              <a:rPr lang="en-US" sz="2000" spc="-50">
                <a:latin typeface="Times New Roman"/>
                <a:cs typeface="Times New Roman"/>
              </a:rPr>
              <a:t> </a:t>
            </a:r>
            <a:r>
              <a:rPr lang="en-US" sz="2000">
                <a:latin typeface="Times New Roman"/>
                <a:cs typeface="Times New Roman"/>
              </a:rPr>
              <a:t>will</a:t>
            </a:r>
            <a:r>
              <a:rPr lang="en-US" sz="2000" spc="-40">
                <a:latin typeface="Times New Roman"/>
                <a:cs typeface="Times New Roman"/>
              </a:rPr>
              <a:t> </a:t>
            </a:r>
            <a:r>
              <a:rPr lang="en-US" sz="2000">
                <a:latin typeface="Times New Roman"/>
                <a:cs typeface="Times New Roman"/>
              </a:rPr>
              <a:t>be</a:t>
            </a:r>
            <a:r>
              <a:rPr lang="en-US" sz="2000" spc="-20">
                <a:latin typeface="Times New Roman"/>
                <a:cs typeface="Times New Roman"/>
              </a:rPr>
              <a:t> </a:t>
            </a:r>
            <a:r>
              <a:rPr lang="en-US" sz="2000">
                <a:latin typeface="Times New Roman"/>
                <a:cs typeface="Times New Roman"/>
              </a:rPr>
              <a:t>able</a:t>
            </a:r>
            <a:r>
              <a:rPr lang="en-US" sz="2000" spc="-30">
                <a:latin typeface="Times New Roman"/>
                <a:cs typeface="Times New Roman"/>
              </a:rPr>
              <a:t> </a:t>
            </a:r>
            <a:r>
              <a:rPr lang="en-US" sz="2000" spc="-25">
                <a:latin typeface="Times New Roman"/>
                <a:cs typeface="Times New Roman"/>
              </a:rPr>
              <a:t>to:</a:t>
            </a:r>
            <a:endParaRPr lang="en-US" sz="2000">
              <a:latin typeface="Times New Roman"/>
              <a:cs typeface="Times New Roman"/>
            </a:endParaRPr>
          </a:p>
          <a:p>
            <a:pPr marL="291465" marR="8255" indent="193040" algn="just">
              <a:spcBef>
                <a:spcPts val="85"/>
              </a:spcBef>
              <a:buFont typeface="Times New Roman"/>
              <a:buAutoNum type="arabicPeriod"/>
              <a:tabLst>
                <a:tab pos="484505" algn="l"/>
              </a:tabLst>
            </a:pPr>
            <a:r>
              <a:rPr lang="en-US" sz="2000" b="1">
                <a:latin typeface="Times New Roman"/>
                <a:cs typeface="Times New Roman"/>
              </a:rPr>
              <a:t>Engineering</a:t>
            </a:r>
            <a:r>
              <a:rPr lang="en-US" sz="2000" b="1" spc="-5">
                <a:latin typeface="Times New Roman"/>
                <a:cs typeface="Times New Roman"/>
              </a:rPr>
              <a:t> </a:t>
            </a:r>
            <a:r>
              <a:rPr lang="en-US" sz="2000" b="1">
                <a:latin typeface="Times New Roman"/>
                <a:cs typeface="Times New Roman"/>
              </a:rPr>
              <a:t>knowledge:</a:t>
            </a:r>
            <a:r>
              <a:rPr lang="en-US" sz="2000" b="1" spc="-15">
                <a:latin typeface="Times New Roman"/>
                <a:cs typeface="Times New Roman"/>
              </a:rPr>
              <a:t> </a:t>
            </a:r>
            <a:r>
              <a:rPr lang="en-US" sz="2000">
                <a:latin typeface="Times New Roman"/>
                <a:cs typeface="Times New Roman"/>
              </a:rPr>
              <a:t>Apply</a:t>
            </a:r>
            <a:r>
              <a:rPr lang="en-US" sz="2000" spc="-15">
                <a:latin typeface="Times New Roman"/>
                <a:cs typeface="Times New Roman"/>
              </a:rPr>
              <a:t> </a:t>
            </a:r>
            <a:r>
              <a:rPr lang="en-US" sz="2000">
                <a:latin typeface="Times New Roman"/>
                <a:cs typeface="Times New Roman"/>
              </a:rPr>
              <a:t>the</a:t>
            </a:r>
            <a:r>
              <a:rPr lang="en-US" sz="2000" spc="-35">
                <a:latin typeface="Times New Roman"/>
                <a:cs typeface="Times New Roman"/>
              </a:rPr>
              <a:t> </a:t>
            </a:r>
            <a:r>
              <a:rPr lang="en-US" sz="2000">
                <a:latin typeface="Times New Roman"/>
                <a:cs typeface="Times New Roman"/>
              </a:rPr>
              <a:t>knowledge</a:t>
            </a:r>
            <a:r>
              <a:rPr lang="en-US" sz="2000" spc="-15">
                <a:latin typeface="Times New Roman"/>
                <a:cs typeface="Times New Roman"/>
              </a:rPr>
              <a:t> </a:t>
            </a:r>
            <a:r>
              <a:rPr lang="en-US" sz="2000">
                <a:latin typeface="Times New Roman"/>
                <a:cs typeface="Times New Roman"/>
              </a:rPr>
              <a:t>of</a:t>
            </a:r>
            <a:r>
              <a:rPr lang="en-US" sz="2000" spc="-15">
                <a:latin typeface="Times New Roman"/>
                <a:cs typeface="Times New Roman"/>
              </a:rPr>
              <a:t> </a:t>
            </a:r>
            <a:r>
              <a:rPr lang="en-US" sz="2000">
                <a:latin typeface="Times New Roman"/>
                <a:cs typeface="Times New Roman"/>
              </a:rPr>
              <a:t>mathematics,</a:t>
            </a:r>
            <a:r>
              <a:rPr lang="en-US" sz="2000" spc="-10">
                <a:latin typeface="Times New Roman"/>
                <a:cs typeface="Times New Roman"/>
              </a:rPr>
              <a:t> </a:t>
            </a:r>
            <a:r>
              <a:rPr lang="en-US" sz="2000">
                <a:latin typeface="Times New Roman"/>
                <a:cs typeface="Times New Roman"/>
              </a:rPr>
              <a:t>science,</a:t>
            </a:r>
            <a:r>
              <a:rPr lang="en-US" sz="2000" spc="-20">
                <a:latin typeface="Times New Roman"/>
                <a:cs typeface="Times New Roman"/>
              </a:rPr>
              <a:t> </a:t>
            </a:r>
            <a:r>
              <a:rPr lang="en-US" sz="2000">
                <a:latin typeface="Times New Roman"/>
                <a:cs typeface="Times New Roman"/>
              </a:rPr>
              <a:t>engineering</a:t>
            </a:r>
            <a:r>
              <a:rPr lang="en-US" sz="2000" spc="-10">
                <a:latin typeface="Times New Roman"/>
                <a:cs typeface="Times New Roman"/>
              </a:rPr>
              <a:t> </a:t>
            </a:r>
            <a:r>
              <a:rPr lang="en-US" sz="2000">
                <a:latin typeface="Times New Roman"/>
                <a:cs typeface="Times New Roman"/>
              </a:rPr>
              <a:t>fundamentals,</a:t>
            </a:r>
            <a:r>
              <a:rPr lang="en-US" sz="2000" spc="-15">
                <a:latin typeface="Times New Roman"/>
                <a:cs typeface="Times New Roman"/>
              </a:rPr>
              <a:t> </a:t>
            </a:r>
            <a:r>
              <a:rPr lang="en-US" sz="2000">
                <a:latin typeface="Times New Roman"/>
                <a:cs typeface="Times New Roman"/>
              </a:rPr>
              <a:t>and</a:t>
            </a:r>
            <a:r>
              <a:rPr lang="en-US" sz="2000" spc="-15">
                <a:latin typeface="Times New Roman"/>
                <a:cs typeface="Times New Roman"/>
              </a:rPr>
              <a:t> </a:t>
            </a:r>
            <a:r>
              <a:rPr lang="en-US" sz="2000" spc="-25">
                <a:latin typeface="Times New Roman"/>
                <a:cs typeface="Times New Roman"/>
              </a:rPr>
              <a:t>an </a:t>
            </a:r>
            <a:r>
              <a:rPr lang="en-US" sz="2000">
                <a:latin typeface="Times New Roman"/>
                <a:cs typeface="Times New Roman"/>
              </a:rPr>
              <a:t>engineering</a:t>
            </a:r>
            <a:r>
              <a:rPr lang="en-US" sz="2000" spc="-35">
                <a:latin typeface="Times New Roman"/>
                <a:cs typeface="Times New Roman"/>
              </a:rPr>
              <a:t> </a:t>
            </a:r>
            <a:r>
              <a:rPr lang="en-US" sz="2000">
                <a:latin typeface="Times New Roman"/>
                <a:cs typeface="Times New Roman"/>
              </a:rPr>
              <a:t>specialization</a:t>
            </a:r>
            <a:r>
              <a:rPr lang="en-US" sz="2000" spc="-55">
                <a:latin typeface="Times New Roman"/>
                <a:cs typeface="Times New Roman"/>
              </a:rPr>
              <a:t> </a:t>
            </a:r>
            <a:r>
              <a:rPr lang="en-US" sz="2000">
                <a:latin typeface="Times New Roman"/>
                <a:cs typeface="Times New Roman"/>
              </a:rPr>
              <a:t>to</a:t>
            </a:r>
            <a:r>
              <a:rPr lang="en-US" sz="2000" spc="-10">
                <a:latin typeface="Times New Roman"/>
                <a:cs typeface="Times New Roman"/>
              </a:rPr>
              <a:t> </a:t>
            </a:r>
            <a:r>
              <a:rPr lang="en-US" sz="2000">
                <a:latin typeface="Times New Roman"/>
                <a:cs typeface="Times New Roman"/>
              </a:rPr>
              <a:t>the</a:t>
            </a:r>
            <a:r>
              <a:rPr lang="en-US" sz="2000" spc="-30">
                <a:latin typeface="Times New Roman"/>
                <a:cs typeface="Times New Roman"/>
              </a:rPr>
              <a:t> </a:t>
            </a:r>
            <a:r>
              <a:rPr lang="en-US" sz="2000">
                <a:latin typeface="Times New Roman"/>
                <a:cs typeface="Times New Roman"/>
              </a:rPr>
              <a:t>solution</a:t>
            </a:r>
            <a:r>
              <a:rPr lang="en-US" sz="2000" spc="-50">
                <a:latin typeface="Times New Roman"/>
                <a:cs typeface="Times New Roman"/>
              </a:rPr>
              <a:t> </a:t>
            </a:r>
            <a:r>
              <a:rPr lang="en-US" sz="2000">
                <a:latin typeface="Times New Roman"/>
                <a:cs typeface="Times New Roman"/>
              </a:rPr>
              <a:t>of</a:t>
            </a:r>
            <a:r>
              <a:rPr lang="en-US" sz="2000" spc="-10">
                <a:latin typeface="Times New Roman"/>
                <a:cs typeface="Times New Roman"/>
              </a:rPr>
              <a:t> </a:t>
            </a:r>
            <a:r>
              <a:rPr lang="en-US" sz="2000">
                <a:latin typeface="Times New Roman"/>
                <a:cs typeface="Times New Roman"/>
              </a:rPr>
              <a:t>complex</a:t>
            </a:r>
            <a:r>
              <a:rPr lang="en-US" sz="2000" spc="-20">
                <a:latin typeface="Times New Roman"/>
                <a:cs typeface="Times New Roman"/>
              </a:rPr>
              <a:t> </a:t>
            </a:r>
            <a:r>
              <a:rPr lang="en-US" sz="2000">
                <a:latin typeface="Times New Roman"/>
                <a:cs typeface="Times New Roman"/>
              </a:rPr>
              <a:t>engineering</a:t>
            </a:r>
            <a:r>
              <a:rPr lang="en-US" sz="2000" spc="-35">
                <a:latin typeface="Times New Roman"/>
                <a:cs typeface="Times New Roman"/>
              </a:rPr>
              <a:t> </a:t>
            </a:r>
            <a:r>
              <a:rPr lang="en-US" sz="2000" spc="-10">
                <a:latin typeface="Times New Roman"/>
                <a:cs typeface="Times New Roman"/>
              </a:rPr>
              <a:t>problems.</a:t>
            </a:r>
            <a:endParaRPr lang="en-US" sz="2000">
              <a:latin typeface="Times New Roman"/>
              <a:cs typeface="Times New Roman"/>
            </a:endParaRPr>
          </a:p>
          <a:p>
            <a:pPr marL="291465" marR="8255" indent="245745" algn="just">
              <a:buFont typeface="Times New Roman"/>
              <a:buAutoNum type="arabicPeriod"/>
              <a:tabLst>
                <a:tab pos="537210" algn="l"/>
              </a:tabLst>
            </a:pPr>
            <a:r>
              <a:rPr lang="en-US" sz="2000" b="1">
                <a:latin typeface="Times New Roman"/>
                <a:cs typeface="Times New Roman"/>
              </a:rPr>
              <a:t>Problem</a:t>
            </a:r>
            <a:r>
              <a:rPr lang="en-US" sz="2000" b="1" spc="385">
                <a:latin typeface="Times New Roman"/>
                <a:cs typeface="Times New Roman"/>
              </a:rPr>
              <a:t> </a:t>
            </a:r>
            <a:r>
              <a:rPr lang="en-US" sz="2000" b="1">
                <a:latin typeface="Times New Roman"/>
                <a:cs typeface="Times New Roman"/>
              </a:rPr>
              <a:t>analysis:</a:t>
            </a:r>
            <a:r>
              <a:rPr lang="en-US" sz="2000" b="1" spc="415">
                <a:latin typeface="Times New Roman"/>
                <a:cs typeface="Times New Roman"/>
              </a:rPr>
              <a:t> </a:t>
            </a:r>
            <a:r>
              <a:rPr lang="en-US" sz="2000">
                <a:latin typeface="Times New Roman"/>
                <a:cs typeface="Times New Roman"/>
              </a:rPr>
              <a:t>Identify,</a:t>
            </a:r>
            <a:r>
              <a:rPr lang="en-US" sz="2000" spc="409">
                <a:latin typeface="Times New Roman"/>
                <a:cs typeface="Times New Roman"/>
              </a:rPr>
              <a:t> </a:t>
            </a:r>
            <a:r>
              <a:rPr lang="en-US" sz="2000">
                <a:latin typeface="Times New Roman"/>
                <a:cs typeface="Times New Roman"/>
              </a:rPr>
              <a:t>formulate,</a:t>
            </a:r>
            <a:r>
              <a:rPr lang="en-US" sz="2000" spc="409">
                <a:latin typeface="Times New Roman"/>
                <a:cs typeface="Times New Roman"/>
              </a:rPr>
              <a:t> </a:t>
            </a:r>
            <a:r>
              <a:rPr lang="en-US" sz="2000">
                <a:latin typeface="Times New Roman"/>
                <a:cs typeface="Times New Roman"/>
              </a:rPr>
              <a:t>review</a:t>
            </a:r>
            <a:r>
              <a:rPr lang="en-US" sz="2000" spc="400">
                <a:latin typeface="Times New Roman"/>
                <a:cs typeface="Times New Roman"/>
              </a:rPr>
              <a:t> </a:t>
            </a:r>
            <a:r>
              <a:rPr lang="en-US" sz="2000">
                <a:latin typeface="Times New Roman"/>
                <a:cs typeface="Times New Roman"/>
              </a:rPr>
              <a:t>research</a:t>
            </a:r>
            <a:r>
              <a:rPr lang="en-US" sz="2000" spc="420">
                <a:latin typeface="Times New Roman"/>
                <a:cs typeface="Times New Roman"/>
              </a:rPr>
              <a:t> </a:t>
            </a:r>
            <a:r>
              <a:rPr lang="en-US" sz="2000">
                <a:latin typeface="Times New Roman"/>
                <a:cs typeface="Times New Roman"/>
              </a:rPr>
              <a:t>literature,</a:t>
            </a:r>
            <a:r>
              <a:rPr lang="en-US" sz="2000" spc="405">
                <a:latin typeface="Times New Roman"/>
                <a:cs typeface="Times New Roman"/>
              </a:rPr>
              <a:t> </a:t>
            </a:r>
            <a:r>
              <a:rPr lang="en-US" sz="2000">
                <a:latin typeface="Times New Roman"/>
                <a:cs typeface="Times New Roman"/>
              </a:rPr>
              <a:t>and</a:t>
            </a:r>
            <a:r>
              <a:rPr lang="en-US" sz="2000" spc="405">
                <a:latin typeface="Times New Roman"/>
                <a:cs typeface="Times New Roman"/>
              </a:rPr>
              <a:t> </a:t>
            </a:r>
            <a:r>
              <a:rPr lang="en-US" sz="2000">
                <a:latin typeface="Times New Roman"/>
                <a:cs typeface="Times New Roman"/>
              </a:rPr>
              <a:t>analyze</a:t>
            </a:r>
            <a:r>
              <a:rPr lang="en-US" sz="2000" spc="415">
                <a:latin typeface="Times New Roman"/>
                <a:cs typeface="Times New Roman"/>
              </a:rPr>
              <a:t> </a:t>
            </a:r>
            <a:r>
              <a:rPr lang="en-US" sz="2000">
                <a:latin typeface="Times New Roman"/>
                <a:cs typeface="Times New Roman"/>
              </a:rPr>
              <a:t>complex</a:t>
            </a:r>
            <a:r>
              <a:rPr lang="en-US" sz="2000" spc="405">
                <a:latin typeface="Times New Roman"/>
                <a:cs typeface="Times New Roman"/>
              </a:rPr>
              <a:t> </a:t>
            </a:r>
            <a:r>
              <a:rPr lang="en-US" sz="2000" spc="-10">
                <a:latin typeface="Times New Roman"/>
                <a:cs typeface="Times New Roman"/>
              </a:rPr>
              <a:t>engineering </a:t>
            </a:r>
            <a:r>
              <a:rPr lang="en-US" sz="2000">
                <a:latin typeface="Times New Roman"/>
                <a:cs typeface="Times New Roman"/>
              </a:rPr>
              <a:t>problems</a:t>
            </a:r>
            <a:r>
              <a:rPr lang="en-US" sz="2000" spc="340">
                <a:latin typeface="Times New Roman"/>
                <a:cs typeface="Times New Roman"/>
              </a:rPr>
              <a:t> </a:t>
            </a:r>
            <a:r>
              <a:rPr lang="en-US" sz="2000">
                <a:latin typeface="Times New Roman"/>
                <a:cs typeface="Times New Roman"/>
              </a:rPr>
              <a:t>reaching</a:t>
            </a:r>
            <a:r>
              <a:rPr lang="en-US" sz="2000" spc="330">
                <a:latin typeface="Times New Roman"/>
                <a:cs typeface="Times New Roman"/>
              </a:rPr>
              <a:t> </a:t>
            </a:r>
            <a:r>
              <a:rPr lang="en-US" sz="2000">
                <a:latin typeface="Times New Roman"/>
                <a:cs typeface="Times New Roman"/>
              </a:rPr>
              <a:t>substantiated</a:t>
            </a:r>
            <a:r>
              <a:rPr lang="en-US" sz="2000" spc="345">
                <a:latin typeface="Times New Roman"/>
                <a:cs typeface="Times New Roman"/>
              </a:rPr>
              <a:t> </a:t>
            </a:r>
            <a:r>
              <a:rPr lang="en-US" sz="2000">
                <a:latin typeface="Times New Roman"/>
                <a:cs typeface="Times New Roman"/>
              </a:rPr>
              <a:t>conclusions</a:t>
            </a:r>
            <a:r>
              <a:rPr lang="en-US" sz="2000" spc="330">
                <a:latin typeface="Times New Roman"/>
                <a:cs typeface="Times New Roman"/>
              </a:rPr>
              <a:t> </a:t>
            </a:r>
            <a:r>
              <a:rPr lang="en-US" sz="2000">
                <a:latin typeface="Times New Roman"/>
                <a:cs typeface="Times New Roman"/>
              </a:rPr>
              <a:t>using</a:t>
            </a:r>
            <a:r>
              <a:rPr lang="en-US" sz="2000" spc="340">
                <a:latin typeface="Times New Roman"/>
                <a:cs typeface="Times New Roman"/>
              </a:rPr>
              <a:t> </a:t>
            </a:r>
            <a:r>
              <a:rPr lang="en-US" sz="2000">
                <a:latin typeface="Times New Roman"/>
                <a:cs typeface="Times New Roman"/>
              </a:rPr>
              <a:t>first</a:t>
            </a:r>
            <a:r>
              <a:rPr lang="en-US" sz="2000" spc="330">
                <a:latin typeface="Times New Roman"/>
                <a:cs typeface="Times New Roman"/>
              </a:rPr>
              <a:t> </a:t>
            </a:r>
            <a:r>
              <a:rPr lang="en-US" sz="2000">
                <a:latin typeface="Times New Roman"/>
                <a:cs typeface="Times New Roman"/>
              </a:rPr>
              <a:t>principles</a:t>
            </a:r>
            <a:r>
              <a:rPr lang="en-US" sz="2000" spc="325">
                <a:latin typeface="Times New Roman"/>
                <a:cs typeface="Times New Roman"/>
              </a:rPr>
              <a:t> </a:t>
            </a:r>
            <a:r>
              <a:rPr lang="en-US" sz="2000">
                <a:latin typeface="Times New Roman"/>
                <a:cs typeface="Times New Roman"/>
              </a:rPr>
              <a:t>of</a:t>
            </a:r>
            <a:r>
              <a:rPr lang="en-US" sz="2000" spc="335">
                <a:latin typeface="Times New Roman"/>
                <a:cs typeface="Times New Roman"/>
              </a:rPr>
              <a:t> </a:t>
            </a:r>
            <a:r>
              <a:rPr lang="en-US" sz="2000">
                <a:latin typeface="Times New Roman"/>
                <a:cs typeface="Times New Roman"/>
              </a:rPr>
              <a:t>mathematics,</a:t>
            </a:r>
            <a:r>
              <a:rPr lang="en-US" sz="2000" spc="335">
                <a:latin typeface="Times New Roman"/>
                <a:cs typeface="Times New Roman"/>
              </a:rPr>
              <a:t> </a:t>
            </a:r>
            <a:r>
              <a:rPr lang="en-US" sz="2000">
                <a:latin typeface="Times New Roman"/>
                <a:cs typeface="Times New Roman"/>
              </a:rPr>
              <a:t>natural</a:t>
            </a:r>
            <a:r>
              <a:rPr lang="en-US" sz="2000" spc="340">
                <a:latin typeface="Times New Roman"/>
                <a:cs typeface="Times New Roman"/>
              </a:rPr>
              <a:t> </a:t>
            </a:r>
            <a:r>
              <a:rPr lang="en-US" sz="2000">
                <a:latin typeface="Times New Roman"/>
                <a:cs typeface="Times New Roman"/>
              </a:rPr>
              <a:t>sciences,</a:t>
            </a:r>
            <a:r>
              <a:rPr lang="en-US" sz="2000" spc="335">
                <a:latin typeface="Times New Roman"/>
                <a:cs typeface="Times New Roman"/>
              </a:rPr>
              <a:t> </a:t>
            </a:r>
            <a:r>
              <a:rPr lang="en-US" sz="2000" spc="-25">
                <a:latin typeface="Times New Roman"/>
                <a:cs typeface="Times New Roman"/>
              </a:rPr>
              <a:t>and </a:t>
            </a:r>
            <a:r>
              <a:rPr lang="en-US" sz="2000">
                <a:latin typeface="Times New Roman"/>
                <a:cs typeface="Times New Roman"/>
              </a:rPr>
              <a:t>engineering</a:t>
            </a:r>
            <a:r>
              <a:rPr lang="en-US" sz="2000" spc="-45">
                <a:latin typeface="Times New Roman"/>
                <a:cs typeface="Times New Roman"/>
              </a:rPr>
              <a:t> </a:t>
            </a:r>
            <a:r>
              <a:rPr lang="en-US" sz="2000" spc="-10">
                <a:latin typeface="Times New Roman"/>
                <a:cs typeface="Times New Roman"/>
              </a:rPr>
              <a:t>sciences.</a:t>
            </a:r>
            <a:endParaRPr lang="en-US" sz="2000">
              <a:latin typeface="Times New Roman"/>
              <a:cs typeface="Times New Roman"/>
            </a:endParaRPr>
          </a:p>
          <a:p>
            <a:pPr marL="291465" marR="5080" indent="199390" algn="just">
              <a:buFont typeface="Times New Roman"/>
              <a:buAutoNum type="arabicPeriod"/>
              <a:tabLst>
                <a:tab pos="490855" algn="l"/>
              </a:tabLst>
            </a:pPr>
            <a:r>
              <a:rPr lang="en-US" sz="2000" b="1">
                <a:latin typeface="Times New Roman"/>
                <a:cs typeface="Times New Roman"/>
              </a:rPr>
              <a:t>Design/development</a:t>
            </a:r>
            <a:r>
              <a:rPr lang="en-US" sz="2000" b="1" spc="45">
                <a:latin typeface="Times New Roman"/>
                <a:cs typeface="Times New Roman"/>
              </a:rPr>
              <a:t> </a:t>
            </a:r>
            <a:r>
              <a:rPr lang="en-US" sz="2000" b="1">
                <a:latin typeface="Times New Roman"/>
                <a:cs typeface="Times New Roman"/>
              </a:rPr>
              <a:t>of</a:t>
            </a:r>
            <a:r>
              <a:rPr lang="en-US" sz="2000" b="1" spc="35">
                <a:latin typeface="Times New Roman"/>
                <a:cs typeface="Times New Roman"/>
              </a:rPr>
              <a:t> </a:t>
            </a:r>
            <a:r>
              <a:rPr lang="en-US" sz="2000" b="1">
                <a:latin typeface="Times New Roman"/>
                <a:cs typeface="Times New Roman"/>
              </a:rPr>
              <a:t>solutions:</a:t>
            </a:r>
            <a:r>
              <a:rPr lang="en-US" sz="2000" b="1" spc="25">
                <a:latin typeface="Times New Roman"/>
                <a:cs typeface="Times New Roman"/>
              </a:rPr>
              <a:t> </a:t>
            </a:r>
            <a:r>
              <a:rPr lang="en-US" sz="2000">
                <a:latin typeface="Times New Roman"/>
                <a:cs typeface="Times New Roman"/>
              </a:rPr>
              <a:t>Design</a:t>
            </a:r>
            <a:r>
              <a:rPr lang="en-US" sz="2000" spc="40">
                <a:latin typeface="Times New Roman"/>
                <a:cs typeface="Times New Roman"/>
              </a:rPr>
              <a:t> </a:t>
            </a:r>
            <a:r>
              <a:rPr lang="en-US" sz="2000">
                <a:latin typeface="Times New Roman"/>
                <a:cs typeface="Times New Roman"/>
              </a:rPr>
              <a:t>solutions</a:t>
            </a:r>
            <a:r>
              <a:rPr lang="en-US" sz="2000" spc="40">
                <a:latin typeface="Times New Roman"/>
                <a:cs typeface="Times New Roman"/>
              </a:rPr>
              <a:t> </a:t>
            </a:r>
            <a:r>
              <a:rPr lang="en-US" sz="2000">
                <a:latin typeface="Times New Roman"/>
                <a:cs typeface="Times New Roman"/>
              </a:rPr>
              <a:t>for</a:t>
            </a:r>
            <a:r>
              <a:rPr lang="en-US" sz="2000" spc="35">
                <a:latin typeface="Times New Roman"/>
                <a:cs typeface="Times New Roman"/>
              </a:rPr>
              <a:t> </a:t>
            </a:r>
            <a:r>
              <a:rPr lang="en-US" sz="2000">
                <a:latin typeface="Times New Roman"/>
                <a:cs typeface="Times New Roman"/>
              </a:rPr>
              <a:t>complex</a:t>
            </a:r>
            <a:r>
              <a:rPr lang="en-US" sz="2000" spc="30">
                <a:latin typeface="Times New Roman"/>
                <a:cs typeface="Times New Roman"/>
              </a:rPr>
              <a:t> </a:t>
            </a:r>
            <a:r>
              <a:rPr lang="en-US" sz="2000">
                <a:latin typeface="Times New Roman"/>
                <a:cs typeface="Times New Roman"/>
              </a:rPr>
              <a:t>engineering</a:t>
            </a:r>
            <a:r>
              <a:rPr lang="en-US" sz="2000" spc="35">
                <a:latin typeface="Times New Roman"/>
                <a:cs typeface="Times New Roman"/>
              </a:rPr>
              <a:t> </a:t>
            </a:r>
            <a:r>
              <a:rPr lang="en-US" sz="2000">
                <a:latin typeface="Times New Roman"/>
                <a:cs typeface="Times New Roman"/>
              </a:rPr>
              <a:t>problems</a:t>
            </a:r>
            <a:r>
              <a:rPr lang="en-US" sz="2000" spc="40">
                <a:latin typeface="Times New Roman"/>
                <a:cs typeface="Times New Roman"/>
              </a:rPr>
              <a:t> </a:t>
            </a:r>
            <a:r>
              <a:rPr lang="en-US" sz="2000">
                <a:latin typeface="Times New Roman"/>
                <a:cs typeface="Times New Roman"/>
              </a:rPr>
              <a:t>and</a:t>
            </a:r>
            <a:r>
              <a:rPr lang="en-US" sz="2000" spc="40">
                <a:latin typeface="Times New Roman"/>
                <a:cs typeface="Times New Roman"/>
              </a:rPr>
              <a:t> </a:t>
            </a:r>
            <a:r>
              <a:rPr lang="en-US" sz="2000">
                <a:latin typeface="Times New Roman"/>
                <a:cs typeface="Times New Roman"/>
              </a:rPr>
              <a:t>design</a:t>
            </a:r>
            <a:r>
              <a:rPr lang="en-US" sz="2000" spc="40">
                <a:latin typeface="Times New Roman"/>
                <a:cs typeface="Times New Roman"/>
              </a:rPr>
              <a:t> </a:t>
            </a:r>
            <a:r>
              <a:rPr lang="en-US" sz="2000" spc="-10">
                <a:latin typeface="Times New Roman"/>
                <a:cs typeface="Times New Roman"/>
              </a:rPr>
              <a:t>system </a:t>
            </a:r>
            <a:r>
              <a:rPr lang="en-US" sz="2000">
                <a:latin typeface="Times New Roman"/>
                <a:cs typeface="Times New Roman"/>
              </a:rPr>
              <a:t>components</a:t>
            </a:r>
            <a:r>
              <a:rPr lang="en-US" sz="2000" spc="155">
                <a:latin typeface="Times New Roman"/>
                <a:cs typeface="Times New Roman"/>
              </a:rPr>
              <a:t> </a:t>
            </a:r>
            <a:r>
              <a:rPr lang="en-US" sz="2000">
                <a:latin typeface="Times New Roman"/>
                <a:cs typeface="Times New Roman"/>
              </a:rPr>
              <a:t>or</a:t>
            </a:r>
            <a:r>
              <a:rPr lang="en-US" sz="2000" spc="150">
                <a:latin typeface="Times New Roman"/>
                <a:cs typeface="Times New Roman"/>
              </a:rPr>
              <a:t> </a:t>
            </a:r>
            <a:r>
              <a:rPr lang="en-US" sz="2000">
                <a:latin typeface="Times New Roman"/>
                <a:cs typeface="Times New Roman"/>
              </a:rPr>
              <a:t>processes</a:t>
            </a:r>
            <a:r>
              <a:rPr lang="en-US" sz="2000" spc="150">
                <a:latin typeface="Times New Roman"/>
                <a:cs typeface="Times New Roman"/>
              </a:rPr>
              <a:t> </a:t>
            </a:r>
            <a:r>
              <a:rPr lang="en-US" sz="2000">
                <a:latin typeface="Times New Roman"/>
                <a:cs typeface="Times New Roman"/>
              </a:rPr>
              <a:t>that</a:t>
            </a:r>
            <a:r>
              <a:rPr lang="en-US" sz="2000" spc="150">
                <a:latin typeface="Times New Roman"/>
                <a:cs typeface="Times New Roman"/>
              </a:rPr>
              <a:t> </a:t>
            </a:r>
            <a:r>
              <a:rPr lang="en-US" sz="2000">
                <a:latin typeface="Times New Roman"/>
                <a:cs typeface="Times New Roman"/>
              </a:rPr>
              <a:t>meet</a:t>
            </a:r>
            <a:r>
              <a:rPr lang="en-US" sz="2000" spc="155">
                <a:latin typeface="Times New Roman"/>
                <a:cs typeface="Times New Roman"/>
              </a:rPr>
              <a:t> </a:t>
            </a:r>
            <a:r>
              <a:rPr lang="en-US" sz="2000">
                <a:latin typeface="Times New Roman"/>
                <a:cs typeface="Times New Roman"/>
              </a:rPr>
              <a:t>the</a:t>
            </a:r>
            <a:r>
              <a:rPr lang="en-US" sz="2000" spc="130">
                <a:latin typeface="Times New Roman"/>
                <a:cs typeface="Times New Roman"/>
              </a:rPr>
              <a:t> </a:t>
            </a:r>
            <a:r>
              <a:rPr lang="en-US" sz="2000">
                <a:latin typeface="Times New Roman"/>
                <a:cs typeface="Times New Roman"/>
              </a:rPr>
              <a:t>specified</a:t>
            </a:r>
            <a:r>
              <a:rPr lang="en-US" sz="2000" spc="140">
                <a:latin typeface="Times New Roman"/>
                <a:cs typeface="Times New Roman"/>
              </a:rPr>
              <a:t> </a:t>
            </a:r>
            <a:r>
              <a:rPr lang="en-US" sz="2000">
                <a:latin typeface="Times New Roman"/>
                <a:cs typeface="Times New Roman"/>
              </a:rPr>
              <a:t>needs</a:t>
            </a:r>
            <a:r>
              <a:rPr lang="en-US" sz="2000" spc="150">
                <a:latin typeface="Times New Roman"/>
                <a:cs typeface="Times New Roman"/>
              </a:rPr>
              <a:t> </a:t>
            </a:r>
            <a:r>
              <a:rPr lang="en-US" sz="2000">
                <a:latin typeface="Times New Roman"/>
                <a:cs typeface="Times New Roman"/>
              </a:rPr>
              <a:t>with</a:t>
            </a:r>
            <a:r>
              <a:rPr lang="en-US" sz="2000" spc="150">
                <a:latin typeface="Times New Roman"/>
                <a:cs typeface="Times New Roman"/>
              </a:rPr>
              <a:t> </a:t>
            </a:r>
            <a:r>
              <a:rPr lang="en-US" sz="2000">
                <a:latin typeface="Times New Roman"/>
                <a:cs typeface="Times New Roman"/>
              </a:rPr>
              <a:t>appropriate</a:t>
            </a:r>
            <a:r>
              <a:rPr lang="en-US" sz="2000" spc="140">
                <a:latin typeface="Times New Roman"/>
                <a:cs typeface="Times New Roman"/>
              </a:rPr>
              <a:t> </a:t>
            </a:r>
            <a:r>
              <a:rPr lang="en-US" sz="2000">
                <a:latin typeface="Times New Roman"/>
                <a:cs typeface="Times New Roman"/>
              </a:rPr>
              <a:t>consideration</a:t>
            </a:r>
            <a:r>
              <a:rPr lang="en-US" sz="2000" spc="155">
                <a:latin typeface="Times New Roman"/>
                <a:cs typeface="Times New Roman"/>
              </a:rPr>
              <a:t> </a:t>
            </a:r>
            <a:r>
              <a:rPr lang="en-US" sz="2000">
                <a:latin typeface="Times New Roman"/>
                <a:cs typeface="Times New Roman"/>
              </a:rPr>
              <a:t>for</a:t>
            </a:r>
            <a:r>
              <a:rPr lang="en-US" sz="2000" spc="150">
                <a:latin typeface="Times New Roman"/>
                <a:cs typeface="Times New Roman"/>
              </a:rPr>
              <a:t> </a:t>
            </a:r>
            <a:r>
              <a:rPr lang="en-US" sz="2000">
                <a:latin typeface="Times New Roman"/>
                <a:cs typeface="Times New Roman"/>
              </a:rPr>
              <a:t>the</a:t>
            </a:r>
            <a:r>
              <a:rPr lang="en-US" sz="2000" spc="140">
                <a:latin typeface="Times New Roman"/>
                <a:cs typeface="Times New Roman"/>
              </a:rPr>
              <a:t> </a:t>
            </a:r>
            <a:r>
              <a:rPr lang="en-US" sz="2000">
                <a:latin typeface="Times New Roman"/>
                <a:cs typeface="Times New Roman"/>
              </a:rPr>
              <a:t>public</a:t>
            </a:r>
            <a:r>
              <a:rPr lang="en-US" sz="2000" spc="145">
                <a:latin typeface="Times New Roman"/>
                <a:cs typeface="Times New Roman"/>
              </a:rPr>
              <a:t> </a:t>
            </a:r>
            <a:r>
              <a:rPr lang="en-US" sz="2000" spc="-10">
                <a:latin typeface="Times New Roman"/>
                <a:cs typeface="Times New Roman"/>
              </a:rPr>
              <a:t>health </a:t>
            </a:r>
            <a:r>
              <a:rPr lang="en-US" sz="2000">
                <a:latin typeface="Times New Roman"/>
                <a:cs typeface="Times New Roman"/>
              </a:rPr>
              <a:t>and</a:t>
            </a:r>
            <a:r>
              <a:rPr lang="en-US" sz="2000" spc="-25">
                <a:latin typeface="Times New Roman"/>
                <a:cs typeface="Times New Roman"/>
              </a:rPr>
              <a:t> </a:t>
            </a:r>
            <a:r>
              <a:rPr lang="en-US" sz="2000">
                <a:latin typeface="Times New Roman"/>
                <a:cs typeface="Times New Roman"/>
              </a:rPr>
              <a:t>safety,</a:t>
            </a:r>
            <a:r>
              <a:rPr lang="en-US" sz="2000" spc="-10">
                <a:latin typeface="Times New Roman"/>
                <a:cs typeface="Times New Roman"/>
              </a:rPr>
              <a:t> </a:t>
            </a:r>
            <a:r>
              <a:rPr lang="en-US" sz="2000">
                <a:latin typeface="Times New Roman"/>
                <a:cs typeface="Times New Roman"/>
              </a:rPr>
              <a:t>and</a:t>
            </a:r>
            <a:r>
              <a:rPr lang="en-US" sz="2000" spc="-25">
                <a:latin typeface="Times New Roman"/>
                <a:cs typeface="Times New Roman"/>
              </a:rPr>
              <a:t> </a:t>
            </a:r>
            <a:r>
              <a:rPr lang="en-US" sz="2000">
                <a:latin typeface="Times New Roman"/>
                <a:cs typeface="Times New Roman"/>
              </a:rPr>
              <a:t>the</a:t>
            </a:r>
            <a:r>
              <a:rPr lang="en-US" sz="2000" spc="-25">
                <a:latin typeface="Times New Roman"/>
                <a:cs typeface="Times New Roman"/>
              </a:rPr>
              <a:t> </a:t>
            </a:r>
            <a:r>
              <a:rPr lang="en-US" sz="2000">
                <a:latin typeface="Times New Roman"/>
                <a:cs typeface="Times New Roman"/>
              </a:rPr>
              <a:t>cultural,</a:t>
            </a:r>
            <a:r>
              <a:rPr lang="en-US" sz="2000" spc="-50">
                <a:latin typeface="Times New Roman"/>
                <a:cs typeface="Times New Roman"/>
              </a:rPr>
              <a:t> </a:t>
            </a:r>
            <a:r>
              <a:rPr lang="en-US" sz="2000">
                <a:latin typeface="Times New Roman"/>
                <a:cs typeface="Times New Roman"/>
              </a:rPr>
              <a:t>societal,</a:t>
            </a:r>
            <a:r>
              <a:rPr lang="en-US" sz="2000" spc="-30">
                <a:latin typeface="Times New Roman"/>
                <a:cs typeface="Times New Roman"/>
              </a:rPr>
              <a:t> </a:t>
            </a:r>
            <a:r>
              <a:rPr lang="en-US" sz="2000">
                <a:latin typeface="Times New Roman"/>
                <a:cs typeface="Times New Roman"/>
              </a:rPr>
              <a:t>and</a:t>
            </a:r>
            <a:r>
              <a:rPr lang="en-US" sz="2000" spc="-15">
                <a:latin typeface="Times New Roman"/>
                <a:cs typeface="Times New Roman"/>
              </a:rPr>
              <a:t> </a:t>
            </a:r>
            <a:r>
              <a:rPr lang="en-US" sz="2000">
                <a:latin typeface="Times New Roman"/>
                <a:cs typeface="Times New Roman"/>
              </a:rPr>
              <a:t>environmental</a:t>
            </a:r>
            <a:r>
              <a:rPr lang="en-US" sz="2000" spc="-20">
                <a:latin typeface="Times New Roman"/>
                <a:cs typeface="Times New Roman"/>
              </a:rPr>
              <a:t> </a:t>
            </a:r>
            <a:r>
              <a:rPr lang="en-US" sz="2000" spc="-10">
                <a:latin typeface="Times New Roman"/>
                <a:cs typeface="Times New Roman"/>
              </a:rPr>
              <a:t>considerations.</a:t>
            </a:r>
            <a:endParaRPr lang="en-US" sz="2000">
              <a:latin typeface="Times New Roman"/>
              <a:cs typeface="Times New Roman"/>
            </a:endParaRPr>
          </a:p>
        </p:txBody>
      </p:sp>
    </p:spTree>
    <p:extLst>
      <p:ext uri="{BB962C8B-B14F-4D97-AF65-F5344CB8AC3E}">
        <p14:creationId xmlns:p14="http://schemas.microsoft.com/office/powerpoint/2010/main" val="989098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6">
            <a:extLst>
              <a:ext uri="{FF2B5EF4-FFF2-40B4-BE49-F238E27FC236}">
                <a16:creationId xmlns:a16="http://schemas.microsoft.com/office/drawing/2014/main" id="{A9EF93BE-4D62-E324-A624-E488A226EDF6}"/>
              </a:ext>
            </a:extLst>
          </p:cNvPr>
          <p:cNvPicPr/>
          <p:nvPr/>
        </p:nvPicPr>
        <p:blipFill>
          <a:blip r:embed="rId2" cstate="print"/>
          <a:stretch>
            <a:fillRect/>
          </a:stretch>
        </p:blipFill>
        <p:spPr>
          <a:xfrm>
            <a:off x="154360" y="11112"/>
            <a:ext cx="8904077" cy="1581764"/>
          </a:xfrm>
          <a:prstGeom prst="rect">
            <a:avLst/>
          </a:prstGeom>
        </p:spPr>
      </p:pic>
      <p:sp>
        <p:nvSpPr>
          <p:cNvPr id="4" name="TextBox 3">
            <a:extLst>
              <a:ext uri="{FF2B5EF4-FFF2-40B4-BE49-F238E27FC236}">
                <a16:creationId xmlns:a16="http://schemas.microsoft.com/office/drawing/2014/main" id="{C232C1ED-D33F-2FC7-93A9-5E21996AAF65}"/>
              </a:ext>
            </a:extLst>
          </p:cNvPr>
          <p:cNvSpPr txBox="1"/>
          <p:nvPr/>
        </p:nvSpPr>
        <p:spPr>
          <a:xfrm>
            <a:off x="154360" y="1592876"/>
            <a:ext cx="8989640" cy="4798750"/>
          </a:xfrm>
          <a:prstGeom prst="rect">
            <a:avLst/>
          </a:prstGeom>
          <a:noFill/>
        </p:spPr>
        <p:txBody>
          <a:bodyPr wrap="square">
            <a:spAutoFit/>
          </a:bodyPr>
          <a:lstStyle/>
          <a:p>
            <a:pPr marL="12700" algn="just">
              <a:spcBef>
                <a:spcPts val="260"/>
              </a:spcBef>
              <a:tabLst>
                <a:tab pos="217804" algn="l"/>
              </a:tabLst>
            </a:pPr>
            <a:r>
              <a:rPr lang="en-US" sz="2000" b="1">
                <a:latin typeface="Times New Roman"/>
                <a:cs typeface="Times New Roman"/>
              </a:rPr>
              <a:t>4.Conduct</a:t>
            </a:r>
            <a:r>
              <a:rPr lang="en-US" sz="2000" b="1" spc="300">
                <a:latin typeface="Times New Roman"/>
                <a:cs typeface="Times New Roman"/>
              </a:rPr>
              <a:t> </a:t>
            </a:r>
            <a:r>
              <a:rPr lang="en-US" sz="2000" b="1">
                <a:latin typeface="Times New Roman"/>
                <a:cs typeface="Times New Roman"/>
              </a:rPr>
              <a:t>investigations</a:t>
            </a:r>
            <a:r>
              <a:rPr lang="en-US" sz="2000" b="1" spc="300">
                <a:latin typeface="Times New Roman"/>
                <a:cs typeface="Times New Roman"/>
              </a:rPr>
              <a:t> </a:t>
            </a:r>
            <a:r>
              <a:rPr lang="en-US" sz="2000" b="1">
                <a:latin typeface="Times New Roman"/>
                <a:cs typeface="Times New Roman"/>
              </a:rPr>
              <a:t>of</a:t>
            </a:r>
            <a:r>
              <a:rPr lang="en-US" sz="2000" b="1" spc="295">
                <a:latin typeface="Times New Roman"/>
                <a:cs typeface="Times New Roman"/>
              </a:rPr>
              <a:t> </a:t>
            </a:r>
            <a:r>
              <a:rPr lang="en-US" sz="2000" b="1">
                <a:latin typeface="Times New Roman"/>
                <a:cs typeface="Times New Roman"/>
              </a:rPr>
              <a:t>complex</a:t>
            </a:r>
            <a:r>
              <a:rPr lang="en-US" sz="2000" b="1" spc="290">
                <a:latin typeface="Times New Roman"/>
                <a:cs typeface="Times New Roman"/>
              </a:rPr>
              <a:t> </a:t>
            </a:r>
            <a:r>
              <a:rPr lang="en-US" sz="2000" b="1">
                <a:latin typeface="Times New Roman"/>
                <a:cs typeface="Times New Roman"/>
              </a:rPr>
              <a:t>problems:</a:t>
            </a:r>
            <a:r>
              <a:rPr lang="en-US" sz="2000" b="1" spc="305">
                <a:latin typeface="Times New Roman"/>
                <a:cs typeface="Times New Roman"/>
              </a:rPr>
              <a:t> </a:t>
            </a:r>
            <a:r>
              <a:rPr lang="en-US" sz="2000">
                <a:latin typeface="Times New Roman"/>
                <a:cs typeface="Times New Roman"/>
              </a:rPr>
              <a:t>Use</a:t>
            </a:r>
            <a:r>
              <a:rPr lang="en-US" sz="2000" spc="295">
                <a:latin typeface="Times New Roman"/>
                <a:cs typeface="Times New Roman"/>
              </a:rPr>
              <a:t> </a:t>
            </a:r>
            <a:r>
              <a:rPr lang="en-US" sz="2000" spc="-10">
                <a:latin typeface="Times New Roman"/>
                <a:cs typeface="Times New Roman"/>
              </a:rPr>
              <a:t>research-</a:t>
            </a:r>
            <a:r>
              <a:rPr lang="en-US" sz="2000">
                <a:latin typeface="Times New Roman"/>
                <a:cs typeface="Times New Roman"/>
              </a:rPr>
              <a:t>based</a:t>
            </a:r>
            <a:r>
              <a:rPr lang="en-US" sz="2000" spc="295">
                <a:latin typeface="Times New Roman"/>
                <a:cs typeface="Times New Roman"/>
              </a:rPr>
              <a:t> </a:t>
            </a:r>
            <a:r>
              <a:rPr lang="en-US" sz="2000">
                <a:latin typeface="Times New Roman"/>
                <a:cs typeface="Times New Roman"/>
              </a:rPr>
              <a:t>knowledge</a:t>
            </a:r>
            <a:r>
              <a:rPr lang="en-US" sz="2000" spc="290">
                <a:latin typeface="Times New Roman"/>
                <a:cs typeface="Times New Roman"/>
              </a:rPr>
              <a:t> </a:t>
            </a:r>
            <a:r>
              <a:rPr lang="en-US" sz="2000">
                <a:latin typeface="Times New Roman"/>
                <a:cs typeface="Times New Roman"/>
              </a:rPr>
              <a:t>and</a:t>
            </a:r>
            <a:r>
              <a:rPr lang="en-US" sz="2000" spc="295">
                <a:latin typeface="Times New Roman"/>
                <a:cs typeface="Times New Roman"/>
              </a:rPr>
              <a:t> </a:t>
            </a:r>
            <a:r>
              <a:rPr lang="en-US" sz="2000">
                <a:latin typeface="Times New Roman"/>
                <a:cs typeface="Times New Roman"/>
              </a:rPr>
              <a:t>research</a:t>
            </a:r>
            <a:r>
              <a:rPr lang="en-US" sz="2000" spc="295">
                <a:latin typeface="Times New Roman"/>
                <a:cs typeface="Times New Roman"/>
              </a:rPr>
              <a:t> </a:t>
            </a:r>
            <a:r>
              <a:rPr lang="en-US" sz="2000" spc="-10">
                <a:latin typeface="Times New Roman"/>
                <a:cs typeface="Times New Roman"/>
              </a:rPr>
              <a:t>methods </a:t>
            </a:r>
            <a:r>
              <a:rPr lang="en-US" sz="2000">
                <a:latin typeface="Times New Roman"/>
                <a:cs typeface="Times New Roman"/>
              </a:rPr>
              <a:t>including</a:t>
            </a:r>
            <a:r>
              <a:rPr lang="en-US" sz="2000" spc="295">
                <a:latin typeface="Times New Roman"/>
                <a:cs typeface="Times New Roman"/>
              </a:rPr>
              <a:t> </a:t>
            </a:r>
            <a:r>
              <a:rPr lang="en-US" sz="2000">
                <a:latin typeface="Times New Roman"/>
                <a:cs typeface="Times New Roman"/>
              </a:rPr>
              <a:t>design</a:t>
            </a:r>
            <a:r>
              <a:rPr lang="en-US" sz="2000" spc="285">
                <a:latin typeface="Times New Roman"/>
                <a:cs typeface="Times New Roman"/>
              </a:rPr>
              <a:t> </a:t>
            </a:r>
            <a:r>
              <a:rPr lang="en-US" sz="2000">
                <a:latin typeface="Times New Roman"/>
                <a:cs typeface="Times New Roman"/>
              </a:rPr>
              <a:t>of</a:t>
            </a:r>
            <a:r>
              <a:rPr lang="en-US" sz="2000" spc="275">
                <a:latin typeface="Times New Roman"/>
                <a:cs typeface="Times New Roman"/>
              </a:rPr>
              <a:t> </a:t>
            </a:r>
            <a:r>
              <a:rPr lang="en-US" sz="2000">
                <a:latin typeface="Times New Roman"/>
                <a:cs typeface="Times New Roman"/>
              </a:rPr>
              <a:t>experiments,</a:t>
            </a:r>
            <a:r>
              <a:rPr lang="en-US" sz="2000" spc="290">
                <a:latin typeface="Times New Roman"/>
                <a:cs typeface="Times New Roman"/>
              </a:rPr>
              <a:t> </a:t>
            </a:r>
            <a:r>
              <a:rPr lang="en-US" sz="2000">
                <a:latin typeface="Times New Roman"/>
                <a:cs typeface="Times New Roman"/>
              </a:rPr>
              <a:t>analysis</a:t>
            </a:r>
            <a:r>
              <a:rPr lang="en-US" sz="2000" spc="290">
                <a:latin typeface="Times New Roman"/>
                <a:cs typeface="Times New Roman"/>
              </a:rPr>
              <a:t> </a:t>
            </a:r>
            <a:r>
              <a:rPr lang="en-US" sz="2000">
                <a:latin typeface="Times New Roman"/>
                <a:cs typeface="Times New Roman"/>
              </a:rPr>
              <a:t>and</a:t>
            </a:r>
            <a:r>
              <a:rPr lang="en-US" sz="2000" spc="290">
                <a:latin typeface="Times New Roman"/>
                <a:cs typeface="Times New Roman"/>
              </a:rPr>
              <a:t> </a:t>
            </a:r>
            <a:r>
              <a:rPr lang="en-US" sz="2000">
                <a:latin typeface="Times New Roman"/>
                <a:cs typeface="Times New Roman"/>
              </a:rPr>
              <a:t>interpretation</a:t>
            </a:r>
            <a:r>
              <a:rPr lang="en-US" sz="2000" spc="290">
                <a:latin typeface="Times New Roman"/>
                <a:cs typeface="Times New Roman"/>
              </a:rPr>
              <a:t> </a:t>
            </a:r>
            <a:r>
              <a:rPr lang="en-US" sz="2000">
                <a:latin typeface="Times New Roman"/>
                <a:cs typeface="Times New Roman"/>
              </a:rPr>
              <a:t>of</a:t>
            </a:r>
            <a:r>
              <a:rPr lang="en-US" sz="2000" spc="290">
                <a:latin typeface="Times New Roman"/>
                <a:cs typeface="Times New Roman"/>
              </a:rPr>
              <a:t> </a:t>
            </a:r>
            <a:r>
              <a:rPr lang="en-US" sz="2000">
                <a:latin typeface="Times New Roman"/>
                <a:cs typeface="Times New Roman"/>
              </a:rPr>
              <a:t>data,</a:t>
            </a:r>
            <a:r>
              <a:rPr lang="en-US" sz="2000" spc="280">
                <a:latin typeface="Times New Roman"/>
                <a:cs typeface="Times New Roman"/>
              </a:rPr>
              <a:t> </a:t>
            </a:r>
            <a:r>
              <a:rPr lang="en-US" sz="2000">
                <a:latin typeface="Times New Roman"/>
                <a:cs typeface="Times New Roman"/>
              </a:rPr>
              <a:t>and</a:t>
            </a:r>
            <a:r>
              <a:rPr lang="en-US" sz="2000" spc="290">
                <a:latin typeface="Times New Roman"/>
                <a:cs typeface="Times New Roman"/>
              </a:rPr>
              <a:t> </a:t>
            </a:r>
            <a:r>
              <a:rPr lang="en-US" sz="2000">
                <a:latin typeface="Times New Roman"/>
                <a:cs typeface="Times New Roman"/>
              </a:rPr>
              <a:t>synthesis</a:t>
            </a:r>
            <a:r>
              <a:rPr lang="en-US" sz="2000" spc="295">
                <a:latin typeface="Times New Roman"/>
                <a:cs typeface="Times New Roman"/>
              </a:rPr>
              <a:t> </a:t>
            </a:r>
            <a:r>
              <a:rPr lang="en-US" sz="2000">
                <a:latin typeface="Times New Roman"/>
                <a:cs typeface="Times New Roman"/>
              </a:rPr>
              <a:t>of</a:t>
            </a:r>
            <a:r>
              <a:rPr lang="en-US" sz="2000" spc="285">
                <a:latin typeface="Times New Roman"/>
                <a:cs typeface="Times New Roman"/>
              </a:rPr>
              <a:t> </a:t>
            </a:r>
            <a:r>
              <a:rPr lang="en-US" sz="2000">
                <a:latin typeface="Times New Roman"/>
                <a:cs typeface="Times New Roman"/>
              </a:rPr>
              <a:t>the</a:t>
            </a:r>
            <a:r>
              <a:rPr lang="en-US" sz="2000" spc="265">
                <a:latin typeface="Times New Roman"/>
                <a:cs typeface="Times New Roman"/>
              </a:rPr>
              <a:t> </a:t>
            </a:r>
            <a:r>
              <a:rPr lang="en-US" sz="2000">
                <a:latin typeface="Times New Roman"/>
                <a:cs typeface="Times New Roman"/>
              </a:rPr>
              <a:t>information</a:t>
            </a:r>
            <a:r>
              <a:rPr lang="en-US" sz="2000" spc="295">
                <a:latin typeface="Times New Roman"/>
                <a:cs typeface="Times New Roman"/>
              </a:rPr>
              <a:t> </a:t>
            </a:r>
            <a:r>
              <a:rPr lang="en-US" sz="2000" spc="-25">
                <a:latin typeface="Times New Roman"/>
                <a:cs typeface="Times New Roman"/>
              </a:rPr>
              <a:t>to </a:t>
            </a:r>
            <a:r>
              <a:rPr lang="en-US" sz="2000">
                <a:latin typeface="Times New Roman"/>
                <a:cs typeface="Times New Roman"/>
              </a:rPr>
              <a:t>provide</a:t>
            </a:r>
            <a:r>
              <a:rPr lang="en-US" sz="2000" spc="-45">
                <a:latin typeface="Times New Roman"/>
                <a:cs typeface="Times New Roman"/>
              </a:rPr>
              <a:t> </a:t>
            </a:r>
            <a:r>
              <a:rPr lang="en-US" sz="2000">
                <a:latin typeface="Times New Roman"/>
                <a:cs typeface="Times New Roman"/>
              </a:rPr>
              <a:t>valid</a:t>
            </a:r>
            <a:r>
              <a:rPr lang="en-US" sz="2000" spc="-10">
                <a:latin typeface="Times New Roman"/>
                <a:cs typeface="Times New Roman"/>
              </a:rPr>
              <a:t> conclusions.</a:t>
            </a:r>
            <a:endParaRPr lang="en-US" sz="2000" b="1">
              <a:latin typeface="Times New Roman"/>
              <a:cs typeface="Times New Roman"/>
            </a:endParaRPr>
          </a:p>
          <a:p>
            <a:pPr marL="12700" algn="just">
              <a:spcBef>
                <a:spcPts val="260"/>
              </a:spcBef>
              <a:tabLst>
                <a:tab pos="217804" algn="l"/>
              </a:tabLst>
            </a:pPr>
            <a:r>
              <a:rPr lang="en-US" sz="2000" b="1">
                <a:latin typeface="Times New Roman"/>
                <a:cs typeface="Times New Roman"/>
              </a:rPr>
              <a:t>5.Modern</a:t>
            </a:r>
            <a:r>
              <a:rPr lang="en-US" sz="2000" b="1" spc="95">
                <a:latin typeface="Times New Roman"/>
                <a:cs typeface="Times New Roman"/>
              </a:rPr>
              <a:t> </a:t>
            </a:r>
            <a:r>
              <a:rPr lang="en-US" sz="2000" b="1">
                <a:latin typeface="Times New Roman"/>
                <a:cs typeface="Times New Roman"/>
              </a:rPr>
              <a:t>tool</a:t>
            </a:r>
            <a:r>
              <a:rPr lang="en-US" sz="2000" b="1" spc="95">
                <a:latin typeface="Times New Roman"/>
                <a:cs typeface="Times New Roman"/>
              </a:rPr>
              <a:t> </a:t>
            </a:r>
            <a:r>
              <a:rPr lang="en-US" sz="2000" b="1">
                <a:latin typeface="Times New Roman"/>
                <a:cs typeface="Times New Roman"/>
              </a:rPr>
              <a:t>usage:</a:t>
            </a:r>
            <a:r>
              <a:rPr lang="en-US" sz="2000" b="1" spc="95">
                <a:latin typeface="Times New Roman"/>
                <a:cs typeface="Times New Roman"/>
              </a:rPr>
              <a:t> </a:t>
            </a:r>
            <a:r>
              <a:rPr lang="en-US" sz="2000">
                <a:latin typeface="Times New Roman"/>
                <a:cs typeface="Times New Roman"/>
              </a:rPr>
              <a:t>Create,</a:t>
            </a:r>
            <a:r>
              <a:rPr lang="en-US" sz="2000" spc="85">
                <a:latin typeface="Times New Roman"/>
                <a:cs typeface="Times New Roman"/>
              </a:rPr>
              <a:t> </a:t>
            </a:r>
            <a:r>
              <a:rPr lang="en-US" sz="2000">
                <a:latin typeface="Times New Roman"/>
                <a:cs typeface="Times New Roman"/>
              </a:rPr>
              <a:t>select,</a:t>
            </a:r>
            <a:r>
              <a:rPr lang="en-US" sz="2000" spc="85">
                <a:latin typeface="Times New Roman"/>
                <a:cs typeface="Times New Roman"/>
              </a:rPr>
              <a:t> </a:t>
            </a:r>
            <a:r>
              <a:rPr lang="en-US" sz="2000">
                <a:latin typeface="Times New Roman"/>
                <a:cs typeface="Times New Roman"/>
              </a:rPr>
              <a:t>and</a:t>
            </a:r>
            <a:r>
              <a:rPr lang="en-US" sz="2000" spc="95">
                <a:latin typeface="Times New Roman"/>
                <a:cs typeface="Times New Roman"/>
              </a:rPr>
              <a:t> </a:t>
            </a:r>
            <a:r>
              <a:rPr lang="en-US" sz="2000">
                <a:latin typeface="Times New Roman"/>
                <a:cs typeface="Times New Roman"/>
              </a:rPr>
              <a:t>apply</a:t>
            </a:r>
            <a:r>
              <a:rPr lang="en-US" sz="2000" spc="90">
                <a:latin typeface="Times New Roman"/>
                <a:cs typeface="Times New Roman"/>
              </a:rPr>
              <a:t> </a:t>
            </a:r>
            <a:r>
              <a:rPr lang="en-US" sz="2000">
                <a:latin typeface="Times New Roman"/>
                <a:cs typeface="Times New Roman"/>
              </a:rPr>
              <a:t>appropriate</a:t>
            </a:r>
            <a:r>
              <a:rPr lang="en-US" sz="2000" spc="90">
                <a:latin typeface="Times New Roman"/>
                <a:cs typeface="Times New Roman"/>
              </a:rPr>
              <a:t> </a:t>
            </a:r>
            <a:r>
              <a:rPr lang="en-US" sz="2000">
                <a:latin typeface="Times New Roman"/>
                <a:cs typeface="Times New Roman"/>
              </a:rPr>
              <a:t>techniques,</a:t>
            </a:r>
            <a:r>
              <a:rPr lang="en-US" sz="2000" spc="90">
                <a:latin typeface="Times New Roman"/>
                <a:cs typeface="Times New Roman"/>
              </a:rPr>
              <a:t> </a:t>
            </a:r>
            <a:r>
              <a:rPr lang="en-US" sz="2000">
                <a:latin typeface="Times New Roman"/>
                <a:cs typeface="Times New Roman"/>
              </a:rPr>
              <a:t>resources,</a:t>
            </a:r>
            <a:r>
              <a:rPr lang="en-US" sz="2000" spc="90">
                <a:latin typeface="Times New Roman"/>
                <a:cs typeface="Times New Roman"/>
              </a:rPr>
              <a:t> </a:t>
            </a:r>
            <a:r>
              <a:rPr lang="en-US" sz="2000">
                <a:latin typeface="Times New Roman"/>
                <a:cs typeface="Times New Roman"/>
              </a:rPr>
              <a:t>and</a:t>
            </a:r>
            <a:r>
              <a:rPr lang="en-US" sz="2000" spc="110">
                <a:latin typeface="Times New Roman"/>
                <a:cs typeface="Times New Roman"/>
              </a:rPr>
              <a:t> </a:t>
            </a:r>
            <a:r>
              <a:rPr lang="en-US" sz="2000">
                <a:latin typeface="Times New Roman"/>
                <a:cs typeface="Times New Roman"/>
              </a:rPr>
              <a:t>modern</a:t>
            </a:r>
            <a:r>
              <a:rPr lang="en-US" sz="2000" spc="105">
                <a:latin typeface="Times New Roman"/>
                <a:cs typeface="Times New Roman"/>
              </a:rPr>
              <a:t> </a:t>
            </a:r>
            <a:r>
              <a:rPr lang="en-US" sz="2000" spc="-10">
                <a:latin typeface="Times New Roman"/>
                <a:cs typeface="Times New Roman"/>
              </a:rPr>
              <a:t>engineering </a:t>
            </a:r>
            <a:r>
              <a:rPr lang="en-US" sz="2000">
                <a:latin typeface="Times New Roman"/>
                <a:cs typeface="Times New Roman"/>
              </a:rPr>
              <a:t>and</a:t>
            </a:r>
            <a:r>
              <a:rPr lang="en-US" sz="2000" spc="-10">
                <a:latin typeface="Times New Roman"/>
                <a:cs typeface="Times New Roman"/>
              </a:rPr>
              <a:t> </a:t>
            </a:r>
            <a:r>
              <a:rPr lang="en-US" sz="2000">
                <a:latin typeface="Times New Roman"/>
                <a:cs typeface="Times New Roman"/>
              </a:rPr>
              <a:t>IT</a:t>
            </a:r>
            <a:r>
              <a:rPr lang="en-US" sz="2000" spc="-10">
                <a:latin typeface="Times New Roman"/>
                <a:cs typeface="Times New Roman"/>
              </a:rPr>
              <a:t> </a:t>
            </a:r>
            <a:r>
              <a:rPr lang="en-US" sz="2000">
                <a:latin typeface="Times New Roman"/>
                <a:cs typeface="Times New Roman"/>
              </a:rPr>
              <a:t>tools</a:t>
            </a:r>
            <a:r>
              <a:rPr lang="en-US" sz="2000" spc="-10">
                <a:latin typeface="Times New Roman"/>
                <a:cs typeface="Times New Roman"/>
              </a:rPr>
              <a:t> </a:t>
            </a:r>
            <a:r>
              <a:rPr lang="en-US" sz="2000">
                <a:latin typeface="Times New Roman"/>
                <a:cs typeface="Times New Roman"/>
              </a:rPr>
              <a:t>including</a:t>
            </a:r>
            <a:r>
              <a:rPr lang="en-US" sz="2000" spc="-5">
                <a:latin typeface="Times New Roman"/>
                <a:cs typeface="Times New Roman"/>
              </a:rPr>
              <a:t> </a:t>
            </a:r>
            <a:r>
              <a:rPr lang="en-US" sz="2000">
                <a:latin typeface="Times New Roman"/>
                <a:cs typeface="Times New Roman"/>
              </a:rPr>
              <a:t>prediction</a:t>
            </a:r>
            <a:r>
              <a:rPr lang="en-US" sz="2000" spc="-5">
                <a:latin typeface="Times New Roman"/>
                <a:cs typeface="Times New Roman"/>
              </a:rPr>
              <a:t> </a:t>
            </a:r>
            <a:r>
              <a:rPr lang="en-US" sz="2000">
                <a:latin typeface="Times New Roman"/>
                <a:cs typeface="Times New Roman"/>
              </a:rPr>
              <a:t>and</a:t>
            </a:r>
            <a:r>
              <a:rPr lang="en-US" sz="2000" spc="-10">
                <a:latin typeface="Times New Roman"/>
                <a:cs typeface="Times New Roman"/>
              </a:rPr>
              <a:t> </a:t>
            </a:r>
            <a:r>
              <a:rPr lang="en-US" sz="2000">
                <a:latin typeface="Times New Roman"/>
                <a:cs typeface="Times New Roman"/>
              </a:rPr>
              <a:t>modeling</a:t>
            </a:r>
            <a:r>
              <a:rPr lang="en-US" sz="2000" spc="-5">
                <a:latin typeface="Times New Roman"/>
                <a:cs typeface="Times New Roman"/>
              </a:rPr>
              <a:t> </a:t>
            </a:r>
            <a:r>
              <a:rPr lang="en-US" sz="2000">
                <a:latin typeface="Times New Roman"/>
                <a:cs typeface="Times New Roman"/>
              </a:rPr>
              <a:t>to</a:t>
            </a:r>
            <a:r>
              <a:rPr lang="en-US" sz="2000" spc="-5">
                <a:latin typeface="Times New Roman"/>
                <a:cs typeface="Times New Roman"/>
              </a:rPr>
              <a:t> </a:t>
            </a:r>
            <a:r>
              <a:rPr lang="en-US" sz="2000">
                <a:latin typeface="Times New Roman"/>
                <a:cs typeface="Times New Roman"/>
              </a:rPr>
              <a:t>complex</a:t>
            </a:r>
            <a:r>
              <a:rPr lang="en-US" sz="2000" spc="-20">
                <a:latin typeface="Times New Roman"/>
                <a:cs typeface="Times New Roman"/>
              </a:rPr>
              <a:t> </a:t>
            </a:r>
            <a:r>
              <a:rPr lang="en-US" sz="2000">
                <a:latin typeface="Times New Roman"/>
                <a:cs typeface="Times New Roman"/>
              </a:rPr>
              <a:t>engineering</a:t>
            </a:r>
            <a:r>
              <a:rPr lang="en-US" sz="2000" spc="-15">
                <a:latin typeface="Times New Roman"/>
                <a:cs typeface="Times New Roman"/>
              </a:rPr>
              <a:t> </a:t>
            </a:r>
            <a:r>
              <a:rPr lang="en-US" sz="2000">
                <a:latin typeface="Times New Roman"/>
                <a:cs typeface="Times New Roman"/>
              </a:rPr>
              <a:t>activities</a:t>
            </a:r>
            <a:r>
              <a:rPr lang="en-US" sz="2000" spc="-10">
                <a:latin typeface="Times New Roman"/>
                <a:cs typeface="Times New Roman"/>
              </a:rPr>
              <a:t> </a:t>
            </a:r>
            <a:r>
              <a:rPr lang="en-US" sz="2000">
                <a:latin typeface="Times New Roman"/>
                <a:cs typeface="Times New Roman"/>
              </a:rPr>
              <a:t>with</a:t>
            </a:r>
            <a:r>
              <a:rPr lang="en-US" sz="2000" spc="-5">
                <a:latin typeface="Times New Roman"/>
                <a:cs typeface="Times New Roman"/>
              </a:rPr>
              <a:t> </a:t>
            </a:r>
            <a:r>
              <a:rPr lang="en-US" sz="2000">
                <a:latin typeface="Times New Roman"/>
                <a:cs typeface="Times New Roman"/>
              </a:rPr>
              <a:t>an</a:t>
            </a:r>
            <a:r>
              <a:rPr lang="en-US" sz="2000" spc="-5">
                <a:latin typeface="Times New Roman"/>
                <a:cs typeface="Times New Roman"/>
              </a:rPr>
              <a:t> </a:t>
            </a:r>
            <a:r>
              <a:rPr lang="en-US" sz="2000">
                <a:latin typeface="Times New Roman"/>
                <a:cs typeface="Times New Roman"/>
              </a:rPr>
              <a:t>understanding of</a:t>
            </a:r>
            <a:r>
              <a:rPr lang="en-US" sz="2000" spc="-10">
                <a:latin typeface="Times New Roman"/>
                <a:cs typeface="Times New Roman"/>
              </a:rPr>
              <a:t> </a:t>
            </a:r>
            <a:r>
              <a:rPr lang="en-US" sz="2000" spc="-25">
                <a:latin typeface="Times New Roman"/>
                <a:cs typeface="Times New Roman"/>
              </a:rPr>
              <a:t>the </a:t>
            </a:r>
            <a:r>
              <a:rPr lang="en-US" sz="2000" spc="-10">
                <a:latin typeface="Times New Roman"/>
                <a:cs typeface="Times New Roman"/>
              </a:rPr>
              <a:t>limitations.</a:t>
            </a:r>
          </a:p>
          <a:p>
            <a:pPr marL="12700" marR="7620" indent="185420" algn="just">
              <a:spcBef>
                <a:spcPts val="100"/>
              </a:spcBef>
              <a:buFont typeface="Times New Roman"/>
              <a:buAutoNum type="arabicPeriod" startAt="6"/>
              <a:tabLst>
                <a:tab pos="198120" algn="l"/>
              </a:tabLst>
            </a:pPr>
            <a:r>
              <a:rPr lang="en-US" sz="2000" b="1">
                <a:latin typeface="Times New Roman"/>
                <a:cs typeface="Times New Roman"/>
              </a:rPr>
              <a:t>The</a:t>
            </a:r>
            <a:r>
              <a:rPr lang="en-US" sz="2000" b="1" spc="30">
                <a:latin typeface="Times New Roman"/>
                <a:cs typeface="Times New Roman"/>
              </a:rPr>
              <a:t> </a:t>
            </a:r>
            <a:r>
              <a:rPr lang="en-US" sz="2000" b="1">
                <a:latin typeface="Times New Roman"/>
                <a:cs typeface="Times New Roman"/>
              </a:rPr>
              <a:t>engineer</a:t>
            </a:r>
            <a:r>
              <a:rPr lang="en-US" sz="2000" b="1" spc="30">
                <a:latin typeface="Times New Roman"/>
                <a:cs typeface="Times New Roman"/>
              </a:rPr>
              <a:t> </a:t>
            </a:r>
            <a:r>
              <a:rPr lang="en-US" sz="2000" b="1">
                <a:latin typeface="Times New Roman"/>
                <a:cs typeface="Times New Roman"/>
              </a:rPr>
              <a:t>and</a:t>
            </a:r>
            <a:r>
              <a:rPr lang="en-US" sz="2000" b="1" spc="20">
                <a:latin typeface="Times New Roman"/>
                <a:cs typeface="Times New Roman"/>
              </a:rPr>
              <a:t> </a:t>
            </a:r>
            <a:r>
              <a:rPr lang="en-US" sz="2000" b="1">
                <a:latin typeface="Times New Roman"/>
                <a:cs typeface="Times New Roman"/>
              </a:rPr>
              <a:t>society:</a:t>
            </a:r>
            <a:r>
              <a:rPr lang="en-US" sz="2000" b="1" spc="35">
                <a:latin typeface="Times New Roman"/>
                <a:cs typeface="Times New Roman"/>
              </a:rPr>
              <a:t> </a:t>
            </a:r>
            <a:r>
              <a:rPr lang="en-US" sz="2000">
                <a:latin typeface="Times New Roman"/>
                <a:cs typeface="Times New Roman"/>
              </a:rPr>
              <a:t>Apply</a:t>
            </a:r>
            <a:r>
              <a:rPr lang="en-US" sz="2000" spc="20">
                <a:latin typeface="Times New Roman"/>
                <a:cs typeface="Times New Roman"/>
              </a:rPr>
              <a:t> </a:t>
            </a:r>
            <a:r>
              <a:rPr lang="en-US" sz="2000">
                <a:latin typeface="Times New Roman"/>
                <a:cs typeface="Times New Roman"/>
              </a:rPr>
              <a:t>reasoning</a:t>
            </a:r>
            <a:r>
              <a:rPr lang="en-US" sz="2000" spc="25">
                <a:latin typeface="Times New Roman"/>
                <a:cs typeface="Times New Roman"/>
              </a:rPr>
              <a:t> </a:t>
            </a:r>
            <a:r>
              <a:rPr lang="en-US" sz="2000">
                <a:latin typeface="Times New Roman"/>
                <a:cs typeface="Times New Roman"/>
              </a:rPr>
              <a:t>informed</a:t>
            </a:r>
            <a:r>
              <a:rPr lang="en-US" sz="2000" spc="45">
                <a:latin typeface="Times New Roman"/>
                <a:cs typeface="Times New Roman"/>
              </a:rPr>
              <a:t> </a:t>
            </a:r>
            <a:r>
              <a:rPr lang="en-US" sz="2000">
                <a:latin typeface="Times New Roman"/>
                <a:cs typeface="Times New Roman"/>
              </a:rPr>
              <a:t>by</a:t>
            </a:r>
            <a:r>
              <a:rPr lang="en-US" sz="2000" spc="20">
                <a:latin typeface="Times New Roman"/>
                <a:cs typeface="Times New Roman"/>
              </a:rPr>
              <a:t> </a:t>
            </a:r>
            <a:r>
              <a:rPr lang="en-US" sz="2000">
                <a:latin typeface="Times New Roman"/>
                <a:cs typeface="Times New Roman"/>
              </a:rPr>
              <a:t>the</a:t>
            </a:r>
            <a:r>
              <a:rPr lang="en-US" sz="2000" spc="20">
                <a:latin typeface="Times New Roman"/>
                <a:cs typeface="Times New Roman"/>
              </a:rPr>
              <a:t> </a:t>
            </a:r>
            <a:r>
              <a:rPr lang="en-US" sz="2000">
                <a:latin typeface="Times New Roman"/>
                <a:cs typeface="Times New Roman"/>
              </a:rPr>
              <a:t>contextual</a:t>
            </a:r>
            <a:r>
              <a:rPr lang="en-US" sz="2000" spc="35">
                <a:latin typeface="Times New Roman"/>
                <a:cs typeface="Times New Roman"/>
              </a:rPr>
              <a:t> </a:t>
            </a:r>
            <a:r>
              <a:rPr lang="en-US" sz="2000">
                <a:latin typeface="Times New Roman"/>
                <a:cs typeface="Times New Roman"/>
              </a:rPr>
              <a:t>knowledge</a:t>
            </a:r>
            <a:r>
              <a:rPr lang="en-US" sz="2000" spc="40">
                <a:latin typeface="Times New Roman"/>
                <a:cs typeface="Times New Roman"/>
              </a:rPr>
              <a:t> </a:t>
            </a:r>
            <a:r>
              <a:rPr lang="en-US" sz="2000">
                <a:latin typeface="Times New Roman"/>
                <a:cs typeface="Times New Roman"/>
              </a:rPr>
              <a:t>to</a:t>
            </a:r>
            <a:r>
              <a:rPr lang="en-US" sz="2000" spc="35">
                <a:latin typeface="Times New Roman"/>
                <a:cs typeface="Times New Roman"/>
              </a:rPr>
              <a:t> </a:t>
            </a:r>
            <a:r>
              <a:rPr lang="en-US" sz="2000">
                <a:latin typeface="Times New Roman"/>
                <a:cs typeface="Times New Roman"/>
              </a:rPr>
              <a:t>assess</a:t>
            </a:r>
            <a:r>
              <a:rPr lang="en-US" sz="2000" spc="50">
                <a:latin typeface="Times New Roman"/>
                <a:cs typeface="Times New Roman"/>
              </a:rPr>
              <a:t> </a:t>
            </a:r>
            <a:r>
              <a:rPr lang="en-US" sz="2000">
                <a:latin typeface="Times New Roman"/>
                <a:cs typeface="Times New Roman"/>
              </a:rPr>
              <a:t>societal,</a:t>
            </a:r>
            <a:r>
              <a:rPr lang="en-US" sz="2000" spc="35">
                <a:latin typeface="Times New Roman"/>
                <a:cs typeface="Times New Roman"/>
              </a:rPr>
              <a:t> </a:t>
            </a:r>
            <a:r>
              <a:rPr lang="en-US" sz="2000">
                <a:latin typeface="Times New Roman"/>
                <a:cs typeface="Times New Roman"/>
              </a:rPr>
              <a:t>health,</a:t>
            </a:r>
            <a:r>
              <a:rPr lang="en-US" sz="2000" spc="35">
                <a:latin typeface="Times New Roman"/>
                <a:cs typeface="Times New Roman"/>
              </a:rPr>
              <a:t> </a:t>
            </a:r>
            <a:r>
              <a:rPr lang="en-US" sz="2000" spc="-10">
                <a:latin typeface="Times New Roman"/>
                <a:cs typeface="Times New Roman"/>
              </a:rPr>
              <a:t>safety, </a:t>
            </a:r>
            <a:r>
              <a:rPr lang="en-US" sz="2000">
                <a:latin typeface="Times New Roman"/>
                <a:cs typeface="Times New Roman"/>
              </a:rPr>
              <a:t>legal</a:t>
            </a:r>
            <a:r>
              <a:rPr lang="en-US" sz="2000" spc="-15">
                <a:latin typeface="Times New Roman"/>
                <a:cs typeface="Times New Roman"/>
              </a:rPr>
              <a:t> </a:t>
            </a:r>
            <a:r>
              <a:rPr lang="en-US" sz="2000">
                <a:latin typeface="Times New Roman"/>
                <a:cs typeface="Times New Roman"/>
              </a:rPr>
              <a:t>and cultural issues</a:t>
            </a:r>
            <a:r>
              <a:rPr lang="en-US" sz="2000" spc="-25">
                <a:latin typeface="Times New Roman"/>
                <a:cs typeface="Times New Roman"/>
              </a:rPr>
              <a:t> </a:t>
            </a:r>
            <a:r>
              <a:rPr lang="en-US" sz="2000">
                <a:latin typeface="Times New Roman"/>
                <a:cs typeface="Times New Roman"/>
              </a:rPr>
              <a:t>and</a:t>
            </a:r>
            <a:r>
              <a:rPr lang="en-US" sz="2000" spc="-5">
                <a:latin typeface="Times New Roman"/>
                <a:cs typeface="Times New Roman"/>
              </a:rPr>
              <a:t> </a:t>
            </a:r>
            <a:r>
              <a:rPr lang="en-US" sz="2000">
                <a:latin typeface="Times New Roman"/>
                <a:cs typeface="Times New Roman"/>
              </a:rPr>
              <a:t>the</a:t>
            </a:r>
            <a:r>
              <a:rPr lang="en-US" sz="2000" spc="-10">
                <a:latin typeface="Times New Roman"/>
                <a:cs typeface="Times New Roman"/>
              </a:rPr>
              <a:t> </a:t>
            </a:r>
            <a:r>
              <a:rPr lang="en-US" sz="2000">
                <a:latin typeface="Times New Roman"/>
                <a:cs typeface="Times New Roman"/>
              </a:rPr>
              <a:t>consequent</a:t>
            </a:r>
            <a:r>
              <a:rPr lang="en-US" sz="2000" spc="-30">
                <a:latin typeface="Times New Roman"/>
                <a:cs typeface="Times New Roman"/>
              </a:rPr>
              <a:t> </a:t>
            </a:r>
            <a:r>
              <a:rPr lang="en-US" sz="2000" spc="-10">
                <a:latin typeface="Times New Roman"/>
                <a:cs typeface="Times New Roman"/>
              </a:rPr>
              <a:t>responsibilities</a:t>
            </a:r>
            <a:r>
              <a:rPr lang="en-US" sz="2000" spc="-20">
                <a:latin typeface="Times New Roman"/>
                <a:cs typeface="Times New Roman"/>
              </a:rPr>
              <a:t> </a:t>
            </a:r>
            <a:r>
              <a:rPr lang="en-US" sz="2000">
                <a:latin typeface="Times New Roman"/>
                <a:cs typeface="Times New Roman"/>
              </a:rPr>
              <a:t>relevant</a:t>
            </a:r>
            <a:r>
              <a:rPr lang="en-US" sz="2000" spc="-10">
                <a:latin typeface="Times New Roman"/>
                <a:cs typeface="Times New Roman"/>
              </a:rPr>
              <a:t> </a:t>
            </a:r>
            <a:r>
              <a:rPr lang="en-US" sz="2000">
                <a:latin typeface="Times New Roman"/>
                <a:cs typeface="Times New Roman"/>
              </a:rPr>
              <a:t>to</a:t>
            </a:r>
            <a:r>
              <a:rPr lang="en-US" sz="2000" spc="-15">
                <a:latin typeface="Times New Roman"/>
                <a:cs typeface="Times New Roman"/>
              </a:rPr>
              <a:t> </a:t>
            </a:r>
            <a:r>
              <a:rPr lang="en-US" sz="2000">
                <a:latin typeface="Times New Roman"/>
                <a:cs typeface="Times New Roman"/>
              </a:rPr>
              <a:t>the</a:t>
            </a:r>
            <a:r>
              <a:rPr lang="en-US" sz="2000" spc="-10">
                <a:latin typeface="Times New Roman"/>
                <a:cs typeface="Times New Roman"/>
              </a:rPr>
              <a:t> </a:t>
            </a:r>
            <a:r>
              <a:rPr lang="en-US" sz="2000">
                <a:latin typeface="Times New Roman"/>
                <a:cs typeface="Times New Roman"/>
              </a:rPr>
              <a:t>professional</a:t>
            </a:r>
            <a:r>
              <a:rPr lang="en-US" sz="2000" spc="-30">
                <a:latin typeface="Times New Roman"/>
                <a:cs typeface="Times New Roman"/>
              </a:rPr>
              <a:t> </a:t>
            </a:r>
            <a:r>
              <a:rPr lang="en-US" sz="2000">
                <a:latin typeface="Times New Roman"/>
                <a:cs typeface="Times New Roman"/>
              </a:rPr>
              <a:t>engineering</a:t>
            </a:r>
            <a:r>
              <a:rPr lang="en-US" sz="2000" spc="5">
                <a:latin typeface="Times New Roman"/>
                <a:cs typeface="Times New Roman"/>
              </a:rPr>
              <a:t> </a:t>
            </a:r>
            <a:r>
              <a:rPr lang="en-US" sz="2000" spc="-10">
                <a:latin typeface="Times New Roman"/>
                <a:cs typeface="Times New Roman"/>
              </a:rPr>
              <a:t>practice.</a:t>
            </a:r>
            <a:endParaRPr lang="en-US" sz="2000">
              <a:latin typeface="Times New Roman"/>
              <a:cs typeface="Times New Roman"/>
            </a:endParaRPr>
          </a:p>
          <a:p>
            <a:pPr marL="12700" marR="5715" indent="198755" algn="just">
              <a:buFont typeface="Times New Roman"/>
              <a:buAutoNum type="arabicPeriod" startAt="6"/>
              <a:tabLst>
                <a:tab pos="211454" algn="l"/>
              </a:tabLst>
            </a:pPr>
            <a:r>
              <a:rPr lang="en-US" sz="2000" b="1">
                <a:latin typeface="Times New Roman"/>
                <a:cs typeface="Times New Roman"/>
              </a:rPr>
              <a:t>Environment</a:t>
            </a:r>
            <a:r>
              <a:rPr lang="en-US" sz="2000" b="1" spc="114">
                <a:latin typeface="Times New Roman"/>
                <a:cs typeface="Times New Roman"/>
              </a:rPr>
              <a:t> </a:t>
            </a:r>
            <a:r>
              <a:rPr lang="en-US" sz="2000" b="1">
                <a:latin typeface="Times New Roman"/>
                <a:cs typeface="Times New Roman"/>
              </a:rPr>
              <a:t>and</a:t>
            </a:r>
            <a:r>
              <a:rPr lang="en-US" sz="2000" b="1" spc="114">
                <a:latin typeface="Times New Roman"/>
                <a:cs typeface="Times New Roman"/>
              </a:rPr>
              <a:t> </a:t>
            </a:r>
            <a:r>
              <a:rPr lang="en-US" sz="2000" b="1">
                <a:latin typeface="Times New Roman"/>
                <a:cs typeface="Times New Roman"/>
              </a:rPr>
              <a:t>sustainability:</a:t>
            </a:r>
            <a:r>
              <a:rPr lang="en-US" sz="2000" b="1" spc="120">
                <a:latin typeface="Times New Roman"/>
                <a:cs typeface="Times New Roman"/>
              </a:rPr>
              <a:t> </a:t>
            </a:r>
            <a:r>
              <a:rPr lang="en-US" sz="2000">
                <a:latin typeface="Times New Roman"/>
                <a:cs typeface="Times New Roman"/>
              </a:rPr>
              <a:t>Understand</a:t>
            </a:r>
            <a:r>
              <a:rPr lang="en-US" sz="2000" spc="130">
                <a:latin typeface="Times New Roman"/>
                <a:cs typeface="Times New Roman"/>
              </a:rPr>
              <a:t> </a:t>
            </a:r>
            <a:r>
              <a:rPr lang="en-US" sz="2000">
                <a:latin typeface="Times New Roman"/>
                <a:cs typeface="Times New Roman"/>
              </a:rPr>
              <a:t>the</a:t>
            </a:r>
            <a:r>
              <a:rPr lang="en-US" sz="2000" spc="110">
                <a:latin typeface="Times New Roman"/>
                <a:cs typeface="Times New Roman"/>
              </a:rPr>
              <a:t> </a:t>
            </a:r>
            <a:r>
              <a:rPr lang="en-US" sz="2000">
                <a:latin typeface="Times New Roman"/>
                <a:cs typeface="Times New Roman"/>
              </a:rPr>
              <a:t>impact</a:t>
            </a:r>
            <a:r>
              <a:rPr lang="en-US" sz="2000" spc="135">
                <a:latin typeface="Times New Roman"/>
                <a:cs typeface="Times New Roman"/>
              </a:rPr>
              <a:t> </a:t>
            </a:r>
            <a:r>
              <a:rPr lang="en-US" sz="2000">
                <a:latin typeface="Times New Roman"/>
                <a:cs typeface="Times New Roman"/>
              </a:rPr>
              <a:t>of</a:t>
            </a:r>
            <a:r>
              <a:rPr lang="en-US" sz="2000" spc="105">
                <a:latin typeface="Times New Roman"/>
                <a:cs typeface="Times New Roman"/>
              </a:rPr>
              <a:t> </a:t>
            </a:r>
            <a:r>
              <a:rPr lang="en-US" sz="2000">
                <a:latin typeface="Times New Roman"/>
                <a:cs typeface="Times New Roman"/>
              </a:rPr>
              <a:t>the</a:t>
            </a:r>
            <a:r>
              <a:rPr lang="en-US" sz="2000" spc="125">
                <a:latin typeface="Times New Roman"/>
                <a:cs typeface="Times New Roman"/>
              </a:rPr>
              <a:t> </a:t>
            </a:r>
            <a:r>
              <a:rPr lang="en-US" sz="2000">
                <a:latin typeface="Times New Roman"/>
                <a:cs typeface="Times New Roman"/>
              </a:rPr>
              <a:t>professional</a:t>
            </a:r>
            <a:r>
              <a:rPr lang="en-US" sz="2000" spc="130">
                <a:latin typeface="Times New Roman"/>
                <a:cs typeface="Times New Roman"/>
              </a:rPr>
              <a:t> </a:t>
            </a:r>
            <a:r>
              <a:rPr lang="en-US" sz="2000">
                <a:latin typeface="Times New Roman"/>
                <a:cs typeface="Times New Roman"/>
              </a:rPr>
              <a:t>engineering</a:t>
            </a:r>
            <a:r>
              <a:rPr lang="en-US" sz="2000" spc="135">
                <a:latin typeface="Times New Roman"/>
                <a:cs typeface="Times New Roman"/>
              </a:rPr>
              <a:t> </a:t>
            </a:r>
            <a:r>
              <a:rPr lang="en-US" sz="2000">
                <a:latin typeface="Times New Roman"/>
                <a:cs typeface="Times New Roman"/>
              </a:rPr>
              <a:t>solutions</a:t>
            </a:r>
            <a:r>
              <a:rPr lang="en-US" sz="2000" spc="105">
                <a:latin typeface="Times New Roman"/>
                <a:cs typeface="Times New Roman"/>
              </a:rPr>
              <a:t> </a:t>
            </a:r>
            <a:r>
              <a:rPr lang="en-US" sz="2000">
                <a:latin typeface="Times New Roman"/>
                <a:cs typeface="Times New Roman"/>
              </a:rPr>
              <a:t>in</a:t>
            </a:r>
            <a:r>
              <a:rPr lang="en-US" sz="2000" spc="120">
                <a:latin typeface="Times New Roman"/>
                <a:cs typeface="Times New Roman"/>
              </a:rPr>
              <a:t> </a:t>
            </a:r>
            <a:r>
              <a:rPr lang="en-US" sz="2000">
                <a:latin typeface="Times New Roman"/>
                <a:cs typeface="Times New Roman"/>
              </a:rPr>
              <a:t>societal</a:t>
            </a:r>
            <a:r>
              <a:rPr lang="en-US" sz="2000" spc="130">
                <a:latin typeface="Times New Roman"/>
                <a:cs typeface="Times New Roman"/>
              </a:rPr>
              <a:t> </a:t>
            </a:r>
            <a:r>
              <a:rPr lang="en-US" sz="2000" spc="-25">
                <a:latin typeface="Times New Roman"/>
                <a:cs typeface="Times New Roman"/>
              </a:rPr>
              <a:t>and </a:t>
            </a:r>
            <a:r>
              <a:rPr lang="en-US" sz="2000">
                <a:latin typeface="Times New Roman"/>
                <a:cs typeface="Times New Roman"/>
              </a:rPr>
              <a:t>environmental</a:t>
            </a:r>
            <a:r>
              <a:rPr lang="en-US" sz="2000" spc="-35">
                <a:latin typeface="Times New Roman"/>
                <a:cs typeface="Times New Roman"/>
              </a:rPr>
              <a:t> </a:t>
            </a:r>
            <a:r>
              <a:rPr lang="en-US" sz="2000">
                <a:latin typeface="Times New Roman"/>
                <a:cs typeface="Times New Roman"/>
              </a:rPr>
              <a:t>contexts,</a:t>
            </a:r>
            <a:r>
              <a:rPr lang="en-US" sz="2000" spc="-40">
                <a:latin typeface="Times New Roman"/>
                <a:cs typeface="Times New Roman"/>
              </a:rPr>
              <a:t> </a:t>
            </a:r>
            <a:r>
              <a:rPr lang="en-US" sz="2000">
                <a:latin typeface="Times New Roman"/>
                <a:cs typeface="Times New Roman"/>
              </a:rPr>
              <a:t>and</a:t>
            </a:r>
            <a:r>
              <a:rPr lang="en-US" sz="2000" spc="-20">
                <a:latin typeface="Times New Roman"/>
                <a:cs typeface="Times New Roman"/>
              </a:rPr>
              <a:t> </a:t>
            </a:r>
            <a:r>
              <a:rPr lang="en-US" sz="2000">
                <a:latin typeface="Times New Roman"/>
                <a:cs typeface="Times New Roman"/>
              </a:rPr>
              <a:t>demonstrate</a:t>
            </a:r>
            <a:r>
              <a:rPr lang="en-US" sz="2000" spc="-20">
                <a:latin typeface="Times New Roman"/>
                <a:cs typeface="Times New Roman"/>
              </a:rPr>
              <a:t> </a:t>
            </a:r>
            <a:r>
              <a:rPr lang="en-US" sz="2000">
                <a:latin typeface="Times New Roman"/>
                <a:cs typeface="Times New Roman"/>
              </a:rPr>
              <a:t>the</a:t>
            </a:r>
            <a:r>
              <a:rPr lang="en-US" sz="2000" spc="-25">
                <a:latin typeface="Times New Roman"/>
                <a:cs typeface="Times New Roman"/>
              </a:rPr>
              <a:t> </a:t>
            </a:r>
            <a:r>
              <a:rPr lang="en-US" sz="2000">
                <a:latin typeface="Times New Roman"/>
                <a:cs typeface="Times New Roman"/>
              </a:rPr>
              <a:t>knowledge</a:t>
            </a:r>
            <a:r>
              <a:rPr lang="en-US" sz="2000" spc="-25">
                <a:latin typeface="Times New Roman"/>
                <a:cs typeface="Times New Roman"/>
              </a:rPr>
              <a:t> </a:t>
            </a:r>
            <a:r>
              <a:rPr lang="en-US" sz="2000">
                <a:latin typeface="Times New Roman"/>
                <a:cs typeface="Times New Roman"/>
              </a:rPr>
              <a:t>of,</a:t>
            </a:r>
            <a:r>
              <a:rPr lang="en-US" sz="2000" spc="-25">
                <a:latin typeface="Times New Roman"/>
                <a:cs typeface="Times New Roman"/>
              </a:rPr>
              <a:t> </a:t>
            </a:r>
            <a:r>
              <a:rPr lang="en-US" sz="2000">
                <a:latin typeface="Times New Roman"/>
                <a:cs typeface="Times New Roman"/>
              </a:rPr>
              <a:t>and</a:t>
            </a:r>
            <a:r>
              <a:rPr lang="en-US" sz="2000" spc="-15">
                <a:latin typeface="Times New Roman"/>
                <a:cs typeface="Times New Roman"/>
              </a:rPr>
              <a:t> </a:t>
            </a:r>
            <a:r>
              <a:rPr lang="en-US" sz="2000">
                <a:latin typeface="Times New Roman"/>
                <a:cs typeface="Times New Roman"/>
              </a:rPr>
              <a:t>need</a:t>
            </a:r>
            <a:r>
              <a:rPr lang="en-US" sz="2000" spc="-15">
                <a:latin typeface="Times New Roman"/>
                <a:cs typeface="Times New Roman"/>
              </a:rPr>
              <a:t> </a:t>
            </a:r>
            <a:r>
              <a:rPr lang="en-US" sz="2000">
                <a:latin typeface="Times New Roman"/>
                <a:cs typeface="Times New Roman"/>
              </a:rPr>
              <a:t>for</a:t>
            </a:r>
            <a:r>
              <a:rPr lang="en-US" sz="2000" spc="-30">
                <a:latin typeface="Times New Roman"/>
                <a:cs typeface="Times New Roman"/>
              </a:rPr>
              <a:t> </a:t>
            </a:r>
            <a:r>
              <a:rPr lang="en-US" sz="2000">
                <a:latin typeface="Times New Roman"/>
                <a:cs typeface="Times New Roman"/>
              </a:rPr>
              <a:t>sustainable</a:t>
            </a:r>
            <a:r>
              <a:rPr lang="en-US" sz="2000" spc="-40">
                <a:latin typeface="Times New Roman"/>
                <a:cs typeface="Times New Roman"/>
              </a:rPr>
              <a:t> </a:t>
            </a:r>
            <a:r>
              <a:rPr lang="en-US" sz="2000" spc="-10">
                <a:latin typeface="Times New Roman"/>
                <a:cs typeface="Times New Roman"/>
              </a:rPr>
              <a:t>development.</a:t>
            </a:r>
            <a:endParaRPr lang="en-US" sz="2000">
              <a:latin typeface="Times New Roman"/>
              <a:cs typeface="Times New Roman"/>
            </a:endParaRPr>
          </a:p>
          <a:p>
            <a:pPr marL="196850" indent="-184150">
              <a:buFont typeface="Times New Roman"/>
              <a:buAutoNum type="arabicPeriod" startAt="6"/>
              <a:tabLst>
                <a:tab pos="196850" algn="l"/>
              </a:tabLst>
            </a:pPr>
            <a:r>
              <a:rPr lang="en-US" sz="2000" b="1">
                <a:latin typeface="Times New Roman"/>
                <a:cs typeface="Times New Roman"/>
              </a:rPr>
              <a:t>Ethics:</a:t>
            </a:r>
            <a:r>
              <a:rPr lang="en-US" sz="2000" b="1" spc="30">
                <a:latin typeface="Times New Roman"/>
                <a:cs typeface="Times New Roman"/>
              </a:rPr>
              <a:t> </a:t>
            </a:r>
            <a:r>
              <a:rPr lang="en-US" sz="2000">
                <a:latin typeface="Times New Roman"/>
                <a:cs typeface="Times New Roman"/>
              </a:rPr>
              <a:t>Apply</a:t>
            </a:r>
            <a:r>
              <a:rPr lang="en-US" sz="2000" spc="20">
                <a:latin typeface="Times New Roman"/>
                <a:cs typeface="Times New Roman"/>
              </a:rPr>
              <a:t> </a:t>
            </a:r>
            <a:r>
              <a:rPr lang="en-US" sz="2000">
                <a:latin typeface="Times New Roman"/>
                <a:cs typeface="Times New Roman"/>
              </a:rPr>
              <a:t>ethical</a:t>
            </a:r>
            <a:r>
              <a:rPr lang="en-US" sz="2000" spc="35">
                <a:latin typeface="Times New Roman"/>
                <a:cs typeface="Times New Roman"/>
              </a:rPr>
              <a:t> </a:t>
            </a:r>
            <a:r>
              <a:rPr lang="en-US" sz="2000">
                <a:latin typeface="Times New Roman"/>
                <a:cs typeface="Times New Roman"/>
              </a:rPr>
              <a:t>principles</a:t>
            </a:r>
            <a:r>
              <a:rPr lang="en-US" sz="2000" spc="40">
                <a:latin typeface="Times New Roman"/>
                <a:cs typeface="Times New Roman"/>
              </a:rPr>
              <a:t> </a:t>
            </a:r>
            <a:r>
              <a:rPr lang="en-US" sz="2000">
                <a:latin typeface="Times New Roman"/>
                <a:cs typeface="Times New Roman"/>
              </a:rPr>
              <a:t>and</a:t>
            </a:r>
            <a:r>
              <a:rPr lang="en-US" sz="2000" spc="40">
                <a:latin typeface="Times New Roman"/>
                <a:cs typeface="Times New Roman"/>
              </a:rPr>
              <a:t> </a:t>
            </a:r>
            <a:r>
              <a:rPr lang="en-US" sz="2000">
                <a:latin typeface="Times New Roman"/>
                <a:cs typeface="Times New Roman"/>
              </a:rPr>
              <a:t>commit</a:t>
            </a:r>
            <a:r>
              <a:rPr lang="en-US" sz="2000" spc="35">
                <a:latin typeface="Times New Roman"/>
                <a:cs typeface="Times New Roman"/>
              </a:rPr>
              <a:t> </a:t>
            </a:r>
            <a:r>
              <a:rPr lang="en-US" sz="2000">
                <a:latin typeface="Times New Roman"/>
                <a:cs typeface="Times New Roman"/>
              </a:rPr>
              <a:t>to</a:t>
            </a:r>
            <a:r>
              <a:rPr lang="en-US" sz="2000" spc="35">
                <a:latin typeface="Times New Roman"/>
                <a:cs typeface="Times New Roman"/>
              </a:rPr>
              <a:t> </a:t>
            </a:r>
            <a:r>
              <a:rPr lang="en-US" sz="2000">
                <a:latin typeface="Times New Roman"/>
                <a:cs typeface="Times New Roman"/>
              </a:rPr>
              <a:t>professional</a:t>
            </a:r>
            <a:r>
              <a:rPr lang="en-US" sz="2000" spc="40">
                <a:latin typeface="Times New Roman"/>
                <a:cs typeface="Times New Roman"/>
              </a:rPr>
              <a:t> </a:t>
            </a:r>
            <a:r>
              <a:rPr lang="en-US" sz="2000">
                <a:latin typeface="Times New Roman"/>
                <a:cs typeface="Times New Roman"/>
              </a:rPr>
              <a:t>ethics</a:t>
            </a:r>
            <a:r>
              <a:rPr lang="en-US" sz="2000" spc="40">
                <a:latin typeface="Times New Roman"/>
                <a:cs typeface="Times New Roman"/>
              </a:rPr>
              <a:t> </a:t>
            </a:r>
            <a:r>
              <a:rPr lang="en-US" sz="2000">
                <a:latin typeface="Times New Roman"/>
                <a:cs typeface="Times New Roman"/>
              </a:rPr>
              <a:t>and</a:t>
            </a:r>
            <a:r>
              <a:rPr lang="en-US" sz="2000" spc="35">
                <a:latin typeface="Times New Roman"/>
                <a:cs typeface="Times New Roman"/>
              </a:rPr>
              <a:t> </a:t>
            </a:r>
            <a:r>
              <a:rPr lang="en-US" sz="2000">
                <a:latin typeface="Times New Roman"/>
                <a:cs typeface="Times New Roman"/>
              </a:rPr>
              <a:t>responsibilities</a:t>
            </a:r>
            <a:r>
              <a:rPr lang="en-US" sz="2000" spc="35">
                <a:latin typeface="Times New Roman"/>
                <a:cs typeface="Times New Roman"/>
              </a:rPr>
              <a:t> </a:t>
            </a:r>
            <a:r>
              <a:rPr lang="en-US" sz="2000">
                <a:latin typeface="Times New Roman"/>
                <a:cs typeface="Times New Roman"/>
              </a:rPr>
              <a:t>and</a:t>
            </a:r>
            <a:r>
              <a:rPr lang="en-US" sz="2000" spc="35">
                <a:latin typeface="Times New Roman"/>
                <a:cs typeface="Times New Roman"/>
              </a:rPr>
              <a:t> </a:t>
            </a:r>
            <a:r>
              <a:rPr lang="en-US" sz="2000">
                <a:latin typeface="Times New Roman"/>
                <a:cs typeface="Times New Roman"/>
              </a:rPr>
              <a:t>norms</a:t>
            </a:r>
            <a:r>
              <a:rPr lang="en-US" sz="2000" spc="30">
                <a:latin typeface="Times New Roman"/>
                <a:cs typeface="Times New Roman"/>
              </a:rPr>
              <a:t> </a:t>
            </a:r>
            <a:r>
              <a:rPr lang="en-US" sz="2000">
                <a:latin typeface="Times New Roman"/>
                <a:cs typeface="Times New Roman"/>
              </a:rPr>
              <a:t>of</a:t>
            </a:r>
            <a:r>
              <a:rPr lang="en-US" sz="2000" spc="30">
                <a:latin typeface="Times New Roman"/>
                <a:cs typeface="Times New Roman"/>
              </a:rPr>
              <a:t> </a:t>
            </a:r>
            <a:r>
              <a:rPr lang="en-US" sz="2000">
                <a:latin typeface="Times New Roman"/>
                <a:cs typeface="Times New Roman"/>
              </a:rPr>
              <a:t>the</a:t>
            </a:r>
            <a:r>
              <a:rPr lang="en-US" sz="2000" spc="30">
                <a:latin typeface="Times New Roman"/>
                <a:cs typeface="Times New Roman"/>
              </a:rPr>
              <a:t> </a:t>
            </a:r>
            <a:r>
              <a:rPr lang="en-US" sz="2000" spc="-10">
                <a:latin typeface="Times New Roman"/>
                <a:cs typeface="Times New Roman"/>
              </a:rPr>
              <a:t>engineering practice.</a:t>
            </a:r>
            <a:endParaRPr lang="en-US" sz="2000">
              <a:latin typeface="Times New Roman"/>
              <a:cs typeface="Times New Roman"/>
            </a:endParaRPr>
          </a:p>
          <a:p>
            <a:pPr marL="12700" algn="just">
              <a:spcBef>
                <a:spcPts val="260"/>
              </a:spcBef>
              <a:tabLst>
                <a:tab pos="217804" algn="l"/>
              </a:tabLst>
            </a:pPr>
            <a:endParaRPr lang="en-US" sz="2000" spc="-10">
              <a:latin typeface="Times New Roman"/>
              <a:cs typeface="Times New Roman"/>
            </a:endParaRPr>
          </a:p>
        </p:txBody>
      </p:sp>
    </p:spTree>
    <p:extLst>
      <p:ext uri="{BB962C8B-B14F-4D97-AF65-F5344CB8AC3E}">
        <p14:creationId xmlns:p14="http://schemas.microsoft.com/office/powerpoint/2010/main" val="183737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659016-F3BA-134A-9E18-78D99FFA1CD5}"/>
              </a:ext>
            </a:extLst>
          </p:cNvPr>
          <p:cNvSpPr txBox="1"/>
          <p:nvPr/>
        </p:nvSpPr>
        <p:spPr>
          <a:xfrm>
            <a:off x="85563" y="1592876"/>
            <a:ext cx="8972874" cy="4426853"/>
          </a:xfrm>
          <a:prstGeom prst="rect">
            <a:avLst/>
          </a:prstGeom>
          <a:noFill/>
        </p:spPr>
        <p:txBody>
          <a:bodyPr wrap="square">
            <a:spAutoFit/>
          </a:bodyPr>
          <a:lstStyle/>
          <a:p>
            <a:pPr marL="12700" marR="6985" algn="just">
              <a:tabLst>
                <a:tab pos="286385" algn="l"/>
              </a:tabLst>
            </a:pPr>
            <a:r>
              <a:rPr lang="en-US" sz="2000" b="1">
                <a:latin typeface="Times New Roman"/>
                <a:cs typeface="Times New Roman"/>
              </a:rPr>
              <a:t>9.Individual</a:t>
            </a:r>
            <a:r>
              <a:rPr lang="en-US" sz="2000" b="1" spc="-20">
                <a:latin typeface="Times New Roman"/>
                <a:cs typeface="Times New Roman"/>
              </a:rPr>
              <a:t> </a:t>
            </a:r>
            <a:r>
              <a:rPr lang="en-US" sz="2000" b="1">
                <a:latin typeface="Times New Roman"/>
                <a:cs typeface="Times New Roman"/>
              </a:rPr>
              <a:t>and</a:t>
            </a:r>
            <a:r>
              <a:rPr lang="en-US" sz="2000" b="1" spc="-10">
                <a:latin typeface="Times New Roman"/>
                <a:cs typeface="Times New Roman"/>
              </a:rPr>
              <a:t> </a:t>
            </a:r>
            <a:r>
              <a:rPr lang="en-US" sz="2000" b="1">
                <a:latin typeface="Times New Roman"/>
                <a:cs typeface="Times New Roman"/>
              </a:rPr>
              <a:t>team</a:t>
            </a:r>
            <a:r>
              <a:rPr lang="en-US" sz="2000" b="1" spc="-30">
                <a:latin typeface="Times New Roman"/>
                <a:cs typeface="Times New Roman"/>
              </a:rPr>
              <a:t> </a:t>
            </a:r>
            <a:r>
              <a:rPr lang="en-US" sz="2000" b="1">
                <a:latin typeface="Times New Roman"/>
                <a:cs typeface="Times New Roman"/>
              </a:rPr>
              <a:t>work:</a:t>
            </a:r>
            <a:r>
              <a:rPr lang="en-US" sz="2000" b="1" spc="-10">
                <a:latin typeface="Times New Roman"/>
                <a:cs typeface="Times New Roman"/>
              </a:rPr>
              <a:t> </a:t>
            </a:r>
            <a:r>
              <a:rPr lang="en-US" sz="2000">
                <a:latin typeface="Times New Roman"/>
                <a:cs typeface="Times New Roman"/>
              </a:rPr>
              <a:t>Function</a:t>
            </a:r>
            <a:r>
              <a:rPr lang="en-US" sz="2000" spc="-5">
                <a:latin typeface="Times New Roman"/>
                <a:cs typeface="Times New Roman"/>
              </a:rPr>
              <a:t> </a:t>
            </a:r>
            <a:r>
              <a:rPr lang="en-US" sz="2000">
                <a:latin typeface="Times New Roman"/>
                <a:cs typeface="Times New Roman"/>
              </a:rPr>
              <a:t>effectively</a:t>
            </a:r>
            <a:r>
              <a:rPr lang="en-US" sz="2000" spc="-25">
                <a:latin typeface="Times New Roman"/>
                <a:cs typeface="Times New Roman"/>
              </a:rPr>
              <a:t> </a:t>
            </a:r>
            <a:r>
              <a:rPr lang="en-US" sz="2000">
                <a:latin typeface="Times New Roman"/>
                <a:cs typeface="Times New Roman"/>
              </a:rPr>
              <a:t>as</a:t>
            </a:r>
            <a:r>
              <a:rPr lang="en-US" sz="2000" spc="-5">
                <a:latin typeface="Times New Roman"/>
                <a:cs typeface="Times New Roman"/>
              </a:rPr>
              <a:t> </a:t>
            </a:r>
            <a:r>
              <a:rPr lang="en-US" sz="2000">
                <a:latin typeface="Times New Roman"/>
                <a:cs typeface="Times New Roman"/>
              </a:rPr>
              <a:t>an</a:t>
            </a:r>
            <a:r>
              <a:rPr lang="en-US" sz="2000" spc="-10">
                <a:latin typeface="Times New Roman"/>
                <a:cs typeface="Times New Roman"/>
              </a:rPr>
              <a:t> </a:t>
            </a:r>
            <a:r>
              <a:rPr lang="en-US" sz="2000">
                <a:latin typeface="Times New Roman"/>
                <a:cs typeface="Times New Roman"/>
              </a:rPr>
              <a:t>individual,</a:t>
            </a:r>
            <a:r>
              <a:rPr lang="en-US" sz="2000" spc="-5">
                <a:latin typeface="Times New Roman"/>
                <a:cs typeface="Times New Roman"/>
              </a:rPr>
              <a:t> </a:t>
            </a:r>
            <a:r>
              <a:rPr lang="en-US" sz="2000">
                <a:latin typeface="Times New Roman"/>
                <a:cs typeface="Times New Roman"/>
              </a:rPr>
              <a:t>and</a:t>
            </a:r>
            <a:r>
              <a:rPr lang="en-US" sz="2000" spc="-10">
                <a:latin typeface="Times New Roman"/>
                <a:cs typeface="Times New Roman"/>
              </a:rPr>
              <a:t> </a:t>
            </a:r>
            <a:r>
              <a:rPr lang="en-US" sz="2000">
                <a:latin typeface="Times New Roman"/>
                <a:cs typeface="Times New Roman"/>
              </a:rPr>
              <a:t>as</a:t>
            </a:r>
            <a:r>
              <a:rPr lang="en-US" sz="2000" spc="-5">
                <a:latin typeface="Times New Roman"/>
                <a:cs typeface="Times New Roman"/>
              </a:rPr>
              <a:t> </a:t>
            </a:r>
            <a:r>
              <a:rPr lang="en-US" sz="2000">
                <a:latin typeface="Times New Roman"/>
                <a:cs typeface="Times New Roman"/>
              </a:rPr>
              <a:t>a member</a:t>
            </a:r>
            <a:r>
              <a:rPr lang="en-US" sz="2000" spc="-15">
                <a:latin typeface="Times New Roman"/>
                <a:cs typeface="Times New Roman"/>
              </a:rPr>
              <a:t> </a:t>
            </a:r>
            <a:r>
              <a:rPr lang="en-US" sz="2000">
                <a:latin typeface="Times New Roman"/>
                <a:cs typeface="Times New Roman"/>
              </a:rPr>
              <a:t>or</a:t>
            </a:r>
            <a:r>
              <a:rPr lang="en-US" sz="2000" spc="-25">
                <a:latin typeface="Times New Roman"/>
                <a:cs typeface="Times New Roman"/>
              </a:rPr>
              <a:t> </a:t>
            </a:r>
            <a:r>
              <a:rPr lang="en-US" sz="2000">
                <a:latin typeface="Times New Roman"/>
                <a:cs typeface="Times New Roman"/>
              </a:rPr>
              <a:t>leader</a:t>
            </a:r>
            <a:r>
              <a:rPr lang="en-US" sz="2000" spc="-5">
                <a:latin typeface="Times New Roman"/>
                <a:cs typeface="Times New Roman"/>
              </a:rPr>
              <a:t> </a:t>
            </a:r>
            <a:r>
              <a:rPr lang="en-US" sz="2000">
                <a:latin typeface="Times New Roman"/>
                <a:cs typeface="Times New Roman"/>
              </a:rPr>
              <a:t>in</a:t>
            </a:r>
            <a:r>
              <a:rPr lang="en-US" sz="2000" spc="-10">
                <a:latin typeface="Times New Roman"/>
                <a:cs typeface="Times New Roman"/>
              </a:rPr>
              <a:t> </a:t>
            </a:r>
            <a:r>
              <a:rPr lang="en-US" sz="2000">
                <a:latin typeface="Times New Roman"/>
                <a:cs typeface="Times New Roman"/>
              </a:rPr>
              <a:t>diverse</a:t>
            </a:r>
            <a:r>
              <a:rPr lang="en-US" sz="2000" spc="-5">
                <a:latin typeface="Times New Roman"/>
                <a:cs typeface="Times New Roman"/>
              </a:rPr>
              <a:t> </a:t>
            </a:r>
            <a:r>
              <a:rPr lang="en-US" sz="2000">
                <a:latin typeface="Times New Roman"/>
                <a:cs typeface="Times New Roman"/>
              </a:rPr>
              <a:t>teams,</a:t>
            </a:r>
            <a:r>
              <a:rPr lang="en-US" sz="2000" spc="-15">
                <a:latin typeface="Times New Roman"/>
                <a:cs typeface="Times New Roman"/>
              </a:rPr>
              <a:t> </a:t>
            </a:r>
            <a:r>
              <a:rPr lang="en-US" sz="2000">
                <a:latin typeface="Times New Roman"/>
                <a:cs typeface="Times New Roman"/>
              </a:rPr>
              <a:t>and</a:t>
            </a:r>
            <a:r>
              <a:rPr lang="en-US" sz="2000" spc="-10">
                <a:latin typeface="Times New Roman"/>
                <a:cs typeface="Times New Roman"/>
              </a:rPr>
              <a:t> </a:t>
            </a:r>
            <a:r>
              <a:rPr lang="en-US" sz="2000" spc="-25">
                <a:latin typeface="Times New Roman"/>
                <a:cs typeface="Times New Roman"/>
              </a:rPr>
              <a:t>in </a:t>
            </a:r>
            <a:r>
              <a:rPr lang="en-US" sz="2000" spc="-10">
                <a:latin typeface="Times New Roman"/>
                <a:cs typeface="Times New Roman"/>
              </a:rPr>
              <a:t>multidisciplinary</a:t>
            </a:r>
            <a:r>
              <a:rPr lang="en-US" sz="2000" spc="75">
                <a:latin typeface="Times New Roman"/>
                <a:cs typeface="Times New Roman"/>
              </a:rPr>
              <a:t> </a:t>
            </a:r>
            <a:r>
              <a:rPr lang="en-US" sz="2000" spc="-10">
                <a:latin typeface="Times New Roman"/>
                <a:cs typeface="Times New Roman"/>
              </a:rPr>
              <a:t>settings.</a:t>
            </a:r>
            <a:endParaRPr lang="en-US" sz="2000" b="1">
              <a:latin typeface="Times New Roman"/>
              <a:cs typeface="Times New Roman"/>
            </a:endParaRPr>
          </a:p>
          <a:p>
            <a:pPr marL="12700" marR="6985" algn="just">
              <a:tabLst>
                <a:tab pos="286385" algn="l"/>
              </a:tabLst>
            </a:pPr>
            <a:r>
              <a:rPr lang="en-US" sz="2000" b="1">
                <a:latin typeface="Times New Roman"/>
                <a:cs typeface="Times New Roman"/>
              </a:rPr>
              <a:t>10.Communication: </a:t>
            </a:r>
            <a:r>
              <a:rPr lang="en-US" sz="2000">
                <a:latin typeface="Times New Roman"/>
                <a:cs typeface="Times New Roman"/>
              </a:rPr>
              <a:t>Communicate</a:t>
            </a:r>
            <a:r>
              <a:rPr lang="en-US" sz="2000" spc="20">
                <a:latin typeface="Times New Roman"/>
                <a:cs typeface="Times New Roman"/>
              </a:rPr>
              <a:t> </a:t>
            </a:r>
            <a:r>
              <a:rPr lang="en-US" sz="2000">
                <a:latin typeface="Times New Roman"/>
                <a:cs typeface="Times New Roman"/>
              </a:rPr>
              <a:t>effectively</a:t>
            </a:r>
            <a:r>
              <a:rPr lang="en-US" sz="2000" spc="-10">
                <a:latin typeface="Times New Roman"/>
                <a:cs typeface="Times New Roman"/>
              </a:rPr>
              <a:t> </a:t>
            </a:r>
            <a:r>
              <a:rPr lang="en-US" sz="2000">
                <a:latin typeface="Times New Roman"/>
                <a:cs typeface="Times New Roman"/>
              </a:rPr>
              <a:t>on</a:t>
            </a:r>
            <a:r>
              <a:rPr lang="en-US" sz="2000" spc="5">
                <a:latin typeface="Times New Roman"/>
                <a:cs typeface="Times New Roman"/>
              </a:rPr>
              <a:t> </a:t>
            </a:r>
            <a:r>
              <a:rPr lang="en-US" sz="2000">
                <a:latin typeface="Times New Roman"/>
                <a:cs typeface="Times New Roman"/>
              </a:rPr>
              <a:t>complex</a:t>
            </a:r>
            <a:r>
              <a:rPr lang="en-US" sz="2000" spc="10">
                <a:latin typeface="Times New Roman"/>
                <a:cs typeface="Times New Roman"/>
              </a:rPr>
              <a:t> </a:t>
            </a:r>
            <a:r>
              <a:rPr lang="en-US" sz="2000">
                <a:latin typeface="Times New Roman"/>
                <a:cs typeface="Times New Roman"/>
              </a:rPr>
              <a:t>engineering</a:t>
            </a:r>
            <a:r>
              <a:rPr lang="en-US" sz="2000" spc="20">
                <a:latin typeface="Times New Roman"/>
                <a:cs typeface="Times New Roman"/>
              </a:rPr>
              <a:t> </a:t>
            </a:r>
            <a:r>
              <a:rPr lang="en-US" sz="2000">
                <a:latin typeface="Times New Roman"/>
                <a:cs typeface="Times New Roman"/>
              </a:rPr>
              <a:t>activities</a:t>
            </a:r>
            <a:r>
              <a:rPr lang="en-US" sz="2000" spc="15">
                <a:latin typeface="Times New Roman"/>
                <a:cs typeface="Times New Roman"/>
              </a:rPr>
              <a:t> </a:t>
            </a:r>
            <a:r>
              <a:rPr lang="en-US" sz="2000">
                <a:latin typeface="Times New Roman"/>
                <a:cs typeface="Times New Roman"/>
              </a:rPr>
              <a:t>with</a:t>
            </a:r>
            <a:r>
              <a:rPr lang="en-US" sz="2000" spc="15">
                <a:latin typeface="Times New Roman"/>
                <a:cs typeface="Times New Roman"/>
              </a:rPr>
              <a:t> </a:t>
            </a:r>
            <a:r>
              <a:rPr lang="en-US" sz="2000">
                <a:latin typeface="Times New Roman"/>
                <a:cs typeface="Times New Roman"/>
              </a:rPr>
              <a:t>the</a:t>
            </a:r>
            <a:r>
              <a:rPr lang="en-US" sz="2000" spc="10">
                <a:latin typeface="Times New Roman"/>
                <a:cs typeface="Times New Roman"/>
              </a:rPr>
              <a:t> </a:t>
            </a:r>
            <a:r>
              <a:rPr lang="en-US" sz="2000">
                <a:latin typeface="Times New Roman"/>
                <a:cs typeface="Times New Roman"/>
              </a:rPr>
              <a:t>engineering</a:t>
            </a:r>
            <a:r>
              <a:rPr lang="en-US" sz="2000" spc="25">
                <a:latin typeface="Times New Roman"/>
                <a:cs typeface="Times New Roman"/>
              </a:rPr>
              <a:t> </a:t>
            </a:r>
            <a:r>
              <a:rPr lang="en-US" sz="2000">
                <a:latin typeface="Times New Roman"/>
                <a:cs typeface="Times New Roman"/>
              </a:rPr>
              <a:t>community </a:t>
            </a:r>
            <a:r>
              <a:rPr lang="en-US" sz="2000" spc="-25">
                <a:latin typeface="Times New Roman"/>
                <a:cs typeface="Times New Roman"/>
              </a:rPr>
              <a:t>and </a:t>
            </a:r>
            <a:r>
              <a:rPr lang="en-US" sz="2000">
                <a:latin typeface="Times New Roman"/>
                <a:cs typeface="Times New Roman"/>
              </a:rPr>
              <a:t>with</a:t>
            </a:r>
            <a:r>
              <a:rPr lang="en-US" sz="2000" spc="120">
                <a:latin typeface="Times New Roman"/>
                <a:cs typeface="Times New Roman"/>
              </a:rPr>
              <a:t> </a:t>
            </a:r>
            <a:r>
              <a:rPr lang="en-US" sz="2000">
                <a:latin typeface="Times New Roman"/>
                <a:cs typeface="Times New Roman"/>
              </a:rPr>
              <a:t>society</a:t>
            </a:r>
            <a:r>
              <a:rPr lang="en-US" sz="2000" spc="105">
                <a:latin typeface="Times New Roman"/>
                <a:cs typeface="Times New Roman"/>
              </a:rPr>
              <a:t> </a:t>
            </a:r>
            <a:r>
              <a:rPr lang="en-US" sz="2000">
                <a:latin typeface="Times New Roman"/>
                <a:cs typeface="Times New Roman"/>
              </a:rPr>
              <a:t>at</a:t>
            </a:r>
            <a:r>
              <a:rPr lang="en-US" sz="2000" spc="120">
                <a:latin typeface="Times New Roman"/>
                <a:cs typeface="Times New Roman"/>
              </a:rPr>
              <a:t> </a:t>
            </a:r>
            <a:r>
              <a:rPr lang="en-US" sz="2000">
                <a:latin typeface="Times New Roman"/>
                <a:cs typeface="Times New Roman"/>
              </a:rPr>
              <a:t>large,</a:t>
            </a:r>
            <a:r>
              <a:rPr lang="en-US" sz="2000" spc="105">
                <a:latin typeface="Times New Roman"/>
                <a:cs typeface="Times New Roman"/>
              </a:rPr>
              <a:t> </a:t>
            </a:r>
            <a:r>
              <a:rPr lang="en-US" sz="2000">
                <a:latin typeface="Times New Roman"/>
                <a:cs typeface="Times New Roman"/>
              </a:rPr>
              <a:t>such</a:t>
            </a:r>
            <a:r>
              <a:rPr lang="en-US" sz="2000" spc="125">
                <a:latin typeface="Times New Roman"/>
                <a:cs typeface="Times New Roman"/>
              </a:rPr>
              <a:t> </a:t>
            </a:r>
            <a:r>
              <a:rPr lang="en-US" sz="2000">
                <a:latin typeface="Times New Roman"/>
                <a:cs typeface="Times New Roman"/>
              </a:rPr>
              <a:t>as,</a:t>
            </a:r>
            <a:r>
              <a:rPr lang="en-US" sz="2000" spc="114">
                <a:latin typeface="Times New Roman"/>
                <a:cs typeface="Times New Roman"/>
              </a:rPr>
              <a:t> </a:t>
            </a:r>
            <a:r>
              <a:rPr lang="en-US" sz="2000">
                <a:latin typeface="Times New Roman"/>
                <a:cs typeface="Times New Roman"/>
              </a:rPr>
              <a:t>being</a:t>
            </a:r>
            <a:r>
              <a:rPr lang="en-US" sz="2000" spc="125">
                <a:latin typeface="Times New Roman"/>
                <a:cs typeface="Times New Roman"/>
              </a:rPr>
              <a:t> </a:t>
            </a:r>
            <a:r>
              <a:rPr lang="en-US" sz="2000">
                <a:latin typeface="Times New Roman"/>
                <a:cs typeface="Times New Roman"/>
              </a:rPr>
              <a:t>able</a:t>
            </a:r>
            <a:r>
              <a:rPr lang="en-US" sz="2000" spc="105">
                <a:latin typeface="Times New Roman"/>
                <a:cs typeface="Times New Roman"/>
              </a:rPr>
              <a:t> </a:t>
            </a:r>
            <a:r>
              <a:rPr lang="en-US" sz="2000">
                <a:latin typeface="Times New Roman"/>
                <a:cs typeface="Times New Roman"/>
              </a:rPr>
              <a:t>to</a:t>
            </a:r>
            <a:r>
              <a:rPr lang="en-US" sz="2000" spc="120">
                <a:latin typeface="Times New Roman"/>
                <a:cs typeface="Times New Roman"/>
              </a:rPr>
              <a:t> </a:t>
            </a:r>
            <a:r>
              <a:rPr lang="en-US" sz="2000">
                <a:latin typeface="Times New Roman"/>
                <a:cs typeface="Times New Roman"/>
              </a:rPr>
              <a:t>comprehend</a:t>
            </a:r>
            <a:r>
              <a:rPr lang="en-US" sz="2000" spc="125">
                <a:latin typeface="Times New Roman"/>
                <a:cs typeface="Times New Roman"/>
              </a:rPr>
              <a:t> </a:t>
            </a:r>
            <a:r>
              <a:rPr lang="en-US" sz="2000">
                <a:latin typeface="Times New Roman"/>
                <a:cs typeface="Times New Roman"/>
              </a:rPr>
              <a:t>and</a:t>
            </a:r>
            <a:r>
              <a:rPr lang="en-US" sz="2000" spc="110">
                <a:latin typeface="Times New Roman"/>
                <a:cs typeface="Times New Roman"/>
              </a:rPr>
              <a:t> </a:t>
            </a:r>
            <a:r>
              <a:rPr lang="en-US" sz="2000">
                <a:latin typeface="Times New Roman"/>
                <a:cs typeface="Times New Roman"/>
              </a:rPr>
              <a:t>write</a:t>
            </a:r>
            <a:r>
              <a:rPr lang="en-US" sz="2000" spc="120">
                <a:latin typeface="Times New Roman"/>
                <a:cs typeface="Times New Roman"/>
              </a:rPr>
              <a:t> </a:t>
            </a:r>
            <a:r>
              <a:rPr lang="en-US" sz="2000">
                <a:latin typeface="Times New Roman"/>
                <a:cs typeface="Times New Roman"/>
              </a:rPr>
              <a:t>effective</a:t>
            </a:r>
            <a:r>
              <a:rPr lang="en-US" sz="2000" spc="125">
                <a:latin typeface="Times New Roman"/>
                <a:cs typeface="Times New Roman"/>
              </a:rPr>
              <a:t> </a:t>
            </a:r>
            <a:r>
              <a:rPr lang="en-US" sz="2000">
                <a:latin typeface="Times New Roman"/>
                <a:cs typeface="Times New Roman"/>
              </a:rPr>
              <a:t>reports</a:t>
            </a:r>
            <a:r>
              <a:rPr lang="en-US" sz="2000" spc="120">
                <a:latin typeface="Times New Roman"/>
                <a:cs typeface="Times New Roman"/>
              </a:rPr>
              <a:t> </a:t>
            </a:r>
            <a:r>
              <a:rPr lang="en-US" sz="2000">
                <a:latin typeface="Times New Roman"/>
                <a:cs typeface="Times New Roman"/>
              </a:rPr>
              <a:t>and</a:t>
            </a:r>
            <a:r>
              <a:rPr lang="en-US" sz="2000" spc="110">
                <a:latin typeface="Times New Roman"/>
                <a:cs typeface="Times New Roman"/>
              </a:rPr>
              <a:t> </a:t>
            </a:r>
            <a:r>
              <a:rPr lang="en-US" sz="2000">
                <a:latin typeface="Times New Roman"/>
                <a:cs typeface="Times New Roman"/>
              </a:rPr>
              <a:t>design</a:t>
            </a:r>
            <a:r>
              <a:rPr lang="en-US" sz="2000" spc="125">
                <a:latin typeface="Times New Roman"/>
                <a:cs typeface="Times New Roman"/>
              </a:rPr>
              <a:t> </a:t>
            </a:r>
            <a:r>
              <a:rPr lang="en-US" sz="2000">
                <a:latin typeface="Times New Roman"/>
                <a:cs typeface="Times New Roman"/>
              </a:rPr>
              <a:t>documentation,</a:t>
            </a:r>
            <a:r>
              <a:rPr lang="en-US" sz="2000" spc="120">
                <a:latin typeface="Times New Roman"/>
                <a:cs typeface="Times New Roman"/>
              </a:rPr>
              <a:t> </a:t>
            </a:r>
            <a:r>
              <a:rPr lang="en-US" sz="2000" spc="-20">
                <a:latin typeface="Times New Roman"/>
                <a:cs typeface="Times New Roman"/>
              </a:rPr>
              <a:t>make </a:t>
            </a:r>
            <a:r>
              <a:rPr lang="en-US" sz="2000">
                <a:latin typeface="Times New Roman"/>
                <a:cs typeface="Times New Roman"/>
              </a:rPr>
              <a:t>effective</a:t>
            </a:r>
            <a:r>
              <a:rPr lang="en-US" sz="2000" spc="-35">
                <a:latin typeface="Times New Roman"/>
                <a:cs typeface="Times New Roman"/>
              </a:rPr>
              <a:t> </a:t>
            </a:r>
            <a:r>
              <a:rPr lang="en-US" sz="2000">
                <a:latin typeface="Times New Roman"/>
                <a:cs typeface="Times New Roman"/>
              </a:rPr>
              <a:t>presentations,</a:t>
            </a:r>
            <a:r>
              <a:rPr lang="en-US" sz="2000" spc="-40">
                <a:latin typeface="Times New Roman"/>
                <a:cs typeface="Times New Roman"/>
              </a:rPr>
              <a:t> </a:t>
            </a:r>
            <a:r>
              <a:rPr lang="en-US" sz="2000">
                <a:latin typeface="Times New Roman"/>
                <a:cs typeface="Times New Roman"/>
              </a:rPr>
              <a:t>and</a:t>
            </a:r>
            <a:r>
              <a:rPr lang="en-US" sz="2000" spc="-15">
                <a:latin typeface="Times New Roman"/>
                <a:cs typeface="Times New Roman"/>
              </a:rPr>
              <a:t> </a:t>
            </a:r>
            <a:r>
              <a:rPr lang="en-US" sz="2000">
                <a:latin typeface="Times New Roman"/>
                <a:cs typeface="Times New Roman"/>
              </a:rPr>
              <a:t>give</a:t>
            </a:r>
            <a:r>
              <a:rPr lang="en-US" sz="2000" spc="-15">
                <a:latin typeface="Times New Roman"/>
                <a:cs typeface="Times New Roman"/>
              </a:rPr>
              <a:t> </a:t>
            </a:r>
            <a:r>
              <a:rPr lang="en-US" sz="2000">
                <a:latin typeface="Times New Roman"/>
                <a:cs typeface="Times New Roman"/>
              </a:rPr>
              <a:t>and</a:t>
            </a:r>
            <a:r>
              <a:rPr lang="en-US" sz="2000" spc="-5">
                <a:latin typeface="Times New Roman"/>
                <a:cs typeface="Times New Roman"/>
              </a:rPr>
              <a:t> </a:t>
            </a:r>
            <a:r>
              <a:rPr lang="en-US" sz="2000">
                <a:latin typeface="Times New Roman"/>
                <a:cs typeface="Times New Roman"/>
              </a:rPr>
              <a:t>receive</a:t>
            </a:r>
            <a:r>
              <a:rPr lang="en-US" sz="2000" spc="-30">
                <a:latin typeface="Times New Roman"/>
                <a:cs typeface="Times New Roman"/>
              </a:rPr>
              <a:t> </a:t>
            </a:r>
            <a:r>
              <a:rPr lang="en-US" sz="2000">
                <a:latin typeface="Times New Roman"/>
                <a:cs typeface="Times New Roman"/>
              </a:rPr>
              <a:t>clear</a:t>
            </a:r>
            <a:r>
              <a:rPr lang="en-US" sz="2000" spc="-5">
                <a:latin typeface="Times New Roman"/>
                <a:cs typeface="Times New Roman"/>
              </a:rPr>
              <a:t> </a:t>
            </a:r>
            <a:r>
              <a:rPr lang="en-US" sz="2000" spc="-10">
                <a:latin typeface="Times New Roman"/>
                <a:cs typeface="Times New Roman"/>
              </a:rPr>
              <a:t>instructions.</a:t>
            </a:r>
          </a:p>
          <a:p>
            <a:pPr marL="12700" marR="5080" indent="270510" algn="just">
              <a:spcBef>
                <a:spcPts val="100"/>
              </a:spcBef>
              <a:buFont typeface="Times New Roman"/>
              <a:buAutoNum type="arabicPeriod" startAt="11"/>
              <a:tabLst>
                <a:tab pos="283210" algn="l"/>
                <a:tab pos="7597140" algn="l"/>
              </a:tabLst>
            </a:pPr>
            <a:r>
              <a:rPr lang="en-US" sz="2000" b="1">
                <a:latin typeface="Times New Roman"/>
                <a:cs typeface="Times New Roman"/>
              </a:rPr>
              <a:t>Project</a:t>
            </a:r>
            <a:r>
              <a:rPr lang="en-US" sz="2000" b="1" spc="-15">
                <a:latin typeface="Times New Roman"/>
                <a:cs typeface="Times New Roman"/>
              </a:rPr>
              <a:t> </a:t>
            </a:r>
            <a:r>
              <a:rPr lang="en-US" sz="2000" b="1">
                <a:latin typeface="Times New Roman"/>
                <a:cs typeface="Times New Roman"/>
              </a:rPr>
              <a:t>management</a:t>
            </a:r>
            <a:r>
              <a:rPr lang="en-US" sz="2000" b="1" spc="-15">
                <a:latin typeface="Times New Roman"/>
                <a:cs typeface="Times New Roman"/>
              </a:rPr>
              <a:t> </a:t>
            </a:r>
            <a:r>
              <a:rPr lang="en-US" sz="2000" b="1">
                <a:latin typeface="Times New Roman"/>
                <a:cs typeface="Times New Roman"/>
              </a:rPr>
              <a:t>and</a:t>
            </a:r>
            <a:r>
              <a:rPr lang="en-US" sz="2000" b="1" spc="-15">
                <a:latin typeface="Times New Roman"/>
                <a:cs typeface="Times New Roman"/>
              </a:rPr>
              <a:t> </a:t>
            </a:r>
            <a:r>
              <a:rPr lang="en-US" sz="2000" b="1">
                <a:latin typeface="Times New Roman"/>
                <a:cs typeface="Times New Roman"/>
              </a:rPr>
              <a:t>finance:</a:t>
            </a:r>
            <a:r>
              <a:rPr lang="en-US" sz="2000" b="1" spc="-10">
                <a:latin typeface="Times New Roman"/>
                <a:cs typeface="Times New Roman"/>
              </a:rPr>
              <a:t> </a:t>
            </a:r>
            <a:r>
              <a:rPr lang="en-US" sz="2000">
                <a:latin typeface="Times New Roman"/>
                <a:cs typeface="Times New Roman"/>
              </a:rPr>
              <a:t>Demonstrate</a:t>
            </a:r>
            <a:r>
              <a:rPr lang="en-US" sz="2000" spc="-15">
                <a:latin typeface="Times New Roman"/>
                <a:cs typeface="Times New Roman"/>
              </a:rPr>
              <a:t> </a:t>
            </a:r>
            <a:r>
              <a:rPr lang="en-US" sz="2000">
                <a:latin typeface="Times New Roman"/>
                <a:cs typeface="Times New Roman"/>
              </a:rPr>
              <a:t>knowledge</a:t>
            </a:r>
            <a:r>
              <a:rPr lang="en-US" sz="2000" spc="-10">
                <a:latin typeface="Times New Roman"/>
                <a:cs typeface="Times New Roman"/>
              </a:rPr>
              <a:t> </a:t>
            </a:r>
            <a:r>
              <a:rPr lang="en-US" sz="2000">
                <a:latin typeface="Times New Roman"/>
                <a:cs typeface="Times New Roman"/>
              </a:rPr>
              <a:t>and</a:t>
            </a:r>
            <a:r>
              <a:rPr lang="en-US" sz="2000" spc="-5">
                <a:latin typeface="Times New Roman"/>
                <a:cs typeface="Times New Roman"/>
              </a:rPr>
              <a:t> </a:t>
            </a:r>
            <a:r>
              <a:rPr lang="en-US" sz="2000">
                <a:latin typeface="Times New Roman"/>
                <a:cs typeface="Times New Roman"/>
              </a:rPr>
              <a:t>understanding</a:t>
            </a:r>
            <a:r>
              <a:rPr lang="en-US" sz="2000" spc="-15">
                <a:latin typeface="Times New Roman"/>
                <a:cs typeface="Times New Roman"/>
              </a:rPr>
              <a:t> </a:t>
            </a:r>
            <a:r>
              <a:rPr lang="en-US" sz="2000">
                <a:latin typeface="Times New Roman"/>
                <a:cs typeface="Times New Roman"/>
              </a:rPr>
              <a:t>of</a:t>
            </a:r>
            <a:r>
              <a:rPr lang="en-US" sz="2000" spc="-25">
                <a:latin typeface="Times New Roman"/>
                <a:cs typeface="Times New Roman"/>
              </a:rPr>
              <a:t> </a:t>
            </a:r>
            <a:r>
              <a:rPr lang="en-US" sz="2000">
                <a:latin typeface="Times New Roman"/>
                <a:cs typeface="Times New Roman"/>
              </a:rPr>
              <a:t>the</a:t>
            </a:r>
            <a:r>
              <a:rPr lang="en-US" sz="2000" spc="-15">
                <a:latin typeface="Times New Roman"/>
                <a:cs typeface="Times New Roman"/>
              </a:rPr>
              <a:t> </a:t>
            </a:r>
            <a:r>
              <a:rPr lang="en-US" sz="2000">
                <a:latin typeface="Times New Roman"/>
                <a:cs typeface="Times New Roman"/>
              </a:rPr>
              <a:t>engineering</a:t>
            </a:r>
            <a:r>
              <a:rPr lang="en-US" sz="2000" spc="-5">
                <a:latin typeface="Times New Roman"/>
                <a:cs typeface="Times New Roman"/>
              </a:rPr>
              <a:t> </a:t>
            </a:r>
            <a:r>
              <a:rPr lang="en-US" sz="2000">
                <a:latin typeface="Times New Roman"/>
                <a:cs typeface="Times New Roman"/>
              </a:rPr>
              <a:t>and</a:t>
            </a:r>
            <a:r>
              <a:rPr lang="en-US" sz="2000" spc="-10">
                <a:latin typeface="Times New Roman"/>
                <a:cs typeface="Times New Roman"/>
              </a:rPr>
              <a:t> management </a:t>
            </a:r>
            <a:r>
              <a:rPr lang="en-US" sz="2000">
                <a:latin typeface="Times New Roman"/>
                <a:cs typeface="Times New Roman"/>
              </a:rPr>
              <a:t>principles</a:t>
            </a:r>
            <a:r>
              <a:rPr lang="en-US" sz="2000" spc="370">
                <a:latin typeface="Times New Roman"/>
                <a:cs typeface="Times New Roman"/>
              </a:rPr>
              <a:t> </a:t>
            </a:r>
            <a:r>
              <a:rPr lang="en-US" sz="2000">
                <a:latin typeface="Times New Roman"/>
                <a:cs typeface="Times New Roman"/>
              </a:rPr>
              <a:t>and</a:t>
            </a:r>
            <a:r>
              <a:rPr lang="en-US" sz="2000" spc="370">
                <a:latin typeface="Times New Roman"/>
                <a:cs typeface="Times New Roman"/>
              </a:rPr>
              <a:t> </a:t>
            </a:r>
            <a:r>
              <a:rPr lang="en-US" sz="2000">
                <a:latin typeface="Times New Roman"/>
                <a:cs typeface="Times New Roman"/>
              </a:rPr>
              <a:t>apply</a:t>
            </a:r>
            <a:r>
              <a:rPr lang="en-US" sz="2000" spc="350">
                <a:latin typeface="Times New Roman"/>
                <a:cs typeface="Times New Roman"/>
              </a:rPr>
              <a:t> </a:t>
            </a:r>
            <a:r>
              <a:rPr lang="en-US" sz="2000">
                <a:latin typeface="Times New Roman"/>
                <a:cs typeface="Times New Roman"/>
              </a:rPr>
              <a:t>these</a:t>
            </a:r>
            <a:r>
              <a:rPr lang="en-US" sz="2000" spc="370">
                <a:latin typeface="Times New Roman"/>
                <a:cs typeface="Times New Roman"/>
              </a:rPr>
              <a:t> </a:t>
            </a:r>
            <a:r>
              <a:rPr lang="en-US" sz="2000">
                <a:latin typeface="Times New Roman"/>
                <a:cs typeface="Times New Roman"/>
              </a:rPr>
              <a:t>to</a:t>
            </a:r>
            <a:r>
              <a:rPr lang="en-US" sz="2000" spc="370">
                <a:latin typeface="Times New Roman"/>
                <a:cs typeface="Times New Roman"/>
              </a:rPr>
              <a:t> </a:t>
            </a:r>
            <a:r>
              <a:rPr lang="en-US" sz="2000">
                <a:latin typeface="Times New Roman"/>
                <a:cs typeface="Times New Roman"/>
              </a:rPr>
              <a:t>one’s</a:t>
            </a:r>
            <a:r>
              <a:rPr lang="en-US" sz="2000" spc="375">
                <a:latin typeface="Times New Roman"/>
                <a:cs typeface="Times New Roman"/>
              </a:rPr>
              <a:t> </a:t>
            </a:r>
            <a:r>
              <a:rPr lang="en-US" sz="2000">
                <a:latin typeface="Times New Roman"/>
                <a:cs typeface="Times New Roman"/>
              </a:rPr>
              <a:t>own</a:t>
            </a:r>
            <a:r>
              <a:rPr lang="en-US" sz="2000" spc="370">
                <a:latin typeface="Times New Roman"/>
                <a:cs typeface="Times New Roman"/>
              </a:rPr>
              <a:t> </a:t>
            </a:r>
            <a:r>
              <a:rPr lang="en-US" sz="2000">
                <a:latin typeface="Times New Roman"/>
                <a:cs typeface="Times New Roman"/>
              </a:rPr>
              <a:t>work,</a:t>
            </a:r>
            <a:r>
              <a:rPr lang="en-US" sz="2000" spc="365">
                <a:latin typeface="Times New Roman"/>
                <a:cs typeface="Times New Roman"/>
              </a:rPr>
              <a:t> </a:t>
            </a:r>
            <a:r>
              <a:rPr lang="en-US" sz="2000">
                <a:latin typeface="Times New Roman"/>
                <a:cs typeface="Times New Roman"/>
              </a:rPr>
              <a:t>as</a:t>
            </a:r>
            <a:r>
              <a:rPr lang="en-US" sz="2000" spc="370">
                <a:latin typeface="Times New Roman"/>
                <a:cs typeface="Times New Roman"/>
              </a:rPr>
              <a:t> </a:t>
            </a:r>
            <a:r>
              <a:rPr lang="en-US" sz="2000">
                <a:latin typeface="Times New Roman"/>
                <a:cs typeface="Times New Roman"/>
              </a:rPr>
              <a:t>a</a:t>
            </a:r>
            <a:r>
              <a:rPr lang="en-US" sz="2000" spc="375">
                <a:latin typeface="Times New Roman"/>
                <a:cs typeface="Times New Roman"/>
              </a:rPr>
              <a:t> </a:t>
            </a:r>
            <a:r>
              <a:rPr lang="en-US" sz="2000">
                <a:latin typeface="Times New Roman"/>
                <a:cs typeface="Times New Roman"/>
              </a:rPr>
              <a:t>member and a leader in a team, to manage projects in a multidisciplinary environments.</a:t>
            </a:r>
          </a:p>
          <a:p>
            <a:pPr marL="12700" marR="5080" algn="just">
              <a:spcBef>
                <a:spcPts val="100"/>
              </a:spcBef>
              <a:tabLst>
                <a:tab pos="283210" algn="l"/>
                <a:tab pos="7597140" algn="l"/>
              </a:tabLst>
            </a:pPr>
            <a:r>
              <a:rPr lang="en-US" sz="2000" b="1">
                <a:latin typeface="Times New Roman"/>
                <a:cs typeface="Times New Roman"/>
              </a:rPr>
              <a:t>12.</a:t>
            </a:r>
            <a:r>
              <a:rPr lang="en-US" sz="2000" b="1" spc="-10">
                <a:latin typeface="Times New Roman"/>
                <a:cs typeface="Times New Roman"/>
              </a:rPr>
              <a:t>Life-</a:t>
            </a:r>
            <a:r>
              <a:rPr lang="en-US" sz="2000" b="1">
                <a:latin typeface="Times New Roman"/>
                <a:cs typeface="Times New Roman"/>
              </a:rPr>
              <a:t>long</a:t>
            </a:r>
            <a:r>
              <a:rPr lang="en-US" sz="2000" b="1" spc="10">
                <a:latin typeface="Times New Roman"/>
                <a:cs typeface="Times New Roman"/>
              </a:rPr>
              <a:t> </a:t>
            </a:r>
            <a:r>
              <a:rPr lang="en-US" sz="2000" b="1">
                <a:latin typeface="Times New Roman"/>
                <a:cs typeface="Times New Roman"/>
              </a:rPr>
              <a:t>learning:</a:t>
            </a:r>
            <a:r>
              <a:rPr lang="en-US" sz="2000" b="1" spc="25">
                <a:latin typeface="Times New Roman"/>
                <a:cs typeface="Times New Roman"/>
              </a:rPr>
              <a:t> </a:t>
            </a:r>
            <a:r>
              <a:rPr lang="en-US" sz="2000">
                <a:latin typeface="Times New Roman"/>
                <a:cs typeface="Times New Roman"/>
              </a:rPr>
              <a:t>Recognize</a:t>
            </a:r>
            <a:r>
              <a:rPr lang="en-US" sz="2000" spc="15">
                <a:latin typeface="Times New Roman"/>
                <a:cs typeface="Times New Roman"/>
              </a:rPr>
              <a:t> </a:t>
            </a:r>
            <a:r>
              <a:rPr lang="en-US" sz="2000">
                <a:latin typeface="Times New Roman"/>
                <a:cs typeface="Times New Roman"/>
              </a:rPr>
              <a:t>the</a:t>
            </a:r>
            <a:r>
              <a:rPr lang="en-US" sz="2000" spc="15">
                <a:latin typeface="Times New Roman"/>
                <a:cs typeface="Times New Roman"/>
              </a:rPr>
              <a:t> </a:t>
            </a:r>
            <a:r>
              <a:rPr lang="en-US" sz="2000">
                <a:latin typeface="Times New Roman"/>
                <a:cs typeface="Times New Roman"/>
              </a:rPr>
              <a:t>need</a:t>
            </a:r>
            <a:r>
              <a:rPr lang="en-US" sz="2000" spc="30">
                <a:latin typeface="Times New Roman"/>
                <a:cs typeface="Times New Roman"/>
              </a:rPr>
              <a:t> </a:t>
            </a:r>
            <a:r>
              <a:rPr lang="en-US" sz="2000">
                <a:latin typeface="Times New Roman"/>
                <a:cs typeface="Times New Roman"/>
              </a:rPr>
              <a:t>for,</a:t>
            </a:r>
            <a:r>
              <a:rPr lang="en-US" sz="2000" spc="15">
                <a:latin typeface="Times New Roman"/>
                <a:cs typeface="Times New Roman"/>
              </a:rPr>
              <a:t> </a:t>
            </a:r>
            <a:r>
              <a:rPr lang="en-US" sz="2000">
                <a:latin typeface="Times New Roman"/>
                <a:cs typeface="Times New Roman"/>
              </a:rPr>
              <a:t>and</a:t>
            </a:r>
            <a:r>
              <a:rPr lang="en-US" sz="2000" spc="20">
                <a:latin typeface="Times New Roman"/>
                <a:cs typeface="Times New Roman"/>
              </a:rPr>
              <a:t> </a:t>
            </a:r>
            <a:r>
              <a:rPr lang="en-US" sz="2000">
                <a:latin typeface="Times New Roman"/>
                <a:cs typeface="Times New Roman"/>
              </a:rPr>
              <a:t>have</a:t>
            </a:r>
            <a:r>
              <a:rPr lang="en-US" sz="2000" spc="15">
                <a:latin typeface="Times New Roman"/>
                <a:cs typeface="Times New Roman"/>
              </a:rPr>
              <a:t> </a:t>
            </a:r>
            <a:r>
              <a:rPr lang="en-US" sz="2000">
                <a:latin typeface="Times New Roman"/>
                <a:cs typeface="Times New Roman"/>
              </a:rPr>
              <a:t>the</a:t>
            </a:r>
            <a:r>
              <a:rPr lang="en-US" sz="2000" spc="15">
                <a:latin typeface="Times New Roman"/>
                <a:cs typeface="Times New Roman"/>
              </a:rPr>
              <a:t> </a:t>
            </a:r>
            <a:r>
              <a:rPr lang="en-US" sz="2000">
                <a:latin typeface="Times New Roman"/>
                <a:cs typeface="Times New Roman"/>
              </a:rPr>
              <a:t>preparation</a:t>
            </a:r>
            <a:r>
              <a:rPr lang="en-US" sz="2000" spc="35">
                <a:latin typeface="Times New Roman"/>
                <a:cs typeface="Times New Roman"/>
              </a:rPr>
              <a:t> </a:t>
            </a:r>
            <a:r>
              <a:rPr lang="en-US" sz="2000">
                <a:latin typeface="Times New Roman"/>
                <a:cs typeface="Times New Roman"/>
              </a:rPr>
              <a:t>and</a:t>
            </a:r>
            <a:r>
              <a:rPr lang="en-US" sz="2000" spc="25">
                <a:latin typeface="Times New Roman"/>
                <a:cs typeface="Times New Roman"/>
              </a:rPr>
              <a:t> </a:t>
            </a:r>
            <a:r>
              <a:rPr lang="en-US" sz="2000">
                <a:latin typeface="Times New Roman"/>
                <a:cs typeface="Times New Roman"/>
              </a:rPr>
              <a:t>ability</a:t>
            </a:r>
            <a:r>
              <a:rPr lang="en-US" sz="2000" spc="5">
                <a:latin typeface="Times New Roman"/>
                <a:cs typeface="Times New Roman"/>
              </a:rPr>
              <a:t> </a:t>
            </a:r>
            <a:r>
              <a:rPr lang="en-US" sz="2000">
                <a:latin typeface="Times New Roman"/>
                <a:cs typeface="Times New Roman"/>
              </a:rPr>
              <a:t>to</a:t>
            </a:r>
            <a:r>
              <a:rPr lang="en-US" sz="2000" spc="20">
                <a:latin typeface="Times New Roman"/>
                <a:cs typeface="Times New Roman"/>
              </a:rPr>
              <a:t> </a:t>
            </a:r>
            <a:r>
              <a:rPr lang="en-US" sz="2000">
                <a:latin typeface="Times New Roman"/>
                <a:cs typeface="Times New Roman"/>
              </a:rPr>
              <a:t>engage</a:t>
            </a:r>
            <a:r>
              <a:rPr lang="en-US" sz="2000" spc="20">
                <a:latin typeface="Times New Roman"/>
                <a:cs typeface="Times New Roman"/>
              </a:rPr>
              <a:t> </a:t>
            </a:r>
            <a:r>
              <a:rPr lang="en-US" sz="2000">
                <a:latin typeface="Times New Roman"/>
                <a:cs typeface="Times New Roman"/>
              </a:rPr>
              <a:t>in</a:t>
            </a:r>
            <a:r>
              <a:rPr lang="en-US" sz="2000" spc="20">
                <a:latin typeface="Times New Roman"/>
                <a:cs typeface="Times New Roman"/>
              </a:rPr>
              <a:t> </a:t>
            </a:r>
            <a:r>
              <a:rPr lang="en-US" sz="2000">
                <a:latin typeface="Times New Roman"/>
                <a:cs typeface="Times New Roman"/>
              </a:rPr>
              <a:t>independent</a:t>
            </a:r>
            <a:r>
              <a:rPr lang="en-US" sz="2000" spc="30">
                <a:latin typeface="Times New Roman"/>
                <a:cs typeface="Times New Roman"/>
              </a:rPr>
              <a:t> </a:t>
            </a:r>
            <a:r>
              <a:rPr lang="en-US" sz="2000">
                <a:latin typeface="Times New Roman"/>
                <a:cs typeface="Times New Roman"/>
              </a:rPr>
              <a:t>and</a:t>
            </a:r>
            <a:r>
              <a:rPr lang="en-US" sz="2000" spc="20">
                <a:latin typeface="Times New Roman"/>
                <a:cs typeface="Times New Roman"/>
              </a:rPr>
              <a:t> </a:t>
            </a:r>
            <a:r>
              <a:rPr lang="en-US" sz="2000" spc="-10">
                <a:latin typeface="Times New Roman"/>
                <a:cs typeface="Times New Roman"/>
              </a:rPr>
              <a:t>life-</a:t>
            </a:r>
            <a:r>
              <a:rPr lang="en-US" sz="2000">
                <a:latin typeface="Times New Roman"/>
                <a:cs typeface="Times New Roman"/>
              </a:rPr>
              <a:t>long</a:t>
            </a:r>
            <a:r>
              <a:rPr lang="en-US" sz="2000" spc="-30">
                <a:latin typeface="Times New Roman"/>
                <a:cs typeface="Times New Roman"/>
              </a:rPr>
              <a:t> </a:t>
            </a:r>
            <a:r>
              <a:rPr lang="en-US" sz="2000">
                <a:latin typeface="Times New Roman"/>
                <a:cs typeface="Times New Roman"/>
              </a:rPr>
              <a:t>learning</a:t>
            </a:r>
            <a:r>
              <a:rPr lang="en-US" sz="2000" spc="-15">
                <a:latin typeface="Times New Roman"/>
                <a:cs typeface="Times New Roman"/>
              </a:rPr>
              <a:t> </a:t>
            </a:r>
            <a:r>
              <a:rPr lang="en-US" sz="2000">
                <a:latin typeface="Times New Roman"/>
                <a:cs typeface="Times New Roman"/>
              </a:rPr>
              <a:t>in the</a:t>
            </a:r>
            <a:r>
              <a:rPr lang="en-US" sz="2000" spc="-5">
                <a:latin typeface="Times New Roman"/>
                <a:cs typeface="Times New Roman"/>
              </a:rPr>
              <a:t> </a:t>
            </a:r>
            <a:r>
              <a:rPr lang="en-US" sz="2000">
                <a:latin typeface="Times New Roman"/>
                <a:cs typeface="Times New Roman"/>
              </a:rPr>
              <a:t>broadest</a:t>
            </a:r>
            <a:r>
              <a:rPr lang="en-US" sz="2000" spc="5">
                <a:latin typeface="Times New Roman"/>
                <a:cs typeface="Times New Roman"/>
              </a:rPr>
              <a:t> </a:t>
            </a:r>
            <a:r>
              <a:rPr lang="en-US" sz="2000">
                <a:latin typeface="Times New Roman"/>
                <a:cs typeface="Times New Roman"/>
              </a:rPr>
              <a:t>context</a:t>
            </a:r>
            <a:r>
              <a:rPr lang="en-US" sz="2000" spc="-5">
                <a:latin typeface="Times New Roman"/>
                <a:cs typeface="Times New Roman"/>
              </a:rPr>
              <a:t> </a:t>
            </a:r>
            <a:r>
              <a:rPr lang="en-US" sz="2000">
                <a:latin typeface="Times New Roman"/>
                <a:cs typeface="Times New Roman"/>
              </a:rPr>
              <a:t>of</a:t>
            </a:r>
            <a:r>
              <a:rPr lang="en-US" sz="2000" spc="-5">
                <a:latin typeface="Times New Roman"/>
                <a:cs typeface="Times New Roman"/>
              </a:rPr>
              <a:t> </a:t>
            </a:r>
            <a:r>
              <a:rPr lang="en-US" sz="2000" spc="-10">
                <a:latin typeface="Times New Roman"/>
                <a:cs typeface="Times New Roman"/>
              </a:rPr>
              <a:t>technological</a:t>
            </a:r>
            <a:r>
              <a:rPr lang="en-US" sz="2000" spc="-20">
                <a:latin typeface="Times New Roman"/>
                <a:cs typeface="Times New Roman"/>
              </a:rPr>
              <a:t> </a:t>
            </a:r>
            <a:r>
              <a:rPr lang="en-US" sz="2000" spc="-10">
                <a:latin typeface="Times New Roman"/>
                <a:cs typeface="Times New Roman"/>
              </a:rPr>
              <a:t>change.</a:t>
            </a:r>
            <a:endParaRPr lang="en-US" sz="2000">
              <a:latin typeface="Times New Roman"/>
              <a:cs typeface="Times New Roman"/>
            </a:endParaRPr>
          </a:p>
          <a:p>
            <a:pPr marL="12700" marR="6985" algn="just">
              <a:tabLst>
                <a:tab pos="286385" algn="l"/>
              </a:tabLst>
            </a:pPr>
            <a:endParaRPr lang="en-US" sz="2000">
              <a:latin typeface="Times New Roman"/>
              <a:cs typeface="Times New Roman"/>
            </a:endParaRPr>
          </a:p>
        </p:txBody>
      </p:sp>
      <p:pic>
        <p:nvPicPr>
          <p:cNvPr id="4" name="object 6">
            <a:extLst>
              <a:ext uri="{FF2B5EF4-FFF2-40B4-BE49-F238E27FC236}">
                <a16:creationId xmlns:a16="http://schemas.microsoft.com/office/drawing/2014/main" id="{28C147F6-B51A-F860-F62F-FB8AF539665A}"/>
              </a:ext>
            </a:extLst>
          </p:cNvPr>
          <p:cNvPicPr/>
          <p:nvPr/>
        </p:nvPicPr>
        <p:blipFill>
          <a:blip r:embed="rId2" cstate="print"/>
          <a:stretch>
            <a:fillRect/>
          </a:stretch>
        </p:blipFill>
        <p:spPr>
          <a:xfrm>
            <a:off x="154360" y="11112"/>
            <a:ext cx="8904077" cy="1581764"/>
          </a:xfrm>
          <a:prstGeom prst="rect">
            <a:avLst/>
          </a:prstGeom>
        </p:spPr>
      </p:pic>
    </p:spTree>
    <p:extLst>
      <p:ext uri="{BB962C8B-B14F-4D97-AF65-F5344CB8AC3E}">
        <p14:creationId xmlns:p14="http://schemas.microsoft.com/office/powerpoint/2010/main" val="2650919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6">
            <a:extLst>
              <a:ext uri="{FF2B5EF4-FFF2-40B4-BE49-F238E27FC236}">
                <a16:creationId xmlns:a16="http://schemas.microsoft.com/office/drawing/2014/main" id="{A28679EB-28F6-CD68-A499-A2ED8CE9A91B}"/>
              </a:ext>
            </a:extLst>
          </p:cNvPr>
          <p:cNvPicPr/>
          <p:nvPr/>
        </p:nvPicPr>
        <p:blipFill>
          <a:blip r:embed="rId2" cstate="print"/>
          <a:stretch>
            <a:fillRect/>
          </a:stretch>
        </p:blipFill>
        <p:spPr>
          <a:xfrm>
            <a:off x="154360" y="11112"/>
            <a:ext cx="8904077" cy="1581764"/>
          </a:xfrm>
          <a:prstGeom prst="rect">
            <a:avLst/>
          </a:prstGeom>
        </p:spPr>
      </p:pic>
      <p:sp>
        <p:nvSpPr>
          <p:cNvPr id="4" name="TextBox 3">
            <a:extLst>
              <a:ext uri="{FF2B5EF4-FFF2-40B4-BE49-F238E27FC236}">
                <a16:creationId xmlns:a16="http://schemas.microsoft.com/office/drawing/2014/main" id="{4C2BD994-4056-387E-8616-9928958EC3F0}"/>
              </a:ext>
            </a:extLst>
          </p:cNvPr>
          <p:cNvSpPr txBox="1"/>
          <p:nvPr/>
        </p:nvSpPr>
        <p:spPr>
          <a:xfrm>
            <a:off x="154360" y="1592876"/>
            <a:ext cx="5255840" cy="400110"/>
          </a:xfrm>
          <a:prstGeom prst="rect">
            <a:avLst/>
          </a:prstGeom>
          <a:noFill/>
        </p:spPr>
        <p:txBody>
          <a:bodyPr wrap="square">
            <a:spAutoFit/>
          </a:bodyPr>
          <a:lstStyle/>
          <a:p>
            <a:pPr marL="12700" algn="just">
              <a:lnSpc>
                <a:spcPct val="100000"/>
              </a:lnSpc>
              <a:spcBef>
                <a:spcPts val="600"/>
              </a:spcBef>
            </a:pPr>
            <a:r>
              <a:rPr lang="en-US" sz="2000" b="1" u="sng" err="1">
                <a:uFill>
                  <a:solidFill>
                    <a:srgbClr val="000000"/>
                  </a:solidFill>
                </a:uFill>
                <a:latin typeface="Times New Roman"/>
                <a:cs typeface="Times New Roman"/>
              </a:rPr>
              <a:t>Programme</a:t>
            </a:r>
            <a:r>
              <a:rPr lang="en-US" sz="2000" b="1" u="sng" spc="-100">
                <a:uFill>
                  <a:solidFill>
                    <a:srgbClr val="000000"/>
                  </a:solidFill>
                </a:uFill>
                <a:latin typeface="Times New Roman"/>
                <a:cs typeface="Times New Roman"/>
              </a:rPr>
              <a:t> </a:t>
            </a:r>
            <a:r>
              <a:rPr lang="en-US" sz="2000" b="1" u="sng">
                <a:uFill>
                  <a:solidFill>
                    <a:srgbClr val="000000"/>
                  </a:solidFill>
                </a:uFill>
                <a:latin typeface="Times New Roman"/>
                <a:cs typeface="Times New Roman"/>
              </a:rPr>
              <a:t>Specific</a:t>
            </a:r>
            <a:r>
              <a:rPr lang="en-US" sz="2000" b="1" u="sng" spc="-110">
                <a:uFill>
                  <a:solidFill>
                    <a:srgbClr val="000000"/>
                  </a:solidFill>
                </a:uFill>
                <a:latin typeface="Times New Roman"/>
                <a:cs typeface="Times New Roman"/>
              </a:rPr>
              <a:t> </a:t>
            </a:r>
            <a:r>
              <a:rPr lang="en-US" sz="2000" b="1" u="sng">
                <a:uFill>
                  <a:solidFill>
                    <a:srgbClr val="000000"/>
                  </a:solidFill>
                </a:uFill>
                <a:latin typeface="Times New Roman"/>
                <a:cs typeface="Times New Roman"/>
              </a:rPr>
              <a:t>Outcomes</a:t>
            </a:r>
            <a:r>
              <a:rPr lang="en-US" sz="2000" b="1" u="sng" spc="-90">
                <a:uFill>
                  <a:solidFill>
                    <a:srgbClr val="000000"/>
                  </a:solidFill>
                </a:uFill>
                <a:latin typeface="Times New Roman"/>
                <a:cs typeface="Times New Roman"/>
              </a:rPr>
              <a:t> </a:t>
            </a:r>
            <a:r>
              <a:rPr lang="en-US" sz="2000" b="1" u="sng" spc="-10">
                <a:uFill>
                  <a:solidFill>
                    <a:srgbClr val="000000"/>
                  </a:solidFill>
                </a:uFill>
                <a:latin typeface="Times New Roman"/>
                <a:cs typeface="Times New Roman"/>
              </a:rPr>
              <a:t>(PSOs)</a:t>
            </a:r>
            <a:endParaRPr lang="en-US" sz="2000" b="1" u="sng">
              <a:latin typeface="Times New Roman"/>
              <a:cs typeface="Times New Roman"/>
            </a:endParaRPr>
          </a:p>
        </p:txBody>
      </p:sp>
      <p:sp>
        <p:nvSpPr>
          <p:cNvPr id="6" name="TextBox 5">
            <a:extLst>
              <a:ext uri="{FF2B5EF4-FFF2-40B4-BE49-F238E27FC236}">
                <a16:creationId xmlns:a16="http://schemas.microsoft.com/office/drawing/2014/main" id="{CC2BA10E-F04E-1636-3141-3EB667A62EB6}"/>
              </a:ext>
            </a:extLst>
          </p:cNvPr>
          <p:cNvSpPr txBox="1"/>
          <p:nvPr/>
        </p:nvSpPr>
        <p:spPr>
          <a:xfrm>
            <a:off x="151791" y="1992986"/>
            <a:ext cx="8992210" cy="3903633"/>
          </a:xfrm>
          <a:prstGeom prst="rect">
            <a:avLst/>
          </a:prstGeom>
          <a:noFill/>
        </p:spPr>
        <p:txBody>
          <a:bodyPr wrap="square">
            <a:spAutoFit/>
          </a:bodyPr>
          <a:lstStyle/>
          <a:p>
            <a:pPr marL="12700">
              <a:lnSpc>
                <a:spcPct val="100000"/>
              </a:lnSpc>
              <a:spcBef>
                <a:spcPts val="385"/>
              </a:spcBef>
            </a:pPr>
            <a:r>
              <a:rPr lang="en-US" sz="2000">
                <a:latin typeface="Times New Roman"/>
                <a:cs typeface="Times New Roman"/>
              </a:rPr>
              <a:t>On</a:t>
            </a:r>
            <a:r>
              <a:rPr lang="en-US" sz="2000" spc="-45">
                <a:latin typeface="Times New Roman"/>
                <a:cs typeface="Times New Roman"/>
              </a:rPr>
              <a:t> </a:t>
            </a:r>
            <a:r>
              <a:rPr lang="en-US" sz="2000">
                <a:latin typeface="Times New Roman"/>
                <a:cs typeface="Times New Roman"/>
              </a:rPr>
              <a:t>the</a:t>
            </a:r>
            <a:r>
              <a:rPr lang="en-US" sz="2000" spc="-40">
                <a:latin typeface="Times New Roman"/>
                <a:cs typeface="Times New Roman"/>
              </a:rPr>
              <a:t> </a:t>
            </a:r>
            <a:r>
              <a:rPr lang="en-US" sz="2000">
                <a:latin typeface="Times New Roman"/>
                <a:cs typeface="Times New Roman"/>
              </a:rPr>
              <a:t>completion</a:t>
            </a:r>
            <a:r>
              <a:rPr lang="en-US" sz="2000" spc="10">
                <a:latin typeface="Times New Roman"/>
                <a:cs typeface="Times New Roman"/>
              </a:rPr>
              <a:t> </a:t>
            </a:r>
            <a:r>
              <a:rPr lang="en-US" sz="2000">
                <a:latin typeface="Times New Roman"/>
                <a:cs typeface="Times New Roman"/>
              </a:rPr>
              <a:t>of</a:t>
            </a:r>
            <a:r>
              <a:rPr lang="en-US" sz="2000" spc="-45">
                <a:latin typeface="Times New Roman"/>
                <a:cs typeface="Times New Roman"/>
              </a:rPr>
              <a:t> </a:t>
            </a:r>
            <a:r>
              <a:rPr lang="en-US" sz="2000">
                <a:latin typeface="Times New Roman"/>
                <a:cs typeface="Times New Roman"/>
              </a:rPr>
              <a:t>Computer Science</a:t>
            </a:r>
            <a:r>
              <a:rPr lang="en-US" sz="2000" spc="-25">
                <a:latin typeface="Times New Roman"/>
                <a:cs typeface="Times New Roman"/>
              </a:rPr>
              <a:t> </a:t>
            </a:r>
            <a:r>
              <a:rPr lang="en-US" sz="2000">
                <a:latin typeface="Times New Roman"/>
                <a:cs typeface="Times New Roman"/>
              </a:rPr>
              <a:t>&amp;</a:t>
            </a:r>
            <a:r>
              <a:rPr lang="en-US" sz="2000" spc="-45">
                <a:latin typeface="Times New Roman"/>
                <a:cs typeface="Times New Roman"/>
              </a:rPr>
              <a:t> </a:t>
            </a:r>
            <a:r>
              <a:rPr lang="en-US" sz="2000">
                <a:latin typeface="Times New Roman"/>
                <a:cs typeface="Times New Roman"/>
              </a:rPr>
              <a:t>Engineering</a:t>
            </a:r>
            <a:r>
              <a:rPr lang="en-US" sz="2000" spc="-15">
                <a:latin typeface="Times New Roman"/>
                <a:cs typeface="Times New Roman"/>
              </a:rPr>
              <a:t> </a:t>
            </a:r>
            <a:r>
              <a:rPr lang="en-US" sz="2000">
                <a:latin typeface="Times New Roman"/>
                <a:cs typeface="Times New Roman"/>
              </a:rPr>
              <a:t>program,</a:t>
            </a:r>
            <a:r>
              <a:rPr lang="en-US" sz="2000" spc="-5">
                <a:latin typeface="Times New Roman"/>
                <a:cs typeface="Times New Roman"/>
              </a:rPr>
              <a:t> </a:t>
            </a:r>
            <a:r>
              <a:rPr lang="en-US" sz="2000">
                <a:latin typeface="Times New Roman"/>
                <a:cs typeface="Times New Roman"/>
              </a:rPr>
              <a:t>the</a:t>
            </a:r>
            <a:r>
              <a:rPr lang="en-US" sz="2000" spc="-40">
                <a:latin typeface="Times New Roman"/>
                <a:cs typeface="Times New Roman"/>
              </a:rPr>
              <a:t> </a:t>
            </a:r>
            <a:r>
              <a:rPr lang="en-US" sz="2000">
                <a:latin typeface="Times New Roman"/>
                <a:cs typeface="Times New Roman"/>
              </a:rPr>
              <a:t>students</a:t>
            </a:r>
            <a:r>
              <a:rPr lang="en-US" sz="2000" spc="-30">
                <a:latin typeface="Times New Roman"/>
                <a:cs typeface="Times New Roman"/>
              </a:rPr>
              <a:t> </a:t>
            </a:r>
            <a:r>
              <a:rPr lang="en-US" sz="2000">
                <a:latin typeface="Times New Roman"/>
                <a:cs typeface="Times New Roman"/>
              </a:rPr>
              <a:t>will</a:t>
            </a:r>
            <a:r>
              <a:rPr lang="en-US" sz="2000" spc="-25">
                <a:latin typeface="Times New Roman"/>
                <a:cs typeface="Times New Roman"/>
              </a:rPr>
              <a:t> </a:t>
            </a:r>
            <a:r>
              <a:rPr lang="en-US" sz="2000" spc="-10">
                <a:latin typeface="Times New Roman"/>
                <a:cs typeface="Times New Roman"/>
              </a:rPr>
              <a:t>possess:</a:t>
            </a:r>
            <a:endParaRPr lang="en-US" sz="2000">
              <a:latin typeface="Times New Roman"/>
              <a:cs typeface="Times New Roman"/>
            </a:endParaRPr>
          </a:p>
          <a:p>
            <a:pPr marL="660400" marR="10160" indent="-330835">
              <a:lnSpc>
                <a:spcPct val="114999"/>
              </a:lnSpc>
              <a:buAutoNum type="arabicPeriod"/>
              <a:tabLst>
                <a:tab pos="660400" algn="l"/>
              </a:tabLst>
            </a:pPr>
            <a:r>
              <a:rPr lang="en-US" sz="2000">
                <a:latin typeface="Times New Roman"/>
                <a:cs typeface="Times New Roman"/>
              </a:rPr>
              <a:t>An</a:t>
            </a:r>
            <a:r>
              <a:rPr lang="en-US" sz="2000" spc="290">
                <a:latin typeface="Times New Roman"/>
                <a:cs typeface="Times New Roman"/>
              </a:rPr>
              <a:t> </a:t>
            </a:r>
            <a:r>
              <a:rPr lang="en-US" sz="2000">
                <a:latin typeface="Times New Roman"/>
                <a:cs typeface="Times New Roman"/>
              </a:rPr>
              <a:t>ability</a:t>
            </a:r>
            <a:r>
              <a:rPr lang="en-US" sz="2000" spc="300">
                <a:latin typeface="Times New Roman"/>
                <a:cs typeface="Times New Roman"/>
              </a:rPr>
              <a:t> </a:t>
            </a:r>
            <a:r>
              <a:rPr lang="en-US" sz="2000">
                <a:latin typeface="Times New Roman"/>
                <a:cs typeface="Times New Roman"/>
              </a:rPr>
              <a:t>to</a:t>
            </a:r>
            <a:r>
              <a:rPr lang="en-US" sz="2000" spc="290">
                <a:latin typeface="Times New Roman"/>
                <a:cs typeface="Times New Roman"/>
              </a:rPr>
              <a:t> </a:t>
            </a:r>
            <a:r>
              <a:rPr lang="en-US" sz="2000">
                <a:latin typeface="Times New Roman"/>
                <a:cs typeface="Times New Roman"/>
              </a:rPr>
              <a:t>apply</a:t>
            </a:r>
            <a:r>
              <a:rPr lang="en-US" sz="2000" spc="290">
                <a:latin typeface="Times New Roman"/>
                <a:cs typeface="Times New Roman"/>
              </a:rPr>
              <a:t> </a:t>
            </a:r>
            <a:r>
              <a:rPr lang="en-US" sz="2000">
                <a:latin typeface="Times New Roman"/>
                <a:cs typeface="Times New Roman"/>
              </a:rPr>
              <a:t>knowledge</a:t>
            </a:r>
            <a:r>
              <a:rPr lang="en-US" sz="2000" spc="295">
                <a:latin typeface="Times New Roman"/>
                <a:cs typeface="Times New Roman"/>
              </a:rPr>
              <a:t> </a:t>
            </a:r>
            <a:r>
              <a:rPr lang="en-US" sz="2000">
                <a:latin typeface="Times New Roman"/>
                <a:cs typeface="Times New Roman"/>
              </a:rPr>
              <a:t>of</a:t>
            </a:r>
            <a:r>
              <a:rPr lang="en-US" sz="2000" spc="290">
                <a:latin typeface="Times New Roman"/>
                <a:cs typeface="Times New Roman"/>
              </a:rPr>
              <a:t> </a:t>
            </a:r>
            <a:r>
              <a:rPr lang="en-US" sz="2000">
                <a:latin typeface="Times New Roman"/>
                <a:cs typeface="Times New Roman"/>
              </a:rPr>
              <a:t>data</a:t>
            </a:r>
            <a:r>
              <a:rPr lang="en-US" sz="2000" spc="290">
                <a:latin typeface="Times New Roman"/>
                <a:cs typeface="Times New Roman"/>
              </a:rPr>
              <a:t> </a:t>
            </a:r>
            <a:r>
              <a:rPr lang="en-US" sz="2000">
                <a:latin typeface="Times New Roman"/>
                <a:cs typeface="Times New Roman"/>
              </a:rPr>
              <a:t>structures</a:t>
            </a:r>
            <a:r>
              <a:rPr lang="en-US" sz="2000" spc="305">
                <a:latin typeface="Times New Roman"/>
                <a:cs typeface="Times New Roman"/>
              </a:rPr>
              <a:t> </a:t>
            </a:r>
            <a:r>
              <a:rPr lang="en-US" sz="2000">
                <a:latin typeface="Times New Roman"/>
                <a:cs typeface="Times New Roman"/>
              </a:rPr>
              <a:t>and</a:t>
            </a:r>
            <a:r>
              <a:rPr lang="en-US" sz="2000" spc="290">
                <a:latin typeface="Times New Roman"/>
                <a:cs typeface="Times New Roman"/>
              </a:rPr>
              <a:t> </a:t>
            </a:r>
            <a:r>
              <a:rPr lang="en-US" sz="2000">
                <a:latin typeface="Times New Roman"/>
                <a:cs typeface="Times New Roman"/>
              </a:rPr>
              <a:t>algorithms</a:t>
            </a:r>
            <a:r>
              <a:rPr lang="en-US" sz="2000" spc="310">
                <a:latin typeface="Times New Roman"/>
                <a:cs typeface="Times New Roman"/>
              </a:rPr>
              <a:t> </a:t>
            </a:r>
            <a:r>
              <a:rPr lang="en-US" sz="2000">
                <a:latin typeface="Times New Roman"/>
                <a:cs typeface="Times New Roman"/>
              </a:rPr>
              <a:t>appropriate</a:t>
            </a:r>
            <a:r>
              <a:rPr lang="en-US" sz="2000" spc="285">
                <a:latin typeface="Times New Roman"/>
                <a:cs typeface="Times New Roman"/>
              </a:rPr>
              <a:t> </a:t>
            </a:r>
            <a:r>
              <a:rPr lang="en-US" sz="2000">
                <a:latin typeface="Times New Roman"/>
                <a:cs typeface="Times New Roman"/>
              </a:rPr>
              <a:t>to</a:t>
            </a:r>
            <a:r>
              <a:rPr lang="en-US" sz="2000" spc="295">
                <a:latin typeface="Times New Roman"/>
                <a:cs typeface="Times New Roman"/>
              </a:rPr>
              <a:t> </a:t>
            </a:r>
            <a:r>
              <a:rPr lang="en-US" sz="2000" spc="-10">
                <a:latin typeface="Times New Roman"/>
                <a:cs typeface="Times New Roman"/>
              </a:rPr>
              <a:t>computational problems.</a:t>
            </a:r>
            <a:endParaRPr lang="en-US" sz="2000">
              <a:latin typeface="Times New Roman"/>
              <a:cs typeface="Times New Roman"/>
            </a:endParaRPr>
          </a:p>
          <a:p>
            <a:pPr marL="660400" marR="7620" indent="-330835">
              <a:lnSpc>
                <a:spcPts val="2210"/>
              </a:lnSpc>
              <a:spcBef>
                <a:spcPts val="120"/>
              </a:spcBef>
              <a:buAutoNum type="arabicPeriod"/>
              <a:tabLst>
                <a:tab pos="660400" algn="l"/>
              </a:tabLst>
            </a:pPr>
            <a:r>
              <a:rPr lang="en-US" sz="2000">
                <a:latin typeface="Times New Roman"/>
                <a:cs typeface="Times New Roman"/>
              </a:rPr>
              <a:t>An</a:t>
            </a:r>
            <a:r>
              <a:rPr lang="en-US" sz="2000" spc="-45">
                <a:latin typeface="Times New Roman"/>
                <a:cs typeface="Times New Roman"/>
              </a:rPr>
              <a:t> </a:t>
            </a:r>
            <a:r>
              <a:rPr lang="en-US" sz="2000">
                <a:latin typeface="Times New Roman"/>
                <a:cs typeface="Times New Roman"/>
              </a:rPr>
              <a:t>ability</a:t>
            </a:r>
            <a:r>
              <a:rPr lang="en-US" sz="2000" spc="-40">
                <a:latin typeface="Times New Roman"/>
                <a:cs typeface="Times New Roman"/>
              </a:rPr>
              <a:t> </a:t>
            </a:r>
            <a:r>
              <a:rPr lang="en-US" sz="2000">
                <a:latin typeface="Times New Roman"/>
                <a:cs typeface="Times New Roman"/>
              </a:rPr>
              <a:t>to</a:t>
            </a:r>
            <a:r>
              <a:rPr lang="en-US" sz="2000" spc="-40">
                <a:latin typeface="Times New Roman"/>
                <a:cs typeface="Times New Roman"/>
              </a:rPr>
              <a:t> </a:t>
            </a:r>
            <a:r>
              <a:rPr lang="en-US" sz="2000">
                <a:latin typeface="Times New Roman"/>
                <a:cs typeface="Times New Roman"/>
              </a:rPr>
              <a:t>apply</a:t>
            </a:r>
            <a:r>
              <a:rPr lang="en-US" sz="2000" spc="-40">
                <a:latin typeface="Times New Roman"/>
                <a:cs typeface="Times New Roman"/>
              </a:rPr>
              <a:t> </a:t>
            </a:r>
            <a:r>
              <a:rPr lang="en-US" sz="2000">
                <a:latin typeface="Times New Roman"/>
                <a:cs typeface="Times New Roman"/>
              </a:rPr>
              <a:t>knowledge</a:t>
            </a:r>
            <a:r>
              <a:rPr lang="en-US" sz="2000" spc="-40">
                <a:latin typeface="Times New Roman"/>
                <a:cs typeface="Times New Roman"/>
              </a:rPr>
              <a:t> </a:t>
            </a:r>
            <a:r>
              <a:rPr lang="en-US" sz="2000">
                <a:latin typeface="Times New Roman"/>
                <a:cs typeface="Times New Roman"/>
              </a:rPr>
              <a:t>of</a:t>
            </a:r>
            <a:r>
              <a:rPr lang="en-US" sz="2000" spc="-40">
                <a:latin typeface="Times New Roman"/>
                <a:cs typeface="Times New Roman"/>
              </a:rPr>
              <a:t> </a:t>
            </a:r>
            <a:r>
              <a:rPr lang="en-US" sz="2000">
                <a:latin typeface="Times New Roman"/>
                <a:cs typeface="Times New Roman"/>
              </a:rPr>
              <a:t>operating</a:t>
            </a:r>
            <a:r>
              <a:rPr lang="en-US" sz="2000" spc="-40">
                <a:latin typeface="Times New Roman"/>
                <a:cs typeface="Times New Roman"/>
              </a:rPr>
              <a:t> </a:t>
            </a:r>
            <a:r>
              <a:rPr lang="en-US" sz="2000">
                <a:latin typeface="Times New Roman"/>
                <a:cs typeface="Times New Roman"/>
              </a:rPr>
              <a:t>systems,</a:t>
            </a:r>
            <a:r>
              <a:rPr lang="en-US" sz="2000" spc="-45">
                <a:latin typeface="Times New Roman"/>
                <a:cs typeface="Times New Roman"/>
              </a:rPr>
              <a:t> </a:t>
            </a:r>
            <a:r>
              <a:rPr lang="en-US" sz="2000">
                <a:latin typeface="Times New Roman"/>
                <a:cs typeface="Times New Roman"/>
              </a:rPr>
              <a:t>programming</a:t>
            </a:r>
            <a:r>
              <a:rPr lang="en-US" sz="2000" spc="-25">
                <a:latin typeface="Times New Roman"/>
                <a:cs typeface="Times New Roman"/>
              </a:rPr>
              <a:t> </a:t>
            </a:r>
            <a:r>
              <a:rPr lang="en-US" sz="2000">
                <a:latin typeface="Times New Roman"/>
                <a:cs typeface="Times New Roman"/>
              </a:rPr>
              <a:t>languages,</a:t>
            </a:r>
            <a:r>
              <a:rPr lang="en-US" sz="2000" spc="-45">
                <a:latin typeface="Times New Roman"/>
                <a:cs typeface="Times New Roman"/>
              </a:rPr>
              <a:t> </a:t>
            </a:r>
            <a:r>
              <a:rPr lang="en-US" sz="2000">
                <a:latin typeface="Times New Roman"/>
                <a:cs typeface="Times New Roman"/>
              </a:rPr>
              <a:t>data</a:t>
            </a:r>
            <a:r>
              <a:rPr lang="en-US" sz="2000" spc="-10">
                <a:latin typeface="Times New Roman"/>
                <a:cs typeface="Times New Roman"/>
              </a:rPr>
              <a:t> </a:t>
            </a:r>
            <a:r>
              <a:rPr lang="en-US" sz="2000">
                <a:latin typeface="Times New Roman"/>
                <a:cs typeface="Times New Roman"/>
              </a:rPr>
              <a:t>management,</a:t>
            </a:r>
            <a:r>
              <a:rPr lang="en-US" sz="2000" spc="-40">
                <a:latin typeface="Times New Roman"/>
                <a:cs typeface="Times New Roman"/>
              </a:rPr>
              <a:t> </a:t>
            </a:r>
            <a:r>
              <a:rPr lang="en-US" sz="2000" spc="-25">
                <a:latin typeface="Times New Roman"/>
                <a:cs typeface="Times New Roman"/>
              </a:rPr>
              <a:t>or </a:t>
            </a:r>
            <a:r>
              <a:rPr lang="en-US" sz="2000">
                <a:latin typeface="Times New Roman"/>
                <a:cs typeface="Times New Roman"/>
              </a:rPr>
              <a:t>networking</a:t>
            </a:r>
            <a:r>
              <a:rPr lang="en-US" sz="2000" spc="-55">
                <a:latin typeface="Times New Roman"/>
                <a:cs typeface="Times New Roman"/>
              </a:rPr>
              <a:t> </a:t>
            </a:r>
            <a:r>
              <a:rPr lang="en-US" sz="2000">
                <a:latin typeface="Times New Roman"/>
                <a:cs typeface="Times New Roman"/>
              </a:rPr>
              <a:t>principles</a:t>
            </a:r>
            <a:r>
              <a:rPr lang="en-US" sz="2000" spc="-40">
                <a:latin typeface="Times New Roman"/>
                <a:cs typeface="Times New Roman"/>
              </a:rPr>
              <a:t> </a:t>
            </a:r>
            <a:r>
              <a:rPr lang="en-US" sz="2000">
                <a:latin typeface="Times New Roman"/>
                <a:cs typeface="Times New Roman"/>
              </a:rPr>
              <a:t>to</a:t>
            </a:r>
            <a:r>
              <a:rPr lang="en-US" sz="2000" spc="-55">
                <a:latin typeface="Times New Roman"/>
                <a:cs typeface="Times New Roman"/>
              </a:rPr>
              <a:t> </a:t>
            </a:r>
            <a:r>
              <a:rPr lang="en-US" sz="2000">
                <a:latin typeface="Times New Roman"/>
                <a:cs typeface="Times New Roman"/>
              </a:rPr>
              <a:t>computational</a:t>
            </a:r>
            <a:r>
              <a:rPr lang="en-US" sz="2000" spc="-10">
                <a:latin typeface="Times New Roman"/>
                <a:cs typeface="Times New Roman"/>
              </a:rPr>
              <a:t> assignments.</a:t>
            </a:r>
            <a:endParaRPr lang="en-US" sz="2000">
              <a:latin typeface="Times New Roman"/>
              <a:cs typeface="Times New Roman"/>
            </a:endParaRPr>
          </a:p>
          <a:p>
            <a:pPr marL="660400" indent="-330835">
              <a:lnSpc>
                <a:spcPct val="100000"/>
              </a:lnSpc>
              <a:spcBef>
                <a:spcPts val="170"/>
              </a:spcBef>
              <a:buAutoNum type="arabicPeriod"/>
              <a:tabLst>
                <a:tab pos="660400" algn="l"/>
              </a:tabLst>
            </a:pPr>
            <a:r>
              <a:rPr lang="en-US" sz="2000">
                <a:latin typeface="Times New Roman"/>
                <a:cs typeface="Times New Roman"/>
              </a:rPr>
              <a:t>An</a:t>
            </a:r>
            <a:r>
              <a:rPr lang="en-US" sz="2000" spc="385">
                <a:latin typeface="Times New Roman"/>
                <a:cs typeface="Times New Roman"/>
              </a:rPr>
              <a:t> </a:t>
            </a:r>
            <a:r>
              <a:rPr lang="en-US" sz="2000">
                <a:latin typeface="Times New Roman"/>
                <a:cs typeface="Times New Roman"/>
              </a:rPr>
              <a:t>ability</a:t>
            </a:r>
            <a:r>
              <a:rPr lang="en-US" sz="2000" spc="390">
                <a:latin typeface="Times New Roman"/>
                <a:cs typeface="Times New Roman"/>
              </a:rPr>
              <a:t> </a:t>
            </a:r>
            <a:r>
              <a:rPr lang="en-US" sz="2000">
                <a:latin typeface="Times New Roman"/>
                <a:cs typeface="Times New Roman"/>
              </a:rPr>
              <a:t>to</a:t>
            </a:r>
            <a:r>
              <a:rPr lang="en-US" sz="2000" spc="385">
                <a:latin typeface="Times New Roman"/>
                <a:cs typeface="Times New Roman"/>
              </a:rPr>
              <a:t> </a:t>
            </a:r>
            <a:r>
              <a:rPr lang="en-US" sz="2000">
                <a:latin typeface="Times New Roman"/>
                <a:cs typeface="Times New Roman"/>
              </a:rPr>
              <a:t>apply</a:t>
            </a:r>
            <a:r>
              <a:rPr lang="en-US" sz="2000" spc="395">
                <a:latin typeface="Times New Roman"/>
                <a:cs typeface="Times New Roman"/>
              </a:rPr>
              <a:t> </a:t>
            </a:r>
            <a:r>
              <a:rPr lang="en-US" sz="2000">
                <a:latin typeface="Times New Roman"/>
                <a:cs typeface="Times New Roman"/>
              </a:rPr>
              <a:t>design,</a:t>
            </a:r>
            <a:r>
              <a:rPr lang="en-US" sz="2000" spc="380">
                <a:latin typeface="Times New Roman"/>
                <a:cs typeface="Times New Roman"/>
              </a:rPr>
              <a:t> </a:t>
            </a:r>
            <a:r>
              <a:rPr lang="en-US" sz="2000">
                <a:latin typeface="Times New Roman"/>
                <a:cs typeface="Times New Roman"/>
              </a:rPr>
              <a:t>development,</a:t>
            </a:r>
            <a:r>
              <a:rPr lang="en-US" sz="2000" spc="415">
                <a:latin typeface="Times New Roman"/>
                <a:cs typeface="Times New Roman"/>
              </a:rPr>
              <a:t> </a:t>
            </a:r>
            <a:r>
              <a:rPr lang="en-US" sz="2000">
                <a:latin typeface="Times New Roman"/>
                <a:cs typeface="Times New Roman"/>
              </a:rPr>
              <a:t>maintenance</a:t>
            </a:r>
            <a:r>
              <a:rPr lang="en-US" sz="2000" spc="385">
                <a:latin typeface="Times New Roman"/>
                <a:cs typeface="Times New Roman"/>
              </a:rPr>
              <a:t> </a:t>
            </a:r>
            <a:r>
              <a:rPr lang="en-US" sz="2000">
                <a:latin typeface="Times New Roman"/>
                <a:cs typeface="Times New Roman"/>
              </a:rPr>
              <a:t>or</a:t>
            </a:r>
            <a:r>
              <a:rPr lang="en-US" sz="2000" spc="375">
                <a:latin typeface="Times New Roman"/>
                <a:cs typeface="Times New Roman"/>
              </a:rPr>
              <a:t> </a:t>
            </a:r>
            <a:r>
              <a:rPr lang="en-US" sz="2000">
                <a:latin typeface="Times New Roman"/>
                <a:cs typeface="Times New Roman"/>
              </a:rPr>
              <a:t>evaluation</a:t>
            </a:r>
            <a:r>
              <a:rPr lang="en-US" sz="2000" spc="405">
                <a:latin typeface="Times New Roman"/>
                <a:cs typeface="Times New Roman"/>
              </a:rPr>
              <a:t> </a:t>
            </a:r>
            <a:r>
              <a:rPr lang="en-US" sz="2000">
                <a:latin typeface="Times New Roman"/>
                <a:cs typeface="Times New Roman"/>
              </a:rPr>
              <a:t>of</a:t>
            </a:r>
            <a:r>
              <a:rPr lang="en-US" sz="2000" spc="390">
                <a:latin typeface="Times New Roman"/>
                <a:cs typeface="Times New Roman"/>
              </a:rPr>
              <a:t> </a:t>
            </a:r>
            <a:r>
              <a:rPr lang="en-US" sz="2000">
                <a:latin typeface="Times New Roman"/>
                <a:cs typeface="Times New Roman"/>
              </a:rPr>
              <a:t>software</a:t>
            </a:r>
            <a:r>
              <a:rPr lang="en-US" sz="2000" spc="390">
                <a:latin typeface="Times New Roman"/>
                <a:cs typeface="Times New Roman"/>
              </a:rPr>
              <a:t> </a:t>
            </a:r>
            <a:r>
              <a:rPr lang="en-US" sz="2000" spc="-10">
                <a:latin typeface="Times New Roman"/>
                <a:cs typeface="Times New Roman"/>
              </a:rPr>
              <a:t>engineering </a:t>
            </a:r>
            <a:r>
              <a:rPr lang="en-US" sz="2000">
                <a:latin typeface="Times New Roman"/>
                <a:cs typeface="Times New Roman"/>
              </a:rPr>
              <a:t>principles</a:t>
            </a:r>
            <a:r>
              <a:rPr lang="en-US" sz="2000" spc="415">
                <a:latin typeface="Times New Roman"/>
                <a:cs typeface="Times New Roman"/>
              </a:rPr>
              <a:t> </a:t>
            </a:r>
            <a:r>
              <a:rPr lang="en-US" sz="2000">
                <a:latin typeface="Times New Roman"/>
                <a:cs typeface="Times New Roman"/>
              </a:rPr>
              <a:t>in</a:t>
            </a:r>
            <a:r>
              <a:rPr lang="en-US" sz="2000" spc="420">
                <a:latin typeface="Times New Roman"/>
                <a:cs typeface="Times New Roman"/>
              </a:rPr>
              <a:t> </a:t>
            </a:r>
            <a:r>
              <a:rPr lang="en-US" sz="2000">
                <a:latin typeface="Times New Roman"/>
                <a:cs typeface="Times New Roman"/>
              </a:rPr>
              <a:t>the</a:t>
            </a:r>
            <a:r>
              <a:rPr lang="en-US" sz="2000" spc="430">
                <a:latin typeface="Times New Roman"/>
                <a:cs typeface="Times New Roman"/>
              </a:rPr>
              <a:t> </a:t>
            </a:r>
            <a:r>
              <a:rPr lang="en-US" sz="2000">
                <a:latin typeface="Times New Roman"/>
                <a:cs typeface="Times New Roman"/>
              </a:rPr>
              <a:t>construction</a:t>
            </a:r>
            <a:r>
              <a:rPr lang="en-US" sz="2000" spc="405">
                <a:latin typeface="Times New Roman"/>
                <a:cs typeface="Times New Roman"/>
              </a:rPr>
              <a:t> </a:t>
            </a:r>
            <a:r>
              <a:rPr lang="en-US" sz="2000">
                <a:latin typeface="Times New Roman"/>
                <a:cs typeface="Times New Roman"/>
              </a:rPr>
              <a:t>of</a:t>
            </a:r>
            <a:r>
              <a:rPr lang="en-US" sz="2000" spc="425">
                <a:latin typeface="Times New Roman"/>
                <a:cs typeface="Times New Roman"/>
              </a:rPr>
              <a:t> </a:t>
            </a:r>
            <a:r>
              <a:rPr lang="en-US" sz="2000">
                <a:latin typeface="Times New Roman"/>
                <a:cs typeface="Times New Roman"/>
              </a:rPr>
              <a:t>computer</a:t>
            </a:r>
            <a:r>
              <a:rPr lang="en-US" sz="2000" spc="420">
                <a:latin typeface="Times New Roman"/>
                <a:cs typeface="Times New Roman"/>
              </a:rPr>
              <a:t> </a:t>
            </a:r>
            <a:r>
              <a:rPr lang="en-US" sz="2000">
                <a:latin typeface="Times New Roman"/>
                <a:cs typeface="Times New Roman"/>
              </a:rPr>
              <a:t>and</a:t>
            </a:r>
            <a:r>
              <a:rPr lang="en-US" sz="2000" spc="409">
                <a:latin typeface="Times New Roman"/>
                <a:cs typeface="Times New Roman"/>
              </a:rPr>
              <a:t> </a:t>
            </a:r>
            <a:r>
              <a:rPr lang="en-US" sz="2000">
                <a:latin typeface="Times New Roman"/>
                <a:cs typeface="Times New Roman"/>
              </a:rPr>
              <a:t>software</a:t>
            </a:r>
            <a:r>
              <a:rPr lang="en-US" sz="2000" spc="415">
                <a:latin typeface="Times New Roman"/>
                <a:cs typeface="Times New Roman"/>
              </a:rPr>
              <a:t> </a:t>
            </a:r>
            <a:r>
              <a:rPr lang="en-US" sz="2000">
                <a:latin typeface="Times New Roman"/>
                <a:cs typeface="Times New Roman"/>
              </a:rPr>
              <a:t>systems</a:t>
            </a:r>
            <a:r>
              <a:rPr lang="en-US" sz="2000" spc="425">
                <a:latin typeface="Times New Roman"/>
                <a:cs typeface="Times New Roman"/>
              </a:rPr>
              <a:t> </a:t>
            </a:r>
            <a:r>
              <a:rPr lang="en-US" sz="2000">
                <a:latin typeface="Times New Roman"/>
                <a:cs typeface="Times New Roman"/>
              </a:rPr>
              <a:t>of</a:t>
            </a:r>
            <a:r>
              <a:rPr lang="en-US" sz="2000" spc="425">
                <a:latin typeface="Times New Roman"/>
                <a:cs typeface="Times New Roman"/>
              </a:rPr>
              <a:t> </a:t>
            </a:r>
            <a:r>
              <a:rPr lang="en-US" sz="2000">
                <a:latin typeface="Times New Roman"/>
                <a:cs typeface="Times New Roman"/>
              </a:rPr>
              <a:t>varying</a:t>
            </a:r>
            <a:r>
              <a:rPr lang="en-US" sz="2000" spc="405">
                <a:latin typeface="Times New Roman"/>
                <a:cs typeface="Times New Roman"/>
              </a:rPr>
              <a:t> </a:t>
            </a:r>
            <a:r>
              <a:rPr lang="en-US" sz="2000">
                <a:latin typeface="Times New Roman"/>
                <a:cs typeface="Times New Roman"/>
              </a:rPr>
              <a:t>complexity</a:t>
            </a:r>
            <a:r>
              <a:rPr lang="en-US" sz="2000" spc="420">
                <a:latin typeface="Times New Roman"/>
                <a:cs typeface="Times New Roman"/>
              </a:rPr>
              <a:t> </a:t>
            </a:r>
            <a:r>
              <a:rPr lang="en-US" sz="2000" spc="-25">
                <a:latin typeface="Times New Roman"/>
                <a:cs typeface="Times New Roman"/>
              </a:rPr>
              <a:t>and </a:t>
            </a:r>
            <a:r>
              <a:rPr lang="en-US" sz="2000" spc="-10">
                <a:latin typeface="Times New Roman"/>
                <a:cs typeface="Times New Roman"/>
              </a:rPr>
              <a:t>quality.</a:t>
            </a:r>
            <a:endParaRPr lang="en-US" sz="2000">
              <a:latin typeface="Times New Roman"/>
              <a:cs typeface="Times New Roman"/>
            </a:endParaRPr>
          </a:p>
          <a:p>
            <a:pPr marL="660400" indent="-330835">
              <a:lnSpc>
                <a:spcPct val="100000"/>
              </a:lnSpc>
              <a:spcBef>
                <a:spcPts val="285"/>
              </a:spcBef>
              <a:buAutoNum type="arabicPeriod" startAt="4"/>
              <a:tabLst>
                <a:tab pos="660400" algn="l"/>
                <a:tab pos="1038225" algn="l"/>
                <a:tab pos="1689100" algn="l"/>
                <a:tab pos="1976755" algn="l"/>
                <a:tab pos="3001645" algn="l"/>
                <a:tab pos="3844290" algn="l"/>
                <a:tab pos="4687570" algn="l"/>
                <a:tab pos="4977130" algn="l"/>
                <a:tab pos="5874385" algn="l"/>
                <a:tab pos="6297930" algn="l"/>
                <a:tab pos="6960234" algn="l"/>
                <a:tab pos="7259955" algn="l"/>
                <a:tab pos="8157845" algn="l"/>
              </a:tabLst>
            </a:pPr>
            <a:r>
              <a:rPr lang="en-US" sz="2000" spc="-25">
                <a:latin typeface="Times New Roman"/>
                <a:cs typeface="Times New Roman"/>
              </a:rPr>
              <a:t>An</a:t>
            </a:r>
            <a:r>
              <a:rPr lang="en-US" sz="2000">
                <a:latin typeface="Times New Roman"/>
                <a:cs typeface="Times New Roman"/>
              </a:rPr>
              <a:t>	</a:t>
            </a:r>
            <a:r>
              <a:rPr lang="en-US" sz="2000" spc="-10">
                <a:latin typeface="Times New Roman"/>
                <a:cs typeface="Times New Roman"/>
              </a:rPr>
              <a:t>ability</a:t>
            </a:r>
            <a:r>
              <a:rPr lang="en-US" sz="2000">
                <a:latin typeface="Times New Roman"/>
                <a:cs typeface="Times New Roman"/>
              </a:rPr>
              <a:t>	</a:t>
            </a:r>
            <a:r>
              <a:rPr lang="en-US" sz="2000" spc="-25">
                <a:latin typeface="Times New Roman"/>
                <a:cs typeface="Times New Roman"/>
              </a:rPr>
              <a:t>to</a:t>
            </a:r>
            <a:r>
              <a:rPr lang="en-US" sz="2000">
                <a:latin typeface="Times New Roman"/>
                <a:cs typeface="Times New Roman"/>
              </a:rPr>
              <a:t>	</a:t>
            </a:r>
            <a:r>
              <a:rPr lang="en-US" sz="2000" spc="-10">
                <a:latin typeface="Times New Roman"/>
                <a:cs typeface="Times New Roman"/>
              </a:rPr>
              <a:t>understand concepts involved</a:t>
            </a:r>
            <a:r>
              <a:rPr lang="en-US" sz="2000">
                <a:latin typeface="Times New Roman"/>
                <a:cs typeface="Times New Roman"/>
              </a:rPr>
              <a:t>	</a:t>
            </a:r>
            <a:r>
              <a:rPr lang="en-US" sz="2000" spc="-25">
                <a:latin typeface="Times New Roman"/>
                <a:cs typeface="Times New Roman"/>
              </a:rPr>
              <a:t>in </a:t>
            </a:r>
            <a:r>
              <a:rPr lang="en-US" sz="2000" spc="-10">
                <a:latin typeface="Times New Roman"/>
                <a:cs typeface="Times New Roman"/>
              </a:rPr>
              <a:t>modeling</a:t>
            </a:r>
            <a:r>
              <a:rPr lang="en-US" sz="2000">
                <a:latin typeface="Times New Roman"/>
                <a:cs typeface="Times New Roman"/>
              </a:rPr>
              <a:t>	</a:t>
            </a:r>
            <a:r>
              <a:rPr lang="en-US" sz="2000" spc="-25">
                <a:latin typeface="Times New Roman"/>
                <a:cs typeface="Times New Roman"/>
              </a:rPr>
              <a:t>and </a:t>
            </a:r>
            <a:r>
              <a:rPr lang="en-US" sz="2000" spc="-10">
                <a:latin typeface="Times New Roman"/>
                <a:cs typeface="Times New Roman"/>
              </a:rPr>
              <a:t>design </a:t>
            </a:r>
            <a:r>
              <a:rPr lang="en-US" sz="2000" spc="-25">
                <a:latin typeface="Times New Roman"/>
                <a:cs typeface="Times New Roman"/>
              </a:rPr>
              <a:t>of </a:t>
            </a:r>
            <a:r>
              <a:rPr lang="en-US" sz="2000" spc="-10">
                <a:latin typeface="Times New Roman"/>
                <a:cs typeface="Times New Roman"/>
              </a:rPr>
              <a:t>computer science </a:t>
            </a:r>
            <a:r>
              <a:rPr lang="en-US" sz="2000">
                <a:latin typeface="Times New Roman"/>
                <a:cs typeface="Times New Roman"/>
              </a:rPr>
              <a:t>applications</a:t>
            </a:r>
            <a:r>
              <a:rPr lang="en-US" sz="2000" spc="495">
                <a:latin typeface="Times New Roman"/>
                <a:cs typeface="Times New Roman"/>
              </a:rPr>
              <a:t> </a:t>
            </a:r>
            <a:r>
              <a:rPr lang="en-US" sz="2000">
                <a:latin typeface="Times New Roman"/>
                <a:cs typeface="Times New Roman"/>
              </a:rPr>
              <a:t>in</a:t>
            </a:r>
            <a:r>
              <a:rPr lang="en-US" sz="2000" spc="50">
                <a:latin typeface="Times New Roman"/>
                <a:cs typeface="Times New Roman"/>
              </a:rPr>
              <a:t>  </a:t>
            </a:r>
            <a:r>
              <a:rPr lang="en-US" sz="2000">
                <a:latin typeface="Times New Roman"/>
                <a:cs typeface="Times New Roman"/>
              </a:rPr>
              <a:t>a</a:t>
            </a:r>
            <a:r>
              <a:rPr lang="en-US" sz="2000" spc="50">
                <a:latin typeface="Times New Roman"/>
                <a:cs typeface="Times New Roman"/>
              </a:rPr>
              <a:t>  </a:t>
            </a:r>
            <a:r>
              <a:rPr lang="en-US" sz="2000">
                <a:latin typeface="Times New Roman"/>
                <a:cs typeface="Times New Roman"/>
              </a:rPr>
              <a:t>way</a:t>
            </a:r>
            <a:r>
              <a:rPr lang="en-US" sz="2000" spc="50">
                <a:latin typeface="Times New Roman"/>
                <a:cs typeface="Times New Roman"/>
              </a:rPr>
              <a:t>  </a:t>
            </a:r>
            <a:r>
              <a:rPr lang="en-US" sz="2000">
                <a:latin typeface="Times New Roman"/>
                <a:cs typeface="Times New Roman"/>
              </a:rPr>
              <a:t>that</a:t>
            </a:r>
            <a:r>
              <a:rPr lang="en-US" sz="2000" spc="490">
                <a:latin typeface="Times New Roman"/>
                <a:cs typeface="Times New Roman"/>
              </a:rPr>
              <a:t> </a:t>
            </a:r>
            <a:r>
              <a:rPr lang="en-US" sz="2000">
                <a:latin typeface="Times New Roman"/>
                <a:cs typeface="Times New Roman"/>
              </a:rPr>
              <a:t>demonstrates</a:t>
            </a:r>
            <a:r>
              <a:rPr lang="en-US" sz="2000" spc="50">
                <a:latin typeface="Times New Roman"/>
                <a:cs typeface="Times New Roman"/>
              </a:rPr>
              <a:t>  </a:t>
            </a:r>
            <a:r>
              <a:rPr lang="en-US" sz="2000">
                <a:latin typeface="Times New Roman"/>
                <a:cs typeface="Times New Roman"/>
              </a:rPr>
              <a:t>comprehension</a:t>
            </a:r>
            <a:r>
              <a:rPr lang="en-US" sz="2000" spc="50">
                <a:latin typeface="Times New Roman"/>
                <a:cs typeface="Times New Roman"/>
              </a:rPr>
              <a:t>  </a:t>
            </a:r>
            <a:r>
              <a:rPr lang="en-US" sz="2000">
                <a:latin typeface="Times New Roman"/>
                <a:cs typeface="Times New Roman"/>
              </a:rPr>
              <a:t>of</a:t>
            </a:r>
            <a:r>
              <a:rPr lang="en-US" sz="2000" spc="50">
                <a:latin typeface="Times New Roman"/>
                <a:cs typeface="Times New Roman"/>
              </a:rPr>
              <a:t>  </a:t>
            </a:r>
            <a:r>
              <a:rPr lang="en-US" sz="2000">
                <a:latin typeface="Times New Roman"/>
                <a:cs typeface="Times New Roman"/>
              </a:rPr>
              <a:t>the</a:t>
            </a:r>
            <a:r>
              <a:rPr lang="en-US" sz="2000" spc="490">
                <a:latin typeface="Times New Roman"/>
                <a:cs typeface="Times New Roman"/>
              </a:rPr>
              <a:t> </a:t>
            </a:r>
            <a:r>
              <a:rPr lang="en-US" sz="2000">
                <a:latin typeface="Times New Roman"/>
                <a:cs typeface="Times New Roman"/>
              </a:rPr>
              <a:t>fundamentals</a:t>
            </a:r>
            <a:r>
              <a:rPr lang="en-US" sz="2000" spc="495">
                <a:latin typeface="Times New Roman"/>
                <a:cs typeface="Times New Roman"/>
              </a:rPr>
              <a:t> </a:t>
            </a:r>
            <a:r>
              <a:rPr lang="en-US" sz="2000">
                <a:latin typeface="Times New Roman"/>
                <a:cs typeface="Times New Roman"/>
              </a:rPr>
              <a:t>and</a:t>
            </a:r>
            <a:r>
              <a:rPr lang="en-US" sz="2000" spc="50">
                <a:latin typeface="Times New Roman"/>
                <a:cs typeface="Times New Roman"/>
              </a:rPr>
              <a:t>  </a:t>
            </a:r>
            <a:r>
              <a:rPr lang="en-US" sz="2000" spc="-10">
                <a:latin typeface="Times New Roman"/>
                <a:cs typeface="Times New Roman"/>
              </a:rPr>
              <a:t>trade-</a:t>
            </a:r>
            <a:r>
              <a:rPr lang="en-US" sz="2000" spc="-20">
                <a:latin typeface="Times New Roman"/>
                <a:cs typeface="Times New Roman"/>
              </a:rPr>
              <a:t>offs </a:t>
            </a:r>
            <a:r>
              <a:rPr lang="en-US" sz="2000">
                <a:latin typeface="Times New Roman"/>
                <a:cs typeface="Times New Roman"/>
              </a:rPr>
              <a:t>involved</a:t>
            </a:r>
            <a:r>
              <a:rPr lang="en-US" sz="2000" spc="-30">
                <a:latin typeface="Times New Roman"/>
                <a:cs typeface="Times New Roman"/>
              </a:rPr>
              <a:t> </a:t>
            </a:r>
            <a:r>
              <a:rPr lang="en-US" sz="2000">
                <a:latin typeface="Times New Roman"/>
                <a:cs typeface="Times New Roman"/>
              </a:rPr>
              <a:t>in</a:t>
            </a:r>
            <a:r>
              <a:rPr lang="en-US" sz="2000" spc="-30">
                <a:latin typeface="Times New Roman"/>
                <a:cs typeface="Times New Roman"/>
              </a:rPr>
              <a:t> </a:t>
            </a:r>
            <a:r>
              <a:rPr lang="en-US" sz="2000">
                <a:latin typeface="Times New Roman"/>
                <a:cs typeface="Times New Roman"/>
              </a:rPr>
              <a:t>design</a:t>
            </a:r>
            <a:r>
              <a:rPr lang="en-US" sz="2000" spc="-30">
                <a:latin typeface="Times New Roman"/>
                <a:cs typeface="Times New Roman"/>
              </a:rPr>
              <a:t> </a:t>
            </a:r>
            <a:r>
              <a:rPr lang="en-US" sz="2000" spc="-10">
                <a:latin typeface="Times New Roman"/>
                <a:cs typeface="Times New Roman"/>
              </a:rPr>
              <a:t>choices.</a:t>
            </a:r>
            <a:endParaRPr lang="en-US" sz="2000">
              <a:latin typeface="Times New Roman"/>
              <a:cs typeface="Times New Roman"/>
            </a:endParaRPr>
          </a:p>
        </p:txBody>
      </p:sp>
    </p:spTree>
    <p:extLst>
      <p:ext uri="{BB962C8B-B14F-4D97-AF65-F5344CB8AC3E}">
        <p14:creationId xmlns:p14="http://schemas.microsoft.com/office/powerpoint/2010/main" val="3274493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5267325"/>
            <a:ext cx="9144000" cy="1590675"/>
            <a:chOff x="0" y="5267325"/>
            <a:chExt cx="9144000" cy="1590675"/>
          </a:xfrm>
        </p:grpSpPr>
        <p:pic>
          <p:nvPicPr>
            <p:cNvPr id="3" name="object 3"/>
            <p:cNvPicPr/>
            <p:nvPr/>
          </p:nvPicPr>
          <p:blipFill>
            <a:blip r:embed="rId2" cstate="print"/>
            <a:stretch>
              <a:fillRect/>
            </a:stretch>
          </p:blipFill>
          <p:spPr>
            <a:xfrm>
              <a:off x="0" y="5267325"/>
              <a:ext cx="9143999" cy="1590675"/>
            </a:xfrm>
            <a:prstGeom prst="rect">
              <a:avLst/>
            </a:prstGeom>
          </p:spPr>
        </p:pic>
        <p:pic>
          <p:nvPicPr>
            <p:cNvPr id="4" name="object 4"/>
            <p:cNvPicPr/>
            <p:nvPr/>
          </p:nvPicPr>
          <p:blipFill>
            <a:blip r:embed="rId3" cstate="print"/>
            <a:stretch>
              <a:fillRect/>
            </a:stretch>
          </p:blipFill>
          <p:spPr>
            <a:xfrm>
              <a:off x="548405" y="6485439"/>
              <a:ext cx="567928" cy="130026"/>
            </a:xfrm>
            <a:prstGeom prst="rect">
              <a:avLst/>
            </a:prstGeom>
          </p:spPr>
        </p:pic>
        <p:pic>
          <p:nvPicPr>
            <p:cNvPr id="5" name="object 5"/>
            <p:cNvPicPr/>
            <p:nvPr/>
          </p:nvPicPr>
          <p:blipFill>
            <a:blip r:embed="rId4" cstate="print"/>
            <a:stretch>
              <a:fillRect/>
            </a:stretch>
          </p:blipFill>
          <p:spPr>
            <a:xfrm>
              <a:off x="8527702" y="6498238"/>
              <a:ext cx="69056" cy="96688"/>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2428240">
              <a:lnSpc>
                <a:spcPct val="100000"/>
              </a:lnSpc>
              <a:spcBef>
                <a:spcPts val="100"/>
              </a:spcBef>
            </a:pPr>
            <a:r>
              <a:rPr spc="-10"/>
              <a:t>Contents</a:t>
            </a:r>
          </a:p>
        </p:txBody>
      </p:sp>
      <p:sp>
        <p:nvSpPr>
          <p:cNvPr id="7" name="object 7"/>
          <p:cNvSpPr txBox="1"/>
          <p:nvPr/>
        </p:nvSpPr>
        <p:spPr>
          <a:xfrm>
            <a:off x="453372" y="2587371"/>
            <a:ext cx="4975860" cy="3117850"/>
          </a:xfrm>
          <a:prstGeom prst="rect">
            <a:avLst/>
          </a:prstGeom>
        </p:spPr>
        <p:txBody>
          <a:bodyPr vert="horz" wrap="square" lIns="0" tIns="103505" rIns="0" bIns="0" rtlCol="0">
            <a:spAutoFit/>
          </a:bodyPr>
          <a:lstStyle/>
          <a:p>
            <a:pPr marL="295275" indent="-282575">
              <a:lnSpc>
                <a:spcPct val="100000"/>
              </a:lnSpc>
              <a:spcBef>
                <a:spcPts val="815"/>
              </a:spcBef>
              <a:buFont typeface="Arial MT"/>
              <a:buChar char="•"/>
              <a:tabLst>
                <a:tab pos="295275" algn="l"/>
              </a:tabLst>
            </a:pPr>
            <a:r>
              <a:rPr sz="2800" spc="-10">
                <a:latin typeface="Times New Roman"/>
                <a:cs typeface="Times New Roman"/>
              </a:rPr>
              <a:t>Introduction</a:t>
            </a:r>
            <a:endParaRPr sz="2800">
              <a:latin typeface="Times New Roman"/>
              <a:cs typeface="Times New Roman"/>
            </a:endParaRPr>
          </a:p>
          <a:p>
            <a:pPr marL="295275" indent="-282575">
              <a:lnSpc>
                <a:spcPct val="100000"/>
              </a:lnSpc>
              <a:spcBef>
                <a:spcPts val="715"/>
              </a:spcBef>
              <a:buFont typeface="Arial MT"/>
              <a:buChar char="•"/>
              <a:tabLst>
                <a:tab pos="295275" algn="l"/>
              </a:tabLst>
            </a:pPr>
            <a:r>
              <a:rPr sz="2800">
                <a:latin typeface="Times New Roman"/>
                <a:cs typeface="Times New Roman"/>
              </a:rPr>
              <a:t>Objective</a:t>
            </a:r>
            <a:r>
              <a:rPr sz="2800" spc="-30">
                <a:latin typeface="Times New Roman"/>
                <a:cs typeface="Times New Roman"/>
              </a:rPr>
              <a:t> </a:t>
            </a:r>
            <a:r>
              <a:rPr sz="2800">
                <a:latin typeface="Times New Roman"/>
                <a:cs typeface="Times New Roman"/>
              </a:rPr>
              <a:t>of</a:t>
            </a:r>
            <a:r>
              <a:rPr sz="2800" spc="-25">
                <a:latin typeface="Times New Roman"/>
                <a:cs typeface="Times New Roman"/>
              </a:rPr>
              <a:t> </a:t>
            </a:r>
            <a:r>
              <a:rPr sz="2800">
                <a:latin typeface="Times New Roman"/>
                <a:cs typeface="Times New Roman"/>
              </a:rPr>
              <a:t>the</a:t>
            </a:r>
            <a:r>
              <a:rPr sz="2800" spc="-30">
                <a:latin typeface="Times New Roman"/>
                <a:cs typeface="Times New Roman"/>
              </a:rPr>
              <a:t> </a:t>
            </a:r>
            <a:r>
              <a:rPr sz="2800" spc="-10">
                <a:latin typeface="Times New Roman"/>
                <a:cs typeface="Times New Roman"/>
              </a:rPr>
              <a:t>project</a:t>
            </a:r>
            <a:endParaRPr sz="2800">
              <a:latin typeface="Times New Roman"/>
              <a:cs typeface="Times New Roman"/>
            </a:endParaRPr>
          </a:p>
          <a:p>
            <a:pPr marL="295275" indent="-282575">
              <a:lnSpc>
                <a:spcPct val="100000"/>
              </a:lnSpc>
              <a:spcBef>
                <a:spcPts val="690"/>
              </a:spcBef>
              <a:buFont typeface="Arial MT"/>
              <a:buChar char="•"/>
              <a:tabLst>
                <a:tab pos="295275" algn="l"/>
              </a:tabLst>
            </a:pPr>
            <a:r>
              <a:rPr sz="2800">
                <a:latin typeface="Times New Roman"/>
                <a:cs typeface="Times New Roman"/>
              </a:rPr>
              <a:t>Problem</a:t>
            </a:r>
            <a:r>
              <a:rPr sz="2800" spc="-35">
                <a:latin typeface="Times New Roman"/>
                <a:cs typeface="Times New Roman"/>
              </a:rPr>
              <a:t> </a:t>
            </a:r>
            <a:r>
              <a:rPr sz="2800" spc="-10">
                <a:latin typeface="Times New Roman"/>
                <a:cs typeface="Times New Roman"/>
              </a:rPr>
              <a:t>Statement</a:t>
            </a:r>
            <a:endParaRPr sz="2800">
              <a:latin typeface="Times New Roman"/>
              <a:cs typeface="Times New Roman"/>
            </a:endParaRPr>
          </a:p>
          <a:p>
            <a:pPr marL="295275" indent="-282575">
              <a:lnSpc>
                <a:spcPct val="100000"/>
              </a:lnSpc>
              <a:spcBef>
                <a:spcPts val="690"/>
              </a:spcBef>
              <a:buFont typeface="Arial MT"/>
              <a:buChar char="•"/>
              <a:tabLst>
                <a:tab pos="295275" algn="l"/>
              </a:tabLst>
            </a:pPr>
            <a:r>
              <a:rPr sz="2800">
                <a:latin typeface="Times New Roman"/>
                <a:cs typeface="Times New Roman"/>
              </a:rPr>
              <a:t>Area</a:t>
            </a:r>
            <a:r>
              <a:rPr sz="2800" spc="-25">
                <a:latin typeface="Times New Roman"/>
                <a:cs typeface="Times New Roman"/>
              </a:rPr>
              <a:t> </a:t>
            </a:r>
            <a:r>
              <a:rPr sz="2800">
                <a:latin typeface="Times New Roman"/>
                <a:cs typeface="Times New Roman"/>
              </a:rPr>
              <a:t>of</a:t>
            </a:r>
            <a:r>
              <a:rPr sz="2800" spc="-15">
                <a:latin typeface="Times New Roman"/>
                <a:cs typeface="Times New Roman"/>
              </a:rPr>
              <a:t> </a:t>
            </a:r>
            <a:r>
              <a:rPr sz="2800">
                <a:latin typeface="Times New Roman"/>
                <a:cs typeface="Times New Roman"/>
              </a:rPr>
              <a:t>the</a:t>
            </a:r>
            <a:r>
              <a:rPr sz="2800" spc="-20">
                <a:latin typeface="Times New Roman"/>
                <a:cs typeface="Times New Roman"/>
              </a:rPr>
              <a:t> </a:t>
            </a:r>
            <a:r>
              <a:rPr sz="2800" spc="-10">
                <a:latin typeface="Times New Roman"/>
                <a:cs typeface="Times New Roman"/>
              </a:rPr>
              <a:t>project</a:t>
            </a:r>
            <a:endParaRPr sz="2800">
              <a:latin typeface="Times New Roman"/>
              <a:cs typeface="Times New Roman"/>
            </a:endParaRPr>
          </a:p>
          <a:p>
            <a:pPr marL="295275" indent="-282575">
              <a:lnSpc>
                <a:spcPct val="100000"/>
              </a:lnSpc>
              <a:spcBef>
                <a:spcPts val="690"/>
              </a:spcBef>
              <a:buFont typeface="Arial MT"/>
              <a:buChar char="•"/>
              <a:tabLst>
                <a:tab pos="295275" algn="l"/>
              </a:tabLst>
            </a:pPr>
            <a:r>
              <a:rPr lang="en-US" sz="2800">
                <a:latin typeface="Times New Roman"/>
                <a:cs typeface="Times New Roman"/>
              </a:rPr>
              <a:t>Functionality</a:t>
            </a:r>
            <a:endParaRPr sz="2800">
              <a:latin typeface="Times New Roman"/>
              <a:cs typeface="Times New Roman"/>
            </a:endParaRPr>
          </a:p>
          <a:p>
            <a:pPr marL="295275" indent="-282575">
              <a:lnSpc>
                <a:spcPct val="100000"/>
              </a:lnSpc>
              <a:spcBef>
                <a:spcPts val="690"/>
              </a:spcBef>
              <a:buFont typeface="Arial MT"/>
              <a:buChar char="•"/>
              <a:tabLst>
                <a:tab pos="295275" algn="l"/>
              </a:tabLst>
            </a:pPr>
            <a:r>
              <a:rPr sz="2800" spc="-10">
                <a:latin typeface="Times New Roman"/>
                <a:cs typeface="Times New Roman"/>
              </a:rPr>
              <a:t>Conclusions</a:t>
            </a:r>
            <a:endParaRPr sz="2800">
              <a:latin typeface="Times New Roman"/>
              <a:cs typeface="Times New Roman"/>
            </a:endParaRPr>
          </a:p>
        </p:txBody>
      </p:sp>
      <p:pic>
        <p:nvPicPr>
          <p:cNvPr id="8" name="object 8"/>
          <p:cNvPicPr/>
          <p:nvPr/>
        </p:nvPicPr>
        <p:blipFill>
          <a:blip r:embed="rId5" cstate="print"/>
          <a:stretch>
            <a:fillRect/>
          </a:stretch>
        </p:blipFill>
        <p:spPr>
          <a:xfrm>
            <a:off x="154360" y="11112"/>
            <a:ext cx="8904077" cy="1581764"/>
          </a:xfrm>
          <a:prstGeom prst="rect">
            <a:avLst/>
          </a:prstGeom>
        </p:spPr>
      </p:pic>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531423" y="6498424"/>
            <a:ext cx="60960" cy="97790"/>
          </a:xfrm>
          <a:custGeom>
            <a:avLst/>
            <a:gdLst/>
            <a:ahLst/>
            <a:cxnLst/>
            <a:rect l="l" t="t" r="r" b="b"/>
            <a:pathLst>
              <a:path w="60959" h="97790">
                <a:moveTo>
                  <a:pt x="30212" y="97780"/>
                </a:moveTo>
                <a:lnTo>
                  <a:pt x="21877" y="97780"/>
                </a:lnTo>
                <a:lnTo>
                  <a:pt x="19050" y="97532"/>
                </a:lnTo>
                <a:lnTo>
                  <a:pt x="0" y="88701"/>
                </a:lnTo>
                <a:lnTo>
                  <a:pt x="99" y="83393"/>
                </a:lnTo>
                <a:lnTo>
                  <a:pt x="892" y="81607"/>
                </a:lnTo>
                <a:lnTo>
                  <a:pt x="1785" y="81111"/>
                </a:lnTo>
                <a:lnTo>
                  <a:pt x="2579" y="81111"/>
                </a:lnTo>
                <a:lnTo>
                  <a:pt x="5407" y="82748"/>
                </a:lnTo>
                <a:lnTo>
                  <a:pt x="10417" y="84782"/>
                </a:lnTo>
                <a:lnTo>
                  <a:pt x="15180" y="86171"/>
                </a:lnTo>
                <a:lnTo>
                  <a:pt x="17760" y="86766"/>
                </a:lnTo>
                <a:lnTo>
                  <a:pt x="20835" y="87064"/>
                </a:lnTo>
                <a:lnTo>
                  <a:pt x="27781" y="87064"/>
                </a:lnTo>
                <a:lnTo>
                  <a:pt x="47178" y="70197"/>
                </a:lnTo>
                <a:lnTo>
                  <a:pt x="47178" y="63450"/>
                </a:lnTo>
                <a:lnTo>
                  <a:pt x="26888" y="47773"/>
                </a:lnTo>
                <a:lnTo>
                  <a:pt x="19645" y="47773"/>
                </a:lnTo>
                <a:lnTo>
                  <a:pt x="10665" y="48666"/>
                </a:lnTo>
                <a:lnTo>
                  <a:pt x="7391" y="48666"/>
                </a:lnTo>
                <a:lnTo>
                  <a:pt x="6399" y="48369"/>
                </a:lnTo>
                <a:lnTo>
                  <a:pt x="5209" y="47079"/>
                </a:lnTo>
                <a:lnTo>
                  <a:pt x="4911" y="45839"/>
                </a:lnTo>
                <a:lnTo>
                  <a:pt x="4911" y="3174"/>
                </a:lnTo>
                <a:lnTo>
                  <a:pt x="5258" y="1984"/>
                </a:lnTo>
                <a:lnTo>
                  <a:pt x="6746" y="396"/>
                </a:lnTo>
                <a:lnTo>
                  <a:pt x="7887" y="0"/>
                </a:lnTo>
                <a:lnTo>
                  <a:pt x="52337" y="0"/>
                </a:lnTo>
                <a:lnTo>
                  <a:pt x="53528" y="496"/>
                </a:lnTo>
                <a:lnTo>
                  <a:pt x="54520" y="2282"/>
                </a:lnTo>
                <a:lnTo>
                  <a:pt x="54768" y="7292"/>
                </a:lnTo>
                <a:lnTo>
                  <a:pt x="54520" y="8681"/>
                </a:lnTo>
                <a:lnTo>
                  <a:pt x="53528" y="10666"/>
                </a:lnTo>
                <a:lnTo>
                  <a:pt x="52834" y="11162"/>
                </a:lnTo>
                <a:lnTo>
                  <a:pt x="16073" y="11162"/>
                </a:lnTo>
                <a:lnTo>
                  <a:pt x="16073" y="38100"/>
                </a:lnTo>
                <a:lnTo>
                  <a:pt x="19496" y="37802"/>
                </a:lnTo>
                <a:lnTo>
                  <a:pt x="33139" y="37653"/>
                </a:lnTo>
                <a:lnTo>
                  <a:pt x="37901" y="38298"/>
                </a:lnTo>
                <a:lnTo>
                  <a:pt x="60721" y="61168"/>
                </a:lnTo>
                <a:lnTo>
                  <a:pt x="60721" y="65335"/>
                </a:lnTo>
                <a:lnTo>
                  <a:pt x="60721" y="70494"/>
                </a:lnTo>
                <a:lnTo>
                  <a:pt x="35073" y="97035"/>
                </a:lnTo>
                <a:lnTo>
                  <a:pt x="30212" y="97780"/>
                </a:lnTo>
                <a:close/>
              </a:path>
            </a:pathLst>
          </a:custGeom>
          <a:solidFill>
            <a:srgbClr val="888888"/>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983105">
              <a:lnSpc>
                <a:spcPct val="100000"/>
              </a:lnSpc>
              <a:spcBef>
                <a:spcPts val="100"/>
              </a:spcBef>
            </a:pPr>
            <a:r>
              <a:rPr spc="-10"/>
              <a:t>Introduction</a:t>
            </a:r>
          </a:p>
        </p:txBody>
      </p:sp>
      <p:pic>
        <p:nvPicPr>
          <p:cNvPr id="5" name="object 5"/>
          <p:cNvPicPr/>
          <p:nvPr/>
        </p:nvPicPr>
        <p:blipFill>
          <a:blip r:embed="rId2" cstate="print"/>
          <a:stretch>
            <a:fillRect/>
          </a:stretch>
        </p:blipFill>
        <p:spPr>
          <a:xfrm>
            <a:off x="154360" y="11112"/>
            <a:ext cx="8904076" cy="1581764"/>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
        <p:nvSpPr>
          <p:cNvPr id="4" name="TextBox 3">
            <a:extLst>
              <a:ext uri="{FF2B5EF4-FFF2-40B4-BE49-F238E27FC236}">
                <a16:creationId xmlns:a16="http://schemas.microsoft.com/office/drawing/2014/main" id="{B9A19F46-8E87-186B-27A9-2F2714054D2F}"/>
              </a:ext>
            </a:extLst>
          </p:cNvPr>
          <p:cNvSpPr txBox="1"/>
          <p:nvPr/>
        </p:nvSpPr>
        <p:spPr>
          <a:xfrm>
            <a:off x="381000" y="2819400"/>
            <a:ext cx="8397240" cy="2554545"/>
          </a:xfrm>
          <a:prstGeom prst="rect">
            <a:avLst/>
          </a:prstGeom>
          <a:noFill/>
        </p:spPr>
        <p:txBody>
          <a:bodyPr wrap="square" rtlCol="0">
            <a:spAutoFit/>
          </a:bodyPr>
          <a:lstStyle/>
          <a:p>
            <a:r>
              <a:rPr lang="en-US" sz="2000"/>
              <a:t>Community donation plays a vital role in supporting underprivileged individuals and promoting sustainability. However, most donation activities are still conducted through unorganized and manual processes. Donors often face difficulty in finding trustworthy organizations, while NGOs struggle to manage and track in coming donations efficiently. Donate Hub aims to solve these problems by offering a centralized digital platform that ensures transparency, ease of use, and effective coordination among all stakeholders involved in the donation process.</a:t>
            </a:r>
            <a:endParaRPr lang="en-IN"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532107" y="6497085"/>
            <a:ext cx="63500" cy="99695"/>
          </a:xfrm>
          <a:custGeom>
            <a:avLst/>
            <a:gdLst/>
            <a:ahLst/>
            <a:cxnLst/>
            <a:rect l="l" t="t" r="r" b="b"/>
            <a:pathLst>
              <a:path w="63500" h="99695">
                <a:moveTo>
                  <a:pt x="35928" y="99119"/>
                </a:moveTo>
                <a:lnTo>
                  <a:pt x="26303" y="99119"/>
                </a:lnTo>
                <a:lnTo>
                  <a:pt x="22781" y="98623"/>
                </a:lnTo>
                <a:lnTo>
                  <a:pt x="4569" y="84137"/>
                </a:lnTo>
                <a:lnTo>
                  <a:pt x="4486" y="83988"/>
                </a:lnTo>
                <a:lnTo>
                  <a:pt x="4376" y="83790"/>
                </a:lnTo>
                <a:lnTo>
                  <a:pt x="3185" y="80764"/>
                </a:lnTo>
                <a:lnTo>
                  <a:pt x="1400" y="73917"/>
                </a:lnTo>
                <a:lnTo>
                  <a:pt x="840" y="70643"/>
                </a:lnTo>
                <a:lnTo>
                  <a:pt x="755" y="70147"/>
                </a:lnTo>
                <a:lnTo>
                  <a:pt x="0" y="62408"/>
                </a:lnTo>
                <a:lnTo>
                  <a:pt x="107" y="43259"/>
                </a:lnTo>
                <a:lnTo>
                  <a:pt x="225" y="42019"/>
                </a:lnTo>
                <a:lnTo>
                  <a:pt x="315" y="41076"/>
                </a:lnTo>
                <a:lnTo>
                  <a:pt x="14794" y="8334"/>
                </a:lnTo>
                <a:lnTo>
                  <a:pt x="17771" y="5754"/>
                </a:lnTo>
                <a:lnTo>
                  <a:pt x="21293" y="3720"/>
                </a:lnTo>
                <a:lnTo>
                  <a:pt x="29528" y="744"/>
                </a:lnTo>
                <a:lnTo>
                  <a:pt x="34340" y="0"/>
                </a:lnTo>
                <a:lnTo>
                  <a:pt x="42476" y="0"/>
                </a:lnTo>
                <a:lnTo>
                  <a:pt x="54531" y="2530"/>
                </a:lnTo>
                <a:lnTo>
                  <a:pt x="55622" y="2926"/>
                </a:lnTo>
                <a:lnTo>
                  <a:pt x="56317" y="3274"/>
                </a:lnTo>
                <a:lnTo>
                  <a:pt x="56615" y="3571"/>
                </a:lnTo>
                <a:lnTo>
                  <a:pt x="56912" y="3720"/>
                </a:lnTo>
                <a:lnTo>
                  <a:pt x="57309" y="4067"/>
                </a:lnTo>
                <a:lnTo>
                  <a:pt x="57508" y="4464"/>
                </a:lnTo>
                <a:lnTo>
                  <a:pt x="57706" y="4762"/>
                </a:lnTo>
                <a:lnTo>
                  <a:pt x="57855" y="5109"/>
                </a:lnTo>
                <a:lnTo>
                  <a:pt x="57976" y="8334"/>
                </a:lnTo>
                <a:lnTo>
                  <a:pt x="57990" y="10120"/>
                </a:lnTo>
                <a:lnTo>
                  <a:pt x="34340" y="10120"/>
                </a:lnTo>
                <a:lnTo>
                  <a:pt x="30580" y="11013"/>
                </a:lnTo>
                <a:lnTo>
                  <a:pt x="12841" y="38546"/>
                </a:lnTo>
                <a:lnTo>
                  <a:pt x="12719" y="39439"/>
                </a:lnTo>
                <a:lnTo>
                  <a:pt x="12594" y="40630"/>
                </a:lnTo>
                <a:lnTo>
                  <a:pt x="12480" y="43259"/>
                </a:lnTo>
                <a:lnTo>
                  <a:pt x="12413" y="44797"/>
                </a:lnTo>
                <a:lnTo>
                  <a:pt x="55252" y="44797"/>
                </a:lnTo>
                <a:lnTo>
                  <a:pt x="56764" y="46583"/>
                </a:lnTo>
                <a:lnTo>
                  <a:pt x="58680" y="48666"/>
                </a:lnTo>
                <a:lnTo>
                  <a:pt x="30867" y="48666"/>
                </a:lnTo>
                <a:lnTo>
                  <a:pt x="29032" y="48815"/>
                </a:lnTo>
                <a:lnTo>
                  <a:pt x="16878" y="52536"/>
                </a:lnTo>
                <a:lnTo>
                  <a:pt x="15389" y="53230"/>
                </a:lnTo>
                <a:lnTo>
                  <a:pt x="14000" y="54024"/>
                </a:lnTo>
                <a:lnTo>
                  <a:pt x="12710" y="54917"/>
                </a:lnTo>
                <a:lnTo>
                  <a:pt x="12787" y="62408"/>
                </a:lnTo>
                <a:lnTo>
                  <a:pt x="12954" y="64690"/>
                </a:lnTo>
                <a:lnTo>
                  <a:pt x="13078" y="66377"/>
                </a:lnTo>
                <a:lnTo>
                  <a:pt x="13107" y="66774"/>
                </a:lnTo>
                <a:lnTo>
                  <a:pt x="14576" y="74761"/>
                </a:lnTo>
                <a:lnTo>
                  <a:pt x="14677" y="75307"/>
                </a:lnTo>
                <a:lnTo>
                  <a:pt x="15851" y="78730"/>
                </a:lnTo>
                <a:lnTo>
                  <a:pt x="16649" y="80069"/>
                </a:lnTo>
                <a:lnTo>
                  <a:pt x="18938" y="83790"/>
                </a:lnTo>
                <a:lnTo>
                  <a:pt x="19060" y="83988"/>
                </a:lnTo>
                <a:lnTo>
                  <a:pt x="20995" y="85873"/>
                </a:lnTo>
                <a:lnTo>
                  <a:pt x="23277" y="87064"/>
                </a:lnTo>
                <a:lnTo>
                  <a:pt x="25550" y="88106"/>
                </a:lnTo>
                <a:lnTo>
                  <a:pt x="25410" y="88106"/>
                </a:lnTo>
                <a:lnTo>
                  <a:pt x="28387" y="88701"/>
                </a:lnTo>
                <a:lnTo>
                  <a:pt x="55515" y="88701"/>
                </a:lnTo>
                <a:lnTo>
                  <a:pt x="52448" y="92124"/>
                </a:lnTo>
                <a:lnTo>
                  <a:pt x="49025" y="94555"/>
                </a:lnTo>
                <a:lnTo>
                  <a:pt x="44857" y="96440"/>
                </a:lnTo>
                <a:lnTo>
                  <a:pt x="40789" y="98226"/>
                </a:lnTo>
                <a:lnTo>
                  <a:pt x="35928" y="99119"/>
                </a:lnTo>
                <a:close/>
              </a:path>
              <a:path w="63500" h="99695">
                <a:moveTo>
                  <a:pt x="56987" y="13394"/>
                </a:moveTo>
                <a:lnTo>
                  <a:pt x="54779" y="13394"/>
                </a:lnTo>
                <a:lnTo>
                  <a:pt x="53291" y="12948"/>
                </a:lnTo>
                <a:lnTo>
                  <a:pt x="53452" y="12948"/>
                </a:lnTo>
                <a:lnTo>
                  <a:pt x="52894" y="12700"/>
                </a:lnTo>
                <a:lnTo>
                  <a:pt x="51753" y="12303"/>
                </a:lnTo>
                <a:lnTo>
                  <a:pt x="50364" y="11906"/>
                </a:lnTo>
                <a:lnTo>
                  <a:pt x="49074" y="11410"/>
                </a:lnTo>
                <a:lnTo>
                  <a:pt x="47487" y="11013"/>
                </a:lnTo>
                <a:lnTo>
                  <a:pt x="45602" y="10715"/>
                </a:lnTo>
                <a:lnTo>
                  <a:pt x="43716" y="10318"/>
                </a:lnTo>
                <a:lnTo>
                  <a:pt x="41484" y="10120"/>
                </a:lnTo>
                <a:lnTo>
                  <a:pt x="57990" y="10120"/>
                </a:lnTo>
                <a:lnTo>
                  <a:pt x="58003" y="11906"/>
                </a:lnTo>
                <a:lnTo>
                  <a:pt x="57830" y="12303"/>
                </a:lnTo>
                <a:lnTo>
                  <a:pt x="57718" y="12700"/>
                </a:lnTo>
                <a:lnTo>
                  <a:pt x="57574" y="12948"/>
                </a:lnTo>
                <a:lnTo>
                  <a:pt x="56987" y="13394"/>
                </a:lnTo>
                <a:close/>
              </a:path>
              <a:path w="63500" h="99695">
                <a:moveTo>
                  <a:pt x="55252" y="44797"/>
                </a:moveTo>
                <a:lnTo>
                  <a:pt x="12413" y="44797"/>
                </a:lnTo>
                <a:lnTo>
                  <a:pt x="13703" y="44003"/>
                </a:lnTo>
                <a:lnTo>
                  <a:pt x="15141" y="43259"/>
                </a:lnTo>
                <a:lnTo>
                  <a:pt x="16729" y="42564"/>
                </a:lnTo>
                <a:lnTo>
                  <a:pt x="18415" y="41771"/>
                </a:lnTo>
                <a:lnTo>
                  <a:pt x="20201" y="41076"/>
                </a:lnTo>
                <a:lnTo>
                  <a:pt x="23972" y="39885"/>
                </a:lnTo>
                <a:lnTo>
                  <a:pt x="25956" y="39439"/>
                </a:lnTo>
                <a:lnTo>
                  <a:pt x="28040" y="39141"/>
                </a:lnTo>
                <a:lnTo>
                  <a:pt x="30223" y="38744"/>
                </a:lnTo>
                <a:lnTo>
                  <a:pt x="32554" y="38546"/>
                </a:lnTo>
                <a:lnTo>
                  <a:pt x="40194" y="38546"/>
                </a:lnTo>
                <a:lnTo>
                  <a:pt x="43936" y="39141"/>
                </a:lnTo>
                <a:lnTo>
                  <a:pt x="44305" y="39141"/>
                </a:lnTo>
                <a:lnTo>
                  <a:pt x="51703" y="42019"/>
                </a:lnTo>
                <a:lnTo>
                  <a:pt x="54581" y="44003"/>
                </a:lnTo>
                <a:lnTo>
                  <a:pt x="55252" y="44797"/>
                </a:lnTo>
                <a:close/>
              </a:path>
              <a:path w="63500" h="99695">
                <a:moveTo>
                  <a:pt x="55515" y="88701"/>
                </a:moveTo>
                <a:lnTo>
                  <a:pt x="34638" y="88701"/>
                </a:lnTo>
                <a:lnTo>
                  <a:pt x="37366" y="88106"/>
                </a:lnTo>
                <a:lnTo>
                  <a:pt x="39648" y="86915"/>
                </a:lnTo>
                <a:lnTo>
                  <a:pt x="48876" y="75307"/>
                </a:lnTo>
                <a:lnTo>
                  <a:pt x="49669" y="72826"/>
                </a:lnTo>
                <a:lnTo>
                  <a:pt x="50005" y="70643"/>
                </a:lnTo>
                <a:lnTo>
                  <a:pt x="50066" y="64690"/>
                </a:lnTo>
                <a:lnTo>
                  <a:pt x="49803" y="62408"/>
                </a:lnTo>
                <a:lnTo>
                  <a:pt x="49743" y="62011"/>
                </a:lnTo>
                <a:lnTo>
                  <a:pt x="48629" y="57646"/>
                </a:lnTo>
                <a:lnTo>
                  <a:pt x="48578" y="57447"/>
                </a:lnTo>
                <a:lnTo>
                  <a:pt x="47499" y="55364"/>
                </a:lnTo>
                <a:lnTo>
                  <a:pt x="46197" y="53875"/>
                </a:lnTo>
                <a:lnTo>
                  <a:pt x="44907" y="52189"/>
                </a:lnTo>
                <a:lnTo>
                  <a:pt x="43121" y="50899"/>
                </a:lnTo>
                <a:lnTo>
                  <a:pt x="40839" y="50006"/>
                </a:lnTo>
                <a:lnTo>
                  <a:pt x="38535" y="49063"/>
                </a:lnTo>
                <a:lnTo>
                  <a:pt x="38353" y="49063"/>
                </a:lnTo>
                <a:lnTo>
                  <a:pt x="35928" y="48666"/>
                </a:lnTo>
                <a:lnTo>
                  <a:pt x="58680" y="48666"/>
                </a:lnTo>
                <a:lnTo>
                  <a:pt x="59046" y="49063"/>
                </a:lnTo>
                <a:lnTo>
                  <a:pt x="60633" y="51990"/>
                </a:lnTo>
                <a:lnTo>
                  <a:pt x="61408" y="54917"/>
                </a:lnTo>
                <a:lnTo>
                  <a:pt x="62518" y="58737"/>
                </a:lnTo>
                <a:lnTo>
                  <a:pt x="62874" y="61366"/>
                </a:lnTo>
                <a:lnTo>
                  <a:pt x="62961" y="62011"/>
                </a:lnTo>
                <a:lnTo>
                  <a:pt x="63014" y="70643"/>
                </a:lnTo>
                <a:lnTo>
                  <a:pt x="62370" y="74761"/>
                </a:lnTo>
                <a:lnTo>
                  <a:pt x="61080" y="78730"/>
                </a:lnTo>
                <a:lnTo>
                  <a:pt x="59790" y="82599"/>
                </a:lnTo>
                <a:lnTo>
                  <a:pt x="58004" y="85725"/>
                </a:lnTo>
                <a:lnTo>
                  <a:pt x="57919" y="85873"/>
                </a:lnTo>
                <a:lnTo>
                  <a:pt x="57805" y="86072"/>
                </a:lnTo>
                <a:lnTo>
                  <a:pt x="55515" y="88701"/>
                </a:lnTo>
                <a:close/>
              </a:path>
            </a:pathLst>
          </a:custGeom>
          <a:solidFill>
            <a:srgbClr val="888888"/>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2242185">
              <a:lnSpc>
                <a:spcPct val="100000"/>
              </a:lnSpc>
              <a:spcBef>
                <a:spcPts val="100"/>
              </a:spcBef>
            </a:pPr>
            <a:r>
              <a:rPr spc="-10"/>
              <a:t>Objectives</a:t>
            </a:r>
          </a:p>
        </p:txBody>
      </p:sp>
      <p:pic>
        <p:nvPicPr>
          <p:cNvPr id="5" name="object 5"/>
          <p:cNvPicPr/>
          <p:nvPr/>
        </p:nvPicPr>
        <p:blipFill>
          <a:blip r:embed="rId2" cstate="print"/>
          <a:stretch>
            <a:fillRect/>
          </a:stretch>
        </p:blipFill>
        <p:spPr>
          <a:xfrm>
            <a:off x="154360" y="11112"/>
            <a:ext cx="8904076" cy="1581764"/>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
        <p:nvSpPr>
          <p:cNvPr id="4" name="TextBox 3">
            <a:extLst>
              <a:ext uri="{FF2B5EF4-FFF2-40B4-BE49-F238E27FC236}">
                <a16:creationId xmlns:a16="http://schemas.microsoft.com/office/drawing/2014/main" id="{3978E816-B934-CF76-4FCF-EA766A903CE1}"/>
              </a:ext>
            </a:extLst>
          </p:cNvPr>
          <p:cNvSpPr txBox="1"/>
          <p:nvPr/>
        </p:nvSpPr>
        <p:spPr>
          <a:xfrm>
            <a:off x="533400" y="2514600"/>
            <a:ext cx="7998707" cy="3170099"/>
          </a:xfrm>
          <a:prstGeom prst="rect">
            <a:avLst/>
          </a:prstGeom>
          <a:noFill/>
        </p:spPr>
        <p:txBody>
          <a:bodyPr wrap="square" rtlCol="0">
            <a:spAutoFit/>
          </a:bodyPr>
          <a:lstStyle/>
          <a:p>
            <a:r>
              <a:rPr lang="en-US" sz="2000"/>
              <a:t>Donate Hub is a centralized web-based donation management platform aimed at simplifying and digitizing the process of donating reusable items such as clothes, books, toys, and household essentials. Traditional donation systems often rely on manual coordination, phone calls, or social media posts, which lack transparency and efficiency. Donate Hub addresses these challenges by providing a unified platform that connects donors with NGOs and administrators, enabling donation submission, tracking, and management. This document presents a com prehensive requirement analysis of the Donate Hub system</a:t>
            </a:r>
            <a:endParaRPr lang="en-IN"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531274" y="6498424"/>
            <a:ext cx="62865" cy="97155"/>
          </a:xfrm>
          <a:custGeom>
            <a:avLst/>
            <a:gdLst/>
            <a:ahLst/>
            <a:cxnLst/>
            <a:rect l="l" t="t" r="r" b="b"/>
            <a:pathLst>
              <a:path w="62865" h="97154">
                <a:moveTo>
                  <a:pt x="16916" y="96738"/>
                </a:moveTo>
                <a:lnTo>
                  <a:pt x="12997" y="96142"/>
                </a:lnTo>
                <a:lnTo>
                  <a:pt x="12104" y="95448"/>
                </a:lnTo>
                <a:lnTo>
                  <a:pt x="11906" y="95051"/>
                </a:lnTo>
                <a:lnTo>
                  <a:pt x="12203" y="93563"/>
                </a:lnTo>
                <a:lnTo>
                  <a:pt x="48964" y="11162"/>
                </a:lnTo>
                <a:lnTo>
                  <a:pt x="1835" y="11162"/>
                </a:lnTo>
                <a:lnTo>
                  <a:pt x="1091" y="10666"/>
                </a:lnTo>
                <a:lnTo>
                  <a:pt x="198" y="8681"/>
                </a:lnTo>
                <a:lnTo>
                  <a:pt x="0" y="7292"/>
                </a:lnTo>
                <a:lnTo>
                  <a:pt x="248" y="2430"/>
                </a:lnTo>
                <a:lnTo>
                  <a:pt x="892" y="843"/>
                </a:lnTo>
                <a:lnTo>
                  <a:pt x="1885" y="99"/>
                </a:lnTo>
                <a:lnTo>
                  <a:pt x="2827" y="0"/>
                </a:lnTo>
                <a:lnTo>
                  <a:pt x="59630" y="0"/>
                </a:lnTo>
                <a:lnTo>
                  <a:pt x="61217" y="396"/>
                </a:lnTo>
                <a:lnTo>
                  <a:pt x="61614" y="694"/>
                </a:lnTo>
                <a:lnTo>
                  <a:pt x="62408" y="2133"/>
                </a:lnTo>
                <a:lnTo>
                  <a:pt x="62805" y="4415"/>
                </a:lnTo>
                <a:lnTo>
                  <a:pt x="62805" y="5506"/>
                </a:lnTo>
                <a:lnTo>
                  <a:pt x="25846" y="94853"/>
                </a:lnTo>
                <a:lnTo>
                  <a:pt x="23465" y="96490"/>
                </a:lnTo>
                <a:lnTo>
                  <a:pt x="16916" y="96738"/>
                </a:lnTo>
                <a:close/>
              </a:path>
            </a:pathLst>
          </a:custGeom>
          <a:solidFill>
            <a:srgbClr val="888888"/>
          </a:solidFill>
        </p:spPr>
        <p:txBody>
          <a:bodyPr wrap="square" lIns="0" tIns="0" rIns="0" bIns="0" rtlCol="0"/>
          <a:lstStyle/>
          <a:p>
            <a:endParaRPr/>
          </a:p>
        </p:txBody>
      </p:sp>
      <p:sp>
        <p:nvSpPr>
          <p:cNvPr id="3" name="object 3"/>
          <p:cNvSpPr txBox="1">
            <a:spLocks noGrp="1"/>
          </p:cNvSpPr>
          <p:nvPr>
            <p:ph type="title"/>
          </p:nvPr>
        </p:nvSpPr>
        <p:spPr>
          <a:xfrm>
            <a:off x="2260389" y="1727073"/>
            <a:ext cx="4623435" cy="695960"/>
          </a:xfrm>
          <a:prstGeom prst="rect">
            <a:avLst/>
          </a:prstGeom>
        </p:spPr>
        <p:txBody>
          <a:bodyPr vert="horz" wrap="square" lIns="0" tIns="12700" rIns="0" bIns="0" rtlCol="0">
            <a:spAutoFit/>
          </a:bodyPr>
          <a:lstStyle/>
          <a:p>
            <a:pPr marL="12700">
              <a:lnSpc>
                <a:spcPct val="100000"/>
              </a:lnSpc>
              <a:spcBef>
                <a:spcPts val="100"/>
              </a:spcBef>
              <a:tabLst>
                <a:tab pos="2189480" algn="l"/>
              </a:tabLst>
            </a:pPr>
            <a:r>
              <a:rPr spc="-10"/>
              <a:t>Problem</a:t>
            </a:r>
            <a:r>
              <a:t>	</a:t>
            </a:r>
            <a:r>
              <a:rPr spc="-10"/>
              <a:t>Statement</a:t>
            </a:r>
          </a:p>
        </p:txBody>
      </p:sp>
      <p:pic>
        <p:nvPicPr>
          <p:cNvPr id="5" name="object 5"/>
          <p:cNvPicPr/>
          <p:nvPr/>
        </p:nvPicPr>
        <p:blipFill>
          <a:blip r:embed="rId2" cstate="print"/>
          <a:stretch>
            <a:fillRect/>
          </a:stretch>
        </p:blipFill>
        <p:spPr>
          <a:xfrm>
            <a:off x="154360" y="11112"/>
            <a:ext cx="8904076" cy="1581764"/>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
        <p:nvSpPr>
          <p:cNvPr id="4" name="TextBox 3">
            <a:extLst>
              <a:ext uri="{FF2B5EF4-FFF2-40B4-BE49-F238E27FC236}">
                <a16:creationId xmlns:a16="http://schemas.microsoft.com/office/drawing/2014/main" id="{952E89F9-9562-0565-C015-7B0440365E7D}"/>
              </a:ext>
            </a:extLst>
          </p:cNvPr>
          <p:cNvSpPr txBox="1"/>
          <p:nvPr/>
        </p:nvSpPr>
        <p:spPr>
          <a:xfrm>
            <a:off x="457200" y="2743200"/>
            <a:ext cx="8136939" cy="2554545"/>
          </a:xfrm>
          <a:prstGeom prst="rect">
            <a:avLst/>
          </a:prstGeom>
          <a:noFill/>
        </p:spPr>
        <p:txBody>
          <a:bodyPr wrap="square" rtlCol="0">
            <a:spAutoFit/>
          </a:bodyPr>
          <a:lstStyle/>
          <a:p>
            <a:r>
              <a:rPr lang="en-US" sz="2000"/>
              <a:t>The absence of a centralized donation management system results in fragmented work f lows and inefficient communication. Existing methods rely heavily on informal channels such as phone calls or social media, which lack structured tracking mechanisms. This of ten leads to delayed distribution, mismanagement of donated items, and wastage of valuable resources. There is a clear need for a reliable digital platform to streamline donation activities and ensure accountability</a:t>
            </a:r>
            <a:endParaRPr lang="en-IN"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29935" y="6496936"/>
            <a:ext cx="64889" cy="99268"/>
          </a:xfrm>
          <a:prstGeom prst="rect">
            <a:avLst/>
          </a:prstGeom>
        </p:spPr>
      </p:pic>
      <p:sp>
        <p:nvSpPr>
          <p:cNvPr id="3" name="object 3"/>
          <p:cNvSpPr txBox="1">
            <a:spLocks noGrp="1"/>
          </p:cNvSpPr>
          <p:nvPr>
            <p:ph type="title"/>
          </p:nvPr>
        </p:nvSpPr>
        <p:spPr>
          <a:xfrm>
            <a:off x="2754572" y="1727073"/>
            <a:ext cx="3634104" cy="695960"/>
          </a:xfrm>
          <a:prstGeom prst="rect">
            <a:avLst/>
          </a:prstGeom>
        </p:spPr>
        <p:txBody>
          <a:bodyPr vert="horz" wrap="square" lIns="0" tIns="12700" rIns="0" bIns="0" rtlCol="0">
            <a:spAutoFit/>
          </a:bodyPr>
          <a:lstStyle/>
          <a:p>
            <a:pPr marL="12700">
              <a:lnSpc>
                <a:spcPct val="100000"/>
              </a:lnSpc>
              <a:spcBef>
                <a:spcPts val="100"/>
              </a:spcBef>
              <a:tabLst>
                <a:tab pos="1320165" algn="l"/>
                <a:tab pos="1925320" algn="l"/>
              </a:tabLst>
            </a:pPr>
            <a:r>
              <a:rPr spc="-20"/>
              <a:t>Area</a:t>
            </a:r>
            <a:r>
              <a:t>	</a:t>
            </a:r>
            <a:r>
              <a:rPr spc="-25"/>
              <a:t>of</a:t>
            </a:r>
            <a:r>
              <a:t>	</a:t>
            </a:r>
            <a:r>
              <a:rPr spc="-10"/>
              <a:t>project</a:t>
            </a:r>
          </a:p>
        </p:txBody>
      </p:sp>
      <p:pic>
        <p:nvPicPr>
          <p:cNvPr id="5" name="object 5"/>
          <p:cNvPicPr/>
          <p:nvPr/>
        </p:nvPicPr>
        <p:blipFill>
          <a:blip r:embed="rId3" cstate="print"/>
          <a:stretch>
            <a:fillRect/>
          </a:stretch>
        </p:blipFill>
        <p:spPr>
          <a:xfrm>
            <a:off x="154360" y="11112"/>
            <a:ext cx="8904076" cy="1581764"/>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529935" y="6496936"/>
            <a:ext cx="63500" cy="99695"/>
          </a:xfrm>
          <a:custGeom>
            <a:avLst/>
            <a:gdLst/>
            <a:ahLst/>
            <a:cxnLst/>
            <a:rect l="l" t="t" r="r" b="b"/>
            <a:pathLst>
              <a:path w="63500" h="99695">
                <a:moveTo>
                  <a:pt x="33337" y="60573"/>
                </a:moveTo>
                <a:lnTo>
                  <a:pt x="23217" y="60573"/>
                </a:lnTo>
                <a:lnTo>
                  <a:pt x="18702" y="59828"/>
                </a:lnTo>
                <a:lnTo>
                  <a:pt x="0" y="27731"/>
                </a:lnTo>
                <a:lnTo>
                  <a:pt x="537" y="24060"/>
                </a:lnTo>
                <a:lnTo>
                  <a:pt x="595" y="23663"/>
                </a:lnTo>
                <a:lnTo>
                  <a:pt x="17823" y="2629"/>
                </a:lnTo>
                <a:lnTo>
                  <a:pt x="21778" y="892"/>
                </a:lnTo>
                <a:lnTo>
                  <a:pt x="26640" y="0"/>
                </a:lnTo>
                <a:lnTo>
                  <a:pt x="36363" y="0"/>
                </a:lnTo>
                <a:lnTo>
                  <a:pt x="39935" y="545"/>
                </a:lnTo>
                <a:lnTo>
                  <a:pt x="43011" y="1637"/>
                </a:lnTo>
                <a:lnTo>
                  <a:pt x="46087" y="2629"/>
                </a:lnTo>
                <a:lnTo>
                  <a:pt x="48766" y="4067"/>
                </a:lnTo>
                <a:lnTo>
                  <a:pt x="53330" y="7838"/>
                </a:lnTo>
                <a:lnTo>
                  <a:pt x="55264" y="10169"/>
                </a:lnTo>
                <a:lnTo>
                  <a:pt x="28384" y="10169"/>
                </a:lnTo>
                <a:lnTo>
                  <a:pt x="25201" y="10864"/>
                </a:lnTo>
                <a:lnTo>
                  <a:pt x="22919" y="12055"/>
                </a:lnTo>
                <a:lnTo>
                  <a:pt x="20637" y="13146"/>
                </a:lnTo>
                <a:lnTo>
                  <a:pt x="18752" y="14684"/>
                </a:lnTo>
                <a:lnTo>
                  <a:pt x="12947" y="33932"/>
                </a:lnTo>
                <a:lnTo>
                  <a:pt x="13180" y="36066"/>
                </a:lnTo>
                <a:lnTo>
                  <a:pt x="13245" y="36661"/>
                </a:lnTo>
                <a:lnTo>
                  <a:pt x="13841" y="39141"/>
                </a:lnTo>
                <a:lnTo>
                  <a:pt x="14492" y="41374"/>
                </a:lnTo>
                <a:lnTo>
                  <a:pt x="14535" y="41523"/>
                </a:lnTo>
                <a:lnTo>
                  <a:pt x="24099" y="49807"/>
                </a:lnTo>
                <a:lnTo>
                  <a:pt x="23371" y="49807"/>
                </a:lnTo>
                <a:lnTo>
                  <a:pt x="27384" y="50452"/>
                </a:lnTo>
                <a:lnTo>
                  <a:pt x="63374" y="50452"/>
                </a:lnTo>
                <a:lnTo>
                  <a:pt x="63260" y="52387"/>
                </a:lnTo>
                <a:lnTo>
                  <a:pt x="63152" y="54223"/>
                </a:lnTo>
                <a:lnTo>
                  <a:pt x="63106" y="54619"/>
                </a:lnTo>
                <a:lnTo>
                  <a:pt x="50601" y="54619"/>
                </a:lnTo>
                <a:lnTo>
                  <a:pt x="48021" y="56207"/>
                </a:lnTo>
                <a:lnTo>
                  <a:pt x="44896" y="57596"/>
                </a:lnTo>
                <a:lnTo>
                  <a:pt x="37554" y="59977"/>
                </a:lnTo>
                <a:lnTo>
                  <a:pt x="33337" y="60573"/>
                </a:lnTo>
                <a:close/>
              </a:path>
              <a:path w="63500" h="99695">
                <a:moveTo>
                  <a:pt x="63374" y="50452"/>
                </a:moveTo>
                <a:lnTo>
                  <a:pt x="34329" y="50452"/>
                </a:lnTo>
                <a:lnTo>
                  <a:pt x="38551" y="49807"/>
                </a:lnTo>
                <a:lnTo>
                  <a:pt x="38217" y="49807"/>
                </a:lnTo>
                <a:lnTo>
                  <a:pt x="44846" y="47724"/>
                </a:lnTo>
                <a:lnTo>
                  <a:pt x="47872" y="46235"/>
                </a:lnTo>
                <a:lnTo>
                  <a:pt x="50452" y="44350"/>
                </a:lnTo>
                <a:lnTo>
                  <a:pt x="50381" y="37157"/>
                </a:lnTo>
                <a:lnTo>
                  <a:pt x="50110" y="33932"/>
                </a:lnTo>
                <a:lnTo>
                  <a:pt x="50006" y="32692"/>
                </a:lnTo>
                <a:lnTo>
                  <a:pt x="49104" y="28376"/>
                </a:lnTo>
                <a:lnTo>
                  <a:pt x="48319" y="24060"/>
                </a:lnTo>
                <a:lnTo>
                  <a:pt x="47201" y="20885"/>
                </a:lnTo>
                <a:lnTo>
                  <a:pt x="47079" y="20538"/>
                </a:lnTo>
                <a:lnTo>
                  <a:pt x="45392" y="17859"/>
                </a:lnTo>
                <a:lnTo>
                  <a:pt x="43805" y="15180"/>
                </a:lnTo>
                <a:lnTo>
                  <a:pt x="43296" y="14684"/>
                </a:lnTo>
                <a:lnTo>
                  <a:pt x="41622" y="13146"/>
                </a:lnTo>
                <a:lnTo>
                  <a:pt x="37058" y="10864"/>
                </a:lnTo>
                <a:lnTo>
                  <a:pt x="33816" y="10169"/>
                </a:lnTo>
                <a:lnTo>
                  <a:pt x="55264" y="10169"/>
                </a:lnTo>
                <a:lnTo>
                  <a:pt x="56852" y="12948"/>
                </a:lnTo>
                <a:lnTo>
                  <a:pt x="58439" y="15626"/>
                </a:lnTo>
                <a:lnTo>
                  <a:pt x="59709" y="18653"/>
                </a:lnTo>
                <a:lnTo>
                  <a:pt x="61714" y="25548"/>
                </a:lnTo>
                <a:lnTo>
                  <a:pt x="62408" y="29219"/>
                </a:lnTo>
                <a:lnTo>
                  <a:pt x="63093" y="36066"/>
                </a:lnTo>
                <a:lnTo>
                  <a:pt x="63202" y="37157"/>
                </a:lnTo>
                <a:lnTo>
                  <a:pt x="63328" y="39836"/>
                </a:lnTo>
                <a:lnTo>
                  <a:pt x="63374" y="50452"/>
                </a:lnTo>
                <a:close/>
              </a:path>
              <a:path w="63500" h="99695">
                <a:moveTo>
                  <a:pt x="50258" y="88850"/>
                </a:moveTo>
                <a:lnTo>
                  <a:pt x="27930" y="88850"/>
                </a:lnTo>
                <a:lnTo>
                  <a:pt x="32264" y="87858"/>
                </a:lnTo>
                <a:lnTo>
                  <a:pt x="32136" y="87858"/>
                </a:lnTo>
                <a:lnTo>
                  <a:pt x="35421" y="86022"/>
                </a:lnTo>
                <a:lnTo>
                  <a:pt x="38893" y="84137"/>
                </a:lnTo>
                <a:lnTo>
                  <a:pt x="41721" y="81657"/>
                </a:lnTo>
                <a:lnTo>
                  <a:pt x="50312" y="60573"/>
                </a:lnTo>
                <a:lnTo>
                  <a:pt x="50394" y="59977"/>
                </a:lnTo>
                <a:lnTo>
                  <a:pt x="50502" y="59183"/>
                </a:lnTo>
                <a:lnTo>
                  <a:pt x="50601" y="54619"/>
                </a:lnTo>
                <a:lnTo>
                  <a:pt x="63106" y="54619"/>
                </a:lnTo>
                <a:lnTo>
                  <a:pt x="50849" y="88354"/>
                </a:lnTo>
                <a:lnTo>
                  <a:pt x="50258" y="88850"/>
                </a:lnTo>
                <a:close/>
              </a:path>
              <a:path w="63500" h="99695">
                <a:moveTo>
                  <a:pt x="27880" y="99268"/>
                </a:moveTo>
                <a:lnTo>
                  <a:pt x="20141" y="99268"/>
                </a:lnTo>
                <a:lnTo>
                  <a:pt x="18057" y="99119"/>
                </a:lnTo>
                <a:lnTo>
                  <a:pt x="2927" y="92521"/>
                </a:lnTo>
                <a:lnTo>
                  <a:pt x="3003" y="87858"/>
                </a:lnTo>
                <a:lnTo>
                  <a:pt x="3125" y="86171"/>
                </a:lnTo>
                <a:lnTo>
                  <a:pt x="3199" y="86022"/>
                </a:lnTo>
                <a:lnTo>
                  <a:pt x="3323" y="85774"/>
                </a:lnTo>
                <a:lnTo>
                  <a:pt x="2827" y="85774"/>
                </a:lnTo>
                <a:lnTo>
                  <a:pt x="4315" y="85278"/>
                </a:lnTo>
                <a:lnTo>
                  <a:pt x="5655" y="85278"/>
                </a:lnTo>
                <a:lnTo>
                  <a:pt x="6895" y="85774"/>
                </a:lnTo>
                <a:lnTo>
                  <a:pt x="7622" y="86022"/>
                </a:lnTo>
                <a:lnTo>
                  <a:pt x="9057" y="86469"/>
                </a:lnTo>
                <a:lnTo>
                  <a:pt x="10864" y="87064"/>
                </a:lnTo>
                <a:lnTo>
                  <a:pt x="12452" y="87461"/>
                </a:lnTo>
                <a:lnTo>
                  <a:pt x="14237" y="87858"/>
                </a:lnTo>
                <a:lnTo>
                  <a:pt x="18305" y="88651"/>
                </a:lnTo>
                <a:lnTo>
                  <a:pt x="20587" y="88850"/>
                </a:lnTo>
                <a:lnTo>
                  <a:pt x="50258" y="88850"/>
                </a:lnTo>
                <a:lnTo>
                  <a:pt x="44697" y="93513"/>
                </a:lnTo>
                <a:lnTo>
                  <a:pt x="41076" y="95547"/>
                </a:lnTo>
                <a:lnTo>
                  <a:pt x="32742" y="98524"/>
                </a:lnTo>
                <a:lnTo>
                  <a:pt x="27880" y="99268"/>
                </a:lnTo>
                <a:close/>
              </a:path>
            </a:pathLst>
          </a:custGeom>
          <a:solidFill>
            <a:srgbClr val="888888"/>
          </a:solidFill>
        </p:spPr>
        <p:txBody>
          <a:bodyPr wrap="square" lIns="0" tIns="0" rIns="0" bIns="0" rtlCol="0"/>
          <a:lstStyle/>
          <a:p>
            <a:endParaRPr/>
          </a:p>
        </p:txBody>
      </p:sp>
      <p:sp>
        <p:nvSpPr>
          <p:cNvPr id="3" name="object 3"/>
          <p:cNvSpPr txBox="1">
            <a:spLocks noGrp="1"/>
          </p:cNvSpPr>
          <p:nvPr>
            <p:ph type="title"/>
          </p:nvPr>
        </p:nvSpPr>
        <p:spPr>
          <a:xfrm>
            <a:off x="1066801" y="1592876"/>
            <a:ext cx="7000468" cy="689932"/>
          </a:xfrm>
          <a:prstGeom prst="rect">
            <a:avLst/>
          </a:prstGeom>
        </p:spPr>
        <p:txBody>
          <a:bodyPr vert="horz" wrap="square" lIns="0" tIns="12700" rIns="0" bIns="0" rtlCol="0">
            <a:spAutoFit/>
          </a:bodyPr>
          <a:lstStyle/>
          <a:p>
            <a:pPr marL="12700" algn="ctr">
              <a:lnSpc>
                <a:spcPct val="100000"/>
              </a:lnSpc>
              <a:spcBef>
                <a:spcPts val="100"/>
              </a:spcBef>
              <a:tabLst>
                <a:tab pos="2247265" algn="l"/>
              </a:tabLst>
            </a:pPr>
            <a:r>
              <a:rPr lang="en-US" spc="-10"/>
              <a:t>Functionality</a:t>
            </a:r>
          </a:p>
        </p:txBody>
      </p:sp>
      <p:pic>
        <p:nvPicPr>
          <p:cNvPr id="5" name="object 5"/>
          <p:cNvPicPr/>
          <p:nvPr/>
        </p:nvPicPr>
        <p:blipFill>
          <a:blip r:embed="rId2" cstate="print"/>
          <a:stretch>
            <a:fillRect/>
          </a:stretch>
        </p:blipFill>
        <p:spPr>
          <a:xfrm>
            <a:off x="154360" y="11112"/>
            <a:ext cx="8904076" cy="1581764"/>
          </a:xfrm>
          <a:prstGeom prst="rect">
            <a:avLst/>
          </a:prstGeom>
        </p:spPr>
      </p:pic>
      <p:sp>
        <p:nvSpPr>
          <p:cNvPr id="6" name="object 6"/>
          <p:cNvSpPr txBox="1">
            <a:spLocks noGrp="1"/>
          </p:cNvSpPr>
          <p:nvPr>
            <p:ph type="ftr" sz="quarter" idx="5"/>
          </p:nvPr>
        </p:nvSpPr>
        <p:spPr>
          <a:xfrm>
            <a:off x="3733800" y="6471218"/>
            <a:ext cx="1983104" cy="250825"/>
          </a:xfrm>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
        <p:nvSpPr>
          <p:cNvPr id="4" name="TextBox 3">
            <a:extLst>
              <a:ext uri="{FF2B5EF4-FFF2-40B4-BE49-F238E27FC236}">
                <a16:creationId xmlns:a16="http://schemas.microsoft.com/office/drawing/2014/main" id="{FCB595FD-5B2E-5DDA-8DA9-F59403BD87D0}"/>
              </a:ext>
            </a:extLst>
          </p:cNvPr>
          <p:cNvSpPr txBox="1"/>
          <p:nvPr/>
        </p:nvSpPr>
        <p:spPr>
          <a:xfrm>
            <a:off x="228600" y="2286000"/>
            <a:ext cx="8547100" cy="4230461"/>
          </a:xfrm>
          <a:prstGeom prst="rect">
            <a:avLst/>
          </a:prstGeom>
          <a:noFill/>
        </p:spPr>
        <p:txBody>
          <a:bodyPr wrap="square" rtlCol="0">
            <a:spAutoFit/>
          </a:bodyPr>
          <a:lstStyle/>
          <a:p>
            <a:pPr marL="342900" indent="-342900">
              <a:buAutoNum type="alphaUcPeriod"/>
            </a:pPr>
            <a:r>
              <a:rPr lang="en-US" sz="2000" b="1"/>
              <a:t>Donor Module </a:t>
            </a:r>
            <a:r>
              <a:rPr lang="en-US" sz="2000"/>
              <a:t>	The donor module enables users to reg </a:t>
            </a:r>
            <a:r>
              <a:rPr lang="en-US" sz="2000" err="1"/>
              <a:t>ister</a:t>
            </a:r>
            <a:r>
              <a:rPr lang="en-US" sz="2000"/>
              <a:t> and authenticate securely. Donors can submit information about the items they wish to donate, including category, description, and pickup date. A personalized dashboard allows donors to view their donation history and track the progress of submitted donations. </a:t>
            </a:r>
          </a:p>
          <a:p>
            <a:pPr marL="342900" indent="-342900">
              <a:buAutoNum type="alphaUcPeriod"/>
            </a:pPr>
            <a:r>
              <a:rPr lang="en-US" sz="2000"/>
              <a:t> </a:t>
            </a:r>
            <a:r>
              <a:rPr lang="en-US" sz="2000" b="1"/>
              <a:t>Admin Module </a:t>
            </a:r>
            <a:r>
              <a:rPr lang="en-US" sz="2000"/>
              <a:t>	The admin module provides administrators with tools to manage users and donation records. Administrators can verify donation de tails, update donation statuses, and oversee system operations using a centralized management interface. 		                                         </a:t>
            </a:r>
          </a:p>
          <a:p>
            <a:pPr marL="342900" indent="-342900">
              <a:buAutoNum type="alphaUcPeriod"/>
            </a:pPr>
            <a:r>
              <a:rPr lang="en-US" sz="2000" b="1"/>
              <a:t>Authentication and Security     </a:t>
            </a:r>
            <a:r>
              <a:rPr lang="en-US" sz="2000"/>
              <a:t>Donate Hub uses Django’s authentication framework to ensure secure login and lo gout functionality. Role-based access control restricts sensitive features to authorized users, thereby improving system security</a:t>
            </a:r>
            <a:endParaRPr lang="en-IN"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37624-675E-F59C-35D6-DCAD45E078BF}"/>
              </a:ext>
            </a:extLst>
          </p:cNvPr>
          <p:cNvSpPr>
            <a:spLocks noGrp="1"/>
          </p:cNvSpPr>
          <p:nvPr>
            <p:ph type="title"/>
          </p:nvPr>
        </p:nvSpPr>
        <p:spPr>
          <a:xfrm>
            <a:off x="650544" y="549070"/>
            <a:ext cx="7842657" cy="1354217"/>
          </a:xfrm>
        </p:spPr>
        <p:txBody>
          <a:bodyPr/>
          <a:lstStyle/>
          <a:p>
            <a:r>
              <a:rPr lang="en-US"/>
              <a:t>Sustainable</a:t>
            </a:r>
            <a:r>
              <a:rPr lang="en-US" spc="-30"/>
              <a:t> </a:t>
            </a:r>
            <a:r>
              <a:rPr lang="en-US"/>
              <a:t>development</a:t>
            </a:r>
            <a:r>
              <a:rPr lang="en-US" spc="-40"/>
              <a:t> </a:t>
            </a:r>
            <a:r>
              <a:rPr lang="en-US" spc="-10"/>
              <a:t>goals</a:t>
            </a:r>
            <a:endParaRPr lang="en-US"/>
          </a:p>
        </p:txBody>
      </p:sp>
      <p:sp>
        <p:nvSpPr>
          <p:cNvPr id="3" name="Text Placeholder 2">
            <a:extLst>
              <a:ext uri="{FF2B5EF4-FFF2-40B4-BE49-F238E27FC236}">
                <a16:creationId xmlns:a16="http://schemas.microsoft.com/office/drawing/2014/main" id="{60DAD089-A36E-C0D0-FB36-D94E80592078}"/>
              </a:ext>
            </a:extLst>
          </p:cNvPr>
          <p:cNvSpPr>
            <a:spLocks noGrp="1"/>
          </p:cNvSpPr>
          <p:nvPr>
            <p:ph type="body" idx="1"/>
          </p:nvPr>
        </p:nvSpPr>
        <p:spPr/>
        <p:txBody>
          <a:bodyPr/>
          <a:lstStyle/>
          <a:p>
            <a:endParaRPr lang="en-US"/>
          </a:p>
        </p:txBody>
      </p:sp>
      <p:grpSp>
        <p:nvGrpSpPr>
          <p:cNvPr id="4" name="object 3">
            <a:extLst>
              <a:ext uri="{FF2B5EF4-FFF2-40B4-BE49-F238E27FC236}">
                <a16:creationId xmlns:a16="http://schemas.microsoft.com/office/drawing/2014/main" id="{F5C423ED-E5CF-2C8E-6B57-D9E54F7280B5}"/>
              </a:ext>
            </a:extLst>
          </p:cNvPr>
          <p:cNvGrpSpPr/>
          <p:nvPr/>
        </p:nvGrpSpPr>
        <p:grpSpPr>
          <a:xfrm>
            <a:off x="457072" y="1752600"/>
            <a:ext cx="8229600" cy="4728845"/>
            <a:chOff x="457200" y="2068829"/>
            <a:chExt cx="8229600" cy="4728845"/>
          </a:xfrm>
        </p:grpSpPr>
        <p:pic>
          <p:nvPicPr>
            <p:cNvPr id="5" name="object 4">
              <a:extLst>
                <a:ext uri="{FF2B5EF4-FFF2-40B4-BE49-F238E27FC236}">
                  <a16:creationId xmlns:a16="http://schemas.microsoft.com/office/drawing/2014/main" id="{F049D335-380B-18EC-8BA1-763B01127A4A}"/>
                </a:ext>
              </a:extLst>
            </p:cNvPr>
            <p:cNvPicPr/>
            <p:nvPr/>
          </p:nvPicPr>
          <p:blipFill>
            <a:blip r:embed="rId2" cstate="print"/>
            <a:stretch>
              <a:fillRect/>
            </a:stretch>
          </p:blipFill>
          <p:spPr>
            <a:xfrm>
              <a:off x="457200" y="2068829"/>
              <a:ext cx="2524125" cy="2364359"/>
            </a:xfrm>
            <a:prstGeom prst="rect">
              <a:avLst/>
            </a:prstGeom>
          </p:spPr>
        </p:pic>
        <p:pic>
          <p:nvPicPr>
            <p:cNvPr id="6" name="object 5">
              <a:extLst>
                <a:ext uri="{FF2B5EF4-FFF2-40B4-BE49-F238E27FC236}">
                  <a16:creationId xmlns:a16="http://schemas.microsoft.com/office/drawing/2014/main" id="{7991C416-14AD-410E-1757-34732CC36249}"/>
                </a:ext>
              </a:extLst>
            </p:cNvPr>
            <p:cNvPicPr/>
            <p:nvPr/>
          </p:nvPicPr>
          <p:blipFill>
            <a:blip r:embed="rId3" cstate="print"/>
            <a:stretch>
              <a:fillRect/>
            </a:stretch>
          </p:blipFill>
          <p:spPr>
            <a:xfrm>
              <a:off x="3295523" y="2068829"/>
              <a:ext cx="2552700" cy="2364359"/>
            </a:xfrm>
            <a:prstGeom prst="rect">
              <a:avLst/>
            </a:prstGeom>
          </p:spPr>
        </p:pic>
        <p:pic>
          <p:nvPicPr>
            <p:cNvPr id="7" name="object 6">
              <a:extLst>
                <a:ext uri="{FF2B5EF4-FFF2-40B4-BE49-F238E27FC236}">
                  <a16:creationId xmlns:a16="http://schemas.microsoft.com/office/drawing/2014/main" id="{8CFE0474-DD9D-08D9-592E-C20197873C58}"/>
                </a:ext>
              </a:extLst>
            </p:cNvPr>
            <p:cNvPicPr/>
            <p:nvPr/>
          </p:nvPicPr>
          <p:blipFill>
            <a:blip r:embed="rId4" cstate="print"/>
            <a:stretch>
              <a:fillRect/>
            </a:stretch>
          </p:blipFill>
          <p:spPr>
            <a:xfrm>
              <a:off x="6162294" y="2068829"/>
              <a:ext cx="2524125" cy="2364359"/>
            </a:xfrm>
            <a:prstGeom prst="rect">
              <a:avLst/>
            </a:prstGeom>
          </p:spPr>
        </p:pic>
        <p:pic>
          <p:nvPicPr>
            <p:cNvPr id="8" name="object 7">
              <a:extLst>
                <a:ext uri="{FF2B5EF4-FFF2-40B4-BE49-F238E27FC236}">
                  <a16:creationId xmlns:a16="http://schemas.microsoft.com/office/drawing/2014/main" id="{3B5E6CDC-1148-DA54-0C7C-1FF76669FDC6}"/>
                </a:ext>
              </a:extLst>
            </p:cNvPr>
            <p:cNvPicPr/>
            <p:nvPr/>
          </p:nvPicPr>
          <p:blipFill>
            <a:blip r:embed="rId5" cstate="print"/>
            <a:stretch>
              <a:fillRect/>
            </a:stretch>
          </p:blipFill>
          <p:spPr>
            <a:xfrm>
              <a:off x="1788160" y="4433153"/>
              <a:ext cx="5475350" cy="2364359"/>
            </a:xfrm>
            <a:prstGeom prst="rect">
              <a:avLst/>
            </a:prstGeom>
          </p:spPr>
        </p:pic>
      </p:grpSp>
    </p:spTree>
    <p:extLst>
      <p:ext uri="{BB962C8B-B14F-4D97-AF65-F5344CB8AC3E}">
        <p14:creationId xmlns:p14="http://schemas.microsoft.com/office/powerpoint/2010/main" val="3950665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59985" y="6496936"/>
            <a:ext cx="135853" cy="99268"/>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2164080">
              <a:lnSpc>
                <a:spcPct val="100000"/>
              </a:lnSpc>
              <a:spcBef>
                <a:spcPts val="100"/>
              </a:spcBef>
            </a:pPr>
            <a:r>
              <a:rPr spc="-10"/>
              <a:t>Conclusion</a:t>
            </a:r>
          </a:p>
        </p:txBody>
      </p:sp>
      <p:pic>
        <p:nvPicPr>
          <p:cNvPr id="5" name="object 5"/>
          <p:cNvPicPr/>
          <p:nvPr/>
        </p:nvPicPr>
        <p:blipFill>
          <a:blip r:embed="rId3" cstate="print"/>
          <a:stretch>
            <a:fillRect/>
          </a:stretch>
        </p:blipFill>
        <p:spPr>
          <a:xfrm>
            <a:off x="154360" y="11112"/>
            <a:ext cx="8904076" cy="1581764"/>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
        <p:nvSpPr>
          <p:cNvPr id="4" name="TextBox 3">
            <a:extLst>
              <a:ext uri="{FF2B5EF4-FFF2-40B4-BE49-F238E27FC236}">
                <a16:creationId xmlns:a16="http://schemas.microsoft.com/office/drawing/2014/main" id="{95A22630-CBB6-0136-0414-E994FFA587CB}"/>
              </a:ext>
            </a:extLst>
          </p:cNvPr>
          <p:cNvSpPr txBox="1"/>
          <p:nvPr/>
        </p:nvSpPr>
        <p:spPr>
          <a:xfrm>
            <a:off x="533400" y="2667000"/>
            <a:ext cx="8062438" cy="2246769"/>
          </a:xfrm>
          <a:prstGeom prst="rect">
            <a:avLst/>
          </a:prstGeom>
          <a:noFill/>
        </p:spPr>
        <p:txBody>
          <a:bodyPr wrap="square" rtlCol="0">
            <a:spAutoFit/>
          </a:bodyPr>
          <a:lstStyle/>
          <a:p>
            <a:r>
              <a:rPr lang="en-US" sz="2000"/>
              <a:t>Donate Hub provides an effective solution to the challenges associated with traditional donation systems. By digitizing and </a:t>
            </a:r>
          </a:p>
          <a:p>
            <a:r>
              <a:rPr lang="en-US" sz="2000"/>
              <a:t>centralizing donation management, the platform improves transparency, reduces manual effort, and enhances coordination between donors and NGOs. The requirement analysis confirms the feasibility and relevance of Donate Hub as a community-focused web application</a:t>
            </a:r>
            <a:endParaRPr lang="en-IN"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412" y="3038348"/>
            <a:ext cx="2793365" cy="695960"/>
          </a:xfrm>
          <a:prstGeom prst="rect">
            <a:avLst/>
          </a:prstGeom>
        </p:spPr>
        <p:txBody>
          <a:bodyPr vert="horz" wrap="square" lIns="0" tIns="12700" rIns="0" bIns="0" rtlCol="0">
            <a:spAutoFit/>
          </a:bodyPr>
          <a:lstStyle/>
          <a:p>
            <a:pPr marL="12700">
              <a:lnSpc>
                <a:spcPct val="100000"/>
              </a:lnSpc>
              <a:spcBef>
                <a:spcPts val="100"/>
              </a:spcBef>
            </a:pPr>
            <a:r>
              <a:rPr>
                <a:latin typeface="Cambria"/>
                <a:cs typeface="Cambria"/>
              </a:rPr>
              <a:t>Thank</a:t>
            </a:r>
            <a:r>
              <a:rPr spc="-25">
                <a:latin typeface="Cambria"/>
                <a:cs typeface="Cambria"/>
              </a:rPr>
              <a:t> You</a:t>
            </a:r>
          </a:p>
        </p:txBody>
      </p:sp>
      <p:pic>
        <p:nvPicPr>
          <p:cNvPr id="3" name="object 3"/>
          <p:cNvPicPr/>
          <p:nvPr/>
        </p:nvPicPr>
        <p:blipFill>
          <a:blip r:embed="rId2" cstate="print"/>
          <a:stretch>
            <a:fillRect/>
          </a:stretch>
        </p:blipFill>
        <p:spPr>
          <a:xfrm>
            <a:off x="154360" y="11112"/>
            <a:ext cx="8904077" cy="1581764"/>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845"/>
              </a:lnSpc>
            </a:pPr>
            <a:r>
              <a:t>CSE</a:t>
            </a:r>
            <a:r>
              <a:rPr spc="-50"/>
              <a:t> </a:t>
            </a:r>
            <a:r>
              <a:t>Department,</a:t>
            </a:r>
            <a:r>
              <a:rPr spc="-45"/>
              <a:t> </a:t>
            </a:r>
            <a:r>
              <a:rPr spc="-20"/>
              <a:t>JECC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1262</Words>
  <Application>Microsoft Office PowerPoint</Application>
  <PresentationFormat>On-screen Show (4:3)</PresentationFormat>
  <Paragraphs>68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 MT</vt:lpstr>
      <vt:lpstr>Calibri</vt:lpstr>
      <vt:lpstr>Cambria</vt:lpstr>
      <vt:lpstr>Times New Roman</vt:lpstr>
      <vt:lpstr>Office Theme</vt:lpstr>
      <vt:lpstr>Donate Hub: A Centralized Community Donation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Contents</vt:lpstr>
      <vt:lpstr>Introduction</vt:lpstr>
      <vt:lpstr>Objectives</vt:lpstr>
      <vt:lpstr>Problem Statement</vt:lpstr>
      <vt:lpstr>Area of project</vt:lpstr>
      <vt:lpstr>Functionality</vt:lpstr>
      <vt:lpstr>Sustainable development goals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TRICKSTER</dc:title>
  <dc:creator>Ziyan</dc:creator>
  <cp:lastModifiedBy>Rohith PB</cp:lastModifiedBy>
  <cp:revision>1</cp:revision>
  <dcterms:created xsi:type="dcterms:W3CDTF">2025-12-24T16:43:59Z</dcterms:created>
  <dcterms:modified xsi:type="dcterms:W3CDTF">2025-12-28T10:38:31Z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2025-12-24T00:00:00Z</vt:filetime>
  </property>
  <property fmtid="{D5CDD505-2E9C-101B-9397-08002B2CF9AE}" pid="3" name="Creator">
    <vt:lpwstr>Google</vt:lpwstr>
  </property>
  <property fmtid="{D5CDD505-2E9C-101B-9397-08002B2CF9AE}" pid="4" name="LastSaved">
    <vt:filetime>2025-12-24T00:00:00Z</vt:filetime>
  </property>
</Properties>
</file>